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8"/>
  </p:normalViewPr>
  <p:slideViewPr>
    <p:cSldViewPr snapToGrid="0">
      <p:cViewPr varScale="1">
        <p:scale>
          <a:sx n="88" d="100"/>
          <a:sy n="88" d="100"/>
        </p:scale>
        <p:origin x="1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47720" y="1901880"/>
            <a:ext cx="10256269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u="none" strike="noStrike" dirty="0">
                <a:solidFill>
                  <a:srgbClr val="990000"/>
                </a:solidFill>
                <a:effectLst/>
                <a:uFillTx/>
                <a:latin typeface=".SFNS-Regular_wdth_opsz300000_GRAD_wght2580000"/>
                <a:ea typeface=".SFNS-Regular_wdth_opsz300000_GRAD_wght2580000"/>
              </a:rPr>
              <a:t>The Write Stuff: Can Ai Judge Seed Grant Applications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7720" y="2843280"/>
            <a:ext cx="925311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 dirty="0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A Comparative Study of LLMs and Prompt Engineering Strategies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7720" y="3565800"/>
            <a:ext cx="512146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Team: 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Hants Williams, Jack </a:t>
            </a:r>
            <a:r>
              <a:rPr lang="en-US" sz="1800" b="0" u="none" strike="noStrike" dirty="0" err="1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Lamberg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, and Eric </a:t>
            </a:r>
            <a:r>
              <a:rPr lang="en-US" sz="1800" b="0" u="none" strike="noStrike" dirty="0" err="1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Lamberg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7720" y="3908520"/>
            <a:ext cx="598388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Institution: 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Stony Brook University, School of Health Professions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720" y="4251600"/>
            <a:ext cx="2503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Date: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October 14,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7720" y="4594320"/>
            <a:ext cx="37868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Funding: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SBU Seed Grant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47720" y="728640"/>
            <a:ext cx="47635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Background &amp; Motivation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1000080" y="212400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7720" y="1483920"/>
            <a:ext cx="4262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The Challenge of Grant Review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1000080" y="2523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04920" y="1984320"/>
            <a:ext cx="5604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Grant review is time-intensive and resource-demanding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1000080" y="29239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9"/>
                </a:cubicBezTo>
                <a:cubicBezTo>
                  <a:pt x="79" y="4"/>
                  <a:pt x="92" y="0"/>
                  <a:pt x="106" y="0"/>
                </a:cubicBezTo>
                <a:cubicBezTo>
                  <a:pt x="120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04920" y="2384640"/>
            <a:ext cx="5349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Requires expertise across multiple evaluation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000080" y="33238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04920" y="2784600"/>
            <a:ext cx="5196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Inter-rater reliability varies among human reviewers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04920" y="3184560"/>
            <a:ext cx="520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Growing interest in AI-assisted academic 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7720" y="3722040"/>
            <a:ext cx="2697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Research Question: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720" y="4222800"/>
            <a:ext cx="12219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Can Large Language Models (LLMs) provide reliable grant reviews comparable to human experts?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774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747720" y="1128960"/>
            <a:ext cx="245844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Study Design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1000080" y="25333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7720" y="1893240"/>
            <a:ext cx="11599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Dataset: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04920" y="2394000"/>
            <a:ext cx="914891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4 grant applications </a:t>
            </a:r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originally 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submitted to SBU School of Health Professions Research Seed Grant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1000080" y="32763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04920" y="2737080"/>
            <a:ext cx="87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1000080" y="36763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04920" y="3137040"/>
            <a:ext cx="722948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1 applicant excluded </a:t>
            </a:r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withdrew consent for LLM processing (remote or local)</a:t>
            </a:r>
            <a:endParaRPr lang="en-US" sz="180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1000080" y="40766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04920" y="3537000"/>
            <a:ext cx="402501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Final dataset: 3 grant applications </a:t>
            </a:r>
            <a:r>
              <a:rPr lang="en-US" sz="180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analyzed</a:t>
            </a:r>
            <a:endParaRPr lang="en-US" sz="180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1000080" y="44766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4920" y="3936960"/>
            <a:ext cx="6049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 human reviewers per application (12 total human reviews)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4920" y="4337280"/>
            <a:ext cx="69757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Multiple LLM models tested (OpenAI GPT, Google Gemini, xAI Grok)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47720" y="4874760"/>
            <a:ext cx="1551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IRB Status: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7720" y="5375520"/>
            <a:ext cx="8449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IRB2025-00534 - Exempt, Non-Human Subjects Research (Stony Brook University)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7687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/>
          <p:cNvSpPr txBox="1"/>
          <p:nvPr/>
        </p:nvSpPr>
        <p:spPr>
          <a:xfrm>
            <a:off x="747720" y="1624320"/>
            <a:ext cx="47070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Study Design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7720" y="2379240"/>
            <a:ext cx="5099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Evaluation Criteria (100 points total):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70200" y="2880000"/>
            <a:ext cx="31140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1. Innovation &amp; Impact (30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70200" y="3279960"/>
            <a:ext cx="4969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2. Methodological Approach &amp; Feasibility (30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70200" y="3679920"/>
            <a:ext cx="3647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3. Research Team Strength (10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70200" y="4079880"/>
            <a:ext cx="3774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4. External Funding Potential (10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70200" y="4480200"/>
            <a:ext cx="25290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5. Budget Clarity (10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0200" y="4880160"/>
            <a:ext cx="3151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6. Presentation Quality (10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765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2762280" y="1562040"/>
            <a:ext cx="6667200" cy="441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70"/>
          <p:cNvSpPr txBox="1"/>
          <p:nvPr/>
        </p:nvSpPr>
        <p:spPr>
          <a:xfrm>
            <a:off x="747720" y="852480"/>
            <a:ext cx="47070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Study Design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770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/>
          <p:cNvSpPr txBox="1"/>
          <p:nvPr/>
        </p:nvSpPr>
        <p:spPr>
          <a:xfrm>
            <a:off x="747720" y="1776600"/>
            <a:ext cx="61729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Prompt Engineering Experiments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47720" y="2531520"/>
            <a:ext cx="41637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Four Experimental Conditions: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70200" y="3032280"/>
            <a:ext cx="59086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1. </a:t>
            </a:r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baseline_v1 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Standard instructions without examples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70200" y="3432240"/>
            <a:ext cx="83725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with_training_data_v1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Single training example (1 complete human review)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70200" y="3832200"/>
            <a:ext cx="98719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multi_examples_v1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Multiple training examples (4 human reviews showing score variance)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70200" y="4232520"/>
            <a:ext cx="70765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strict_scoring_v1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Emphasis on conservative/critical evaluation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7720" y="4727520"/>
            <a:ext cx="107247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Important: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Experiments using training data exclude that applicant from analysis to prevent data leakage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/>
          <p:cNvPicPr/>
          <p:nvPr/>
        </p:nvPicPr>
        <p:blipFill>
          <a:blip r:embed="rId2"/>
          <a:stretch/>
        </p:blipFill>
        <p:spPr>
          <a:xfrm>
            <a:off x="1571760" y="2209680"/>
            <a:ext cx="9048240" cy="312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747720" y="1500480"/>
            <a:ext cx="842184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Prompt Engineering Experiments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779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/>
          <p:cNvSpPr txBox="1"/>
          <p:nvPr/>
        </p:nvSpPr>
        <p:spPr>
          <a:xfrm>
            <a:off x="747720" y="1481400"/>
            <a:ext cx="72396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Human vs. LLM Performance Overview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1000080" y="28764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47720" y="2236320"/>
            <a:ext cx="3660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Overall Score Comparison: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reeform 98"/>
          <p:cNvSpPr/>
          <p:nvPr/>
        </p:nvSpPr>
        <p:spPr>
          <a:xfrm>
            <a:off x="1457280" y="33717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204920" y="2737080"/>
            <a:ext cx="51336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Human reviewers </a:t>
            </a:r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(n=12): 79.08 ± 13.32 points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reeform 100"/>
          <p:cNvSpPr/>
          <p:nvPr/>
        </p:nvSpPr>
        <p:spPr>
          <a:xfrm>
            <a:off x="1457280" y="37717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662120" y="3232080"/>
            <a:ext cx="205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Range: 61-99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reeform 102"/>
          <p:cNvSpPr/>
          <p:nvPr/>
        </p:nvSpPr>
        <p:spPr>
          <a:xfrm>
            <a:off x="1000080" y="42670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662120" y="3632400"/>
            <a:ext cx="2605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Median (IQR): 78.5 (24.5)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reeform 104"/>
          <p:cNvSpPr/>
          <p:nvPr/>
        </p:nvSpPr>
        <p:spPr>
          <a:xfrm>
            <a:off x="1457280" y="47624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204920" y="4127760"/>
            <a:ext cx="47779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 reviewers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(n=108): 79.56 ± 7.14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reeform 106"/>
          <p:cNvSpPr/>
          <p:nvPr/>
        </p:nvSpPr>
        <p:spPr>
          <a:xfrm>
            <a:off x="1457280" y="51624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662120" y="4622760"/>
            <a:ext cx="205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Range: 62-97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662120" y="5023080"/>
            <a:ext cx="2605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Median (IQR): 79.0 (10.0)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17669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4"/>
          <p:cNvSpPr txBox="1"/>
          <p:nvPr/>
        </p:nvSpPr>
        <p:spPr>
          <a:xfrm>
            <a:off x="747720" y="2024280"/>
            <a:ext cx="94881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Human vs. LLM Performance Overview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reeform 115"/>
          <p:cNvSpPr/>
          <p:nvPr/>
        </p:nvSpPr>
        <p:spPr>
          <a:xfrm>
            <a:off x="1000080" y="34192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47720" y="2779200"/>
            <a:ext cx="1858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Key Findings: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reeform 117"/>
          <p:cNvSpPr/>
          <p:nvPr/>
        </p:nvSpPr>
        <p:spPr>
          <a:xfrm>
            <a:off x="1000080" y="38192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204920" y="3279960"/>
            <a:ext cx="76438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No significant difference in overall scores (t=-0.196, p=0.845)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reeform 119"/>
          <p:cNvSpPr/>
          <p:nvPr/>
        </p:nvSpPr>
        <p:spPr>
          <a:xfrm>
            <a:off x="1000080" y="42195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204920" y="3679920"/>
            <a:ext cx="5648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Difference: +0.47 points (Cohen's d = 0.04, small effect)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reeform 121"/>
          <p:cNvSpPr/>
          <p:nvPr/>
        </p:nvSpPr>
        <p:spPr>
          <a:xfrm>
            <a:off x="1000080" y="461952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204920" y="4079880"/>
            <a:ext cx="58932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show lower variability (SD: 7.14 vs 13.32)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204920" y="4480200"/>
            <a:ext cx="5824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Strong rank-order agreement (Spearman ρ=1.0, p&lt;0.001)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29"/>
          <p:cNvPicPr/>
          <p:nvPr/>
        </p:nvPicPr>
        <p:blipFill>
          <a:blip r:embed="rId2"/>
          <a:stretch/>
        </p:blipFill>
        <p:spPr>
          <a:xfrm>
            <a:off x="401834" y="122553"/>
            <a:ext cx="10962852" cy="654078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132"/>
          <p:cNvSpPr txBox="1"/>
          <p:nvPr/>
        </p:nvSpPr>
        <p:spPr>
          <a:xfrm>
            <a:off x="1166292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 136"/>
          <p:cNvSpPr/>
          <p:nvPr/>
        </p:nvSpPr>
        <p:spPr>
          <a:xfrm>
            <a:off x="752400" y="1438200"/>
            <a:ext cx="2000520" cy="409680"/>
          </a:xfrm>
          <a:custGeom>
            <a:avLst/>
            <a:gdLst/>
            <a:ahLst/>
            <a:cxnLst/>
            <a:rect l="0" t="0" r="r" b="b"/>
            <a:pathLst>
              <a:path w="5557" h="1138">
                <a:moveTo>
                  <a:pt x="0" y="0"/>
                </a:moveTo>
                <a:lnTo>
                  <a:pt x="5557" y="0"/>
                </a:lnTo>
                <a:lnTo>
                  <a:pt x="555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reeform 137"/>
          <p:cNvSpPr/>
          <p:nvPr/>
        </p:nvSpPr>
        <p:spPr>
          <a:xfrm>
            <a:off x="2752560" y="1438200"/>
            <a:ext cx="1105200" cy="409680"/>
          </a:xfrm>
          <a:custGeom>
            <a:avLst/>
            <a:gdLst/>
            <a:ahLst/>
            <a:cxnLst/>
            <a:rect l="0" t="0" r="r" b="b"/>
            <a:pathLst>
              <a:path w="3070" h="1138">
                <a:moveTo>
                  <a:pt x="0" y="0"/>
                </a:moveTo>
                <a:lnTo>
                  <a:pt x="3070" y="0"/>
                </a:lnTo>
                <a:lnTo>
                  <a:pt x="30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reeform 138"/>
          <p:cNvSpPr/>
          <p:nvPr/>
        </p:nvSpPr>
        <p:spPr>
          <a:xfrm>
            <a:off x="3857400" y="1438200"/>
            <a:ext cx="857520" cy="409680"/>
          </a:xfrm>
          <a:custGeom>
            <a:avLst/>
            <a:gdLst/>
            <a:ahLst/>
            <a:cxnLst/>
            <a:rect l="0" t="0" r="r" b="b"/>
            <a:pathLst>
              <a:path w="2382" h="1138">
                <a:moveTo>
                  <a:pt x="0" y="0"/>
                </a:moveTo>
                <a:lnTo>
                  <a:pt x="2382" y="0"/>
                </a:lnTo>
                <a:lnTo>
                  <a:pt x="238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reeform 139"/>
          <p:cNvSpPr/>
          <p:nvPr/>
        </p:nvSpPr>
        <p:spPr>
          <a:xfrm>
            <a:off x="4714560" y="1438200"/>
            <a:ext cx="1172160" cy="409680"/>
          </a:xfrm>
          <a:custGeom>
            <a:avLst/>
            <a:gdLst/>
            <a:ahLst/>
            <a:cxnLst/>
            <a:rect l="0" t="0" r="r" b="b"/>
            <a:pathLst>
              <a:path w="3256" h="1138">
                <a:moveTo>
                  <a:pt x="0" y="0"/>
                </a:moveTo>
                <a:lnTo>
                  <a:pt x="3256" y="0"/>
                </a:lnTo>
                <a:lnTo>
                  <a:pt x="325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reeform 140"/>
          <p:cNvSpPr/>
          <p:nvPr/>
        </p:nvSpPr>
        <p:spPr>
          <a:xfrm>
            <a:off x="5886360" y="1438200"/>
            <a:ext cx="1028880" cy="409680"/>
          </a:xfrm>
          <a:custGeom>
            <a:avLst/>
            <a:gdLst/>
            <a:ahLst/>
            <a:cxnLst/>
            <a:rect l="0" t="0" r="r" b="b"/>
            <a:pathLst>
              <a:path w="2858" h="1138">
                <a:moveTo>
                  <a:pt x="0" y="0"/>
                </a:moveTo>
                <a:lnTo>
                  <a:pt x="2858" y="0"/>
                </a:lnTo>
                <a:lnTo>
                  <a:pt x="285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reeform 141"/>
          <p:cNvSpPr/>
          <p:nvPr/>
        </p:nvSpPr>
        <p:spPr>
          <a:xfrm>
            <a:off x="752400" y="1847520"/>
            <a:ext cx="2000520" cy="410040"/>
          </a:xfrm>
          <a:custGeom>
            <a:avLst/>
            <a:gdLst/>
            <a:ahLst/>
            <a:cxnLst/>
            <a:rect l="0" t="0" r="r" b="b"/>
            <a:pathLst>
              <a:path w="5557" h="1139">
                <a:moveTo>
                  <a:pt x="0" y="0"/>
                </a:moveTo>
                <a:lnTo>
                  <a:pt x="5557" y="0"/>
                </a:lnTo>
                <a:lnTo>
                  <a:pt x="555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reeform 142"/>
          <p:cNvSpPr/>
          <p:nvPr/>
        </p:nvSpPr>
        <p:spPr>
          <a:xfrm>
            <a:off x="2752560" y="1847520"/>
            <a:ext cx="1105200" cy="410040"/>
          </a:xfrm>
          <a:custGeom>
            <a:avLst/>
            <a:gdLst/>
            <a:ahLst/>
            <a:cxnLst/>
            <a:rect l="0" t="0" r="r" b="b"/>
            <a:pathLst>
              <a:path w="3070" h="1139">
                <a:moveTo>
                  <a:pt x="0" y="0"/>
                </a:moveTo>
                <a:lnTo>
                  <a:pt x="3070" y="0"/>
                </a:lnTo>
                <a:lnTo>
                  <a:pt x="30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reeform 143"/>
          <p:cNvSpPr/>
          <p:nvPr/>
        </p:nvSpPr>
        <p:spPr>
          <a:xfrm>
            <a:off x="3857400" y="1847520"/>
            <a:ext cx="857520" cy="410040"/>
          </a:xfrm>
          <a:custGeom>
            <a:avLst/>
            <a:gdLst/>
            <a:ahLst/>
            <a:cxnLst/>
            <a:rect l="0" t="0" r="r" b="b"/>
            <a:pathLst>
              <a:path w="2382" h="1139">
                <a:moveTo>
                  <a:pt x="0" y="0"/>
                </a:moveTo>
                <a:lnTo>
                  <a:pt x="2382" y="0"/>
                </a:lnTo>
                <a:lnTo>
                  <a:pt x="238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reeform 144"/>
          <p:cNvSpPr/>
          <p:nvPr/>
        </p:nvSpPr>
        <p:spPr>
          <a:xfrm>
            <a:off x="4714560" y="184752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reeform 145"/>
          <p:cNvSpPr/>
          <p:nvPr/>
        </p:nvSpPr>
        <p:spPr>
          <a:xfrm>
            <a:off x="5886360" y="1847520"/>
            <a:ext cx="1028880" cy="410040"/>
          </a:xfrm>
          <a:custGeom>
            <a:avLst/>
            <a:gdLst/>
            <a:ahLst/>
            <a:cxnLst/>
            <a:rect l="0" t="0" r="r" b="b"/>
            <a:pathLst>
              <a:path w="2858" h="1139">
                <a:moveTo>
                  <a:pt x="0" y="0"/>
                </a:moveTo>
                <a:lnTo>
                  <a:pt x="2858" y="0"/>
                </a:lnTo>
                <a:lnTo>
                  <a:pt x="28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reeform 146"/>
          <p:cNvSpPr/>
          <p:nvPr/>
        </p:nvSpPr>
        <p:spPr>
          <a:xfrm>
            <a:off x="752400" y="2257200"/>
            <a:ext cx="2000520" cy="410040"/>
          </a:xfrm>
          <a:custGeom>
            <a:avLst/>
            <a:gdLst/>
            <a:ahLst/>
            <a:cxnLst/>
            <a:rect l="0" t="0" r="r" b="b"/>
            <a:pathLst>
              <a:path w="5557" h="1139">
                <a:moveTo>
                  <a:pt x="0" y="0"/>
                </a:moveTo>
                <a:lnTo>
                  <a:pt x="5557" y="0"/>
                </a:lnTo>
                <a:lnTo>
                  <a:pt x="555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reeform 147"/>
          <p:cNvSpPr/>
          <p:nvPr/>
        </p:nvSpPr>
        <p:spPr>
          <a:xfrm>
            <a:off x="2752560" y="2257200"/>
            <a:ext cx="1105200" cy="410040"/>
          </a:xfrm>
          <a:custGeom>
            <a:avLst/>
            <a:gdLst/>
            <a:ahLst/>
            <a:cxnLst/>
            <a:rect l="0" t="0" r="r" b="b"/>
            <a:pathLst>
              <a:path w="3070" h="1139">
                <a:moveTo>
                  <a:pt x="0" y="0"/>
                </a:moveTo>
                <a:lnTo>
                  <a:pt x="3070" y="0"/>
                </a:lnTo>
                <a:lnTo>
                  <a:pt x="30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reeform 148"/>
          <p:cNvSpPr/>
          <p:nvPr/>
        </p:nvSpPr>
        <p:spPr>
          <a:xfrm>
            <a:off x="3857400" y="2257200"/>
            <a:ext cx="857520" cy="410040"/>
          </a:xfrm>
          <a:custGeom>
            <a:avLst/>
            <a:gdLst/>
            <a:ahLst/>
            <a:cxnLst/>
            <a:rect l="0" t="0" r="r" b="b"/>
            <a:pathLst>
              <a:path w="2382" h="1139">
                <a:moveTo>
                  <a:pt x="0" y="0"/>
                </a:moveTo>
                <a:lnTo>
                  <a:pt x="2382" y="0"/>
                </a:lnTo>
                <a:lnTo>
                  <a:pt x="238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reeform 149"/>
          <p:cNvSpPr/>
          <p:nvPr/>
        </p:nvSpPr>
        <p:spPr>
          <a:xfrm>
            <a:off x="4714560" y="225720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reeform 150"/>
          <p:cNvSpPr/>
          <p:nvPr/>
        </p:nvSpPr>
        <p:spPr>
          <a:xfrm>
            <a:off x="5886360" y="2257200"/>
            <a:ext cx="1028880" cy="410040"/>
          </a:xfrm>
          <a:custGeom>
            <a:avLst/>
            <a:gdLst/>
            <a:ahLst/>
            <a:cxnLst/>
            <a:rect l="0" t="0" r="r" b="b"/>
            <a:pathLst>
              <a:path w="2858" h="1139">
                <a:moveTo>
                  <a:pt x="0" y="0"/>
                </a:moveTo>
                <a:lnTo>
                  <a:pt x="2858" y="0"/>
                </a:lnTo>
                <a:lnTo>
                  <a:pt x="28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Freeform 151"/>
          <p:cNvSpPr/>
          <p:nvPr/>
        </p:nvSpPr>
        <p:spPr>
          <a:xfrm>
            <a:off x="752400" y="2666880"/>
            <a:ext cx="2000520" cy="410040"/>
          </a:xfrm>
          <a:custGeom>
            <a:avLst/>
            <a:gdLst/>
            <a:ahLst/>
            <a:cxnLst/>
            <a:rect l="0" t="0" r="r" b="b"/>
            <a:pathLst>
              <a:path w="5557" h="1139">
                <a:moveTo>
                  <a:pt x="0" y="0"/>
                </a:moveTo>
                <a:lnTo>
                  <a:pt x="5557" y="0"/>
                </a:lnTo>
                <a:lnTo>
                  <a:pt x="555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reeform 152"/>
          <p:cNvSpPr/>
          <p:nvPr/>
        </p:nvSpPr>
        <p:spPr>
          <a:xfrm>
            <a:off x="2752560" y="2666880"/>
            <a:ext cx="1105200" cy="410040"/>
          </a:xfrm>
          <a:custGeom>
            <a:avLst/>
            <a:gdLst/>
            <a:ahLst/>
            <a:cxnLst/>
            <a:rect l="0" t="0" r="r" b="b"/>
            <a:pathLst>
              <a:path w="3070" h="1139">
                <a:moveTo>
                  <a:pt x="0" y="0"/>
                </a:moveTo>
                <a:lnTo>
                  <a:pt x="3070" y="0"/>
                </a:lnTo>
                <a:lnTo>
                  <a:pt x="30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reeform 153"/>
          <p:cNvSpPr/>
          <p:nvPr/>
        </p:nvSpPr>
        <p:spPr>
          <a:xfrm>
            <a:off x="3857400" y="2666880"/>
            <a:ext cx="857520" cy="410040"/>
          </a:xfrm>
          <a:custGeom>
            <a:avLst/>
            <a:gdLst/>
            <a:ahLst/>
            <a:cxnLst/>
            <a:rect l="0" t="0" r="r" b="b"/>
            <a:pathLst>
              <a:path w="2382" h="1139">
                <a:moveTo>
                  <a:pt x="0" y="0"/>
                </a:moveTo>
                <a:lnTo>
                  <a:pt x="2382" y="0"/>
                </a:lnTo>
                <a:lnTo>
                  <a:pt x="238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reeform 154"/>
          <p:cNvSpPr/>
          <p:nvPr/>
        </p:nvSpPr>
        <p:spPr>
          <a:xfrm>
            <a:off x="4714560" y="266688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reeform 155"/>
          <p:cNvSpPr/>
          <p:nvPr/>
        </p:nvSpPr>
        <p:spPr>
          <a:xfrm>
            <a:off x="5886360" y="2666880"/>
            <a:ext cx="1028880" cy="410040"/>
          </a:xfrm>
          <a:custGeom>
            <a:avLst/>
            <a:gdLst/>
            <a:ahLst/>
            <a:cxnLst/>
            <a:rect l="0" t="0" r="r" b="b"/>
            <a:pathLst>
              <a:path w="2858" h="1139">
                <a:moveTo>
                  <a:pt x="0" y="0"/>
                </a:moveTo>
                <a:lnTo>
                  <a:pt x="2858" y="0"/>
                </a:lnTo>
                <a:lnTo>
                  <a:pt x="28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reeform 156"/>
          <p:cNvSpPr/>
          <p:nvPr/>
        </p:nvSpPr>
        <p:spPr>
          <a:xfrm>
            <a:off x="752400" y="3076560"/>
            <a:ext cx="2000520" cy="409680"/>
          </a:xfrm>
          <a:custGeom>
            <a:avLst/>
            <a:gdLst/>
            <a:ahLst/>
            <a:cxnLst/>
            <a:rect l="0" t="0" r="r" b="b"/>
            <a:pathLst>
              <a:path w="5557" h="1138">
                <a:moveTo>
                  <a:pt x="0" y="0"/>
                </a:moveTo>
                <a:lnTo>
                  <a:pt x="5557" y="0"/>
                </a:lnTo>
                <a:lnTo>
                  <a:pt x="555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reeform 157"/>
          <p:cNvSpPr/>
          <p:nvPr/>
        </p:nvSpPr>
        <p:spPr>
          <a:xfrm>
            <a:off x="2752560" y="3076560"/>
            <a:ext cx="1105200" cy="409680"/>
          </a:xfrm>
          <a:custGeom>
            <a:avLst/>
            <a:gdLst/>
            <a:ahLst/>
            <a:cxnLst/>
            <a:rect l="0" t="0" r="r" b="b"/>
            <a:pathLst>
              <a:path w="3070" h="1138">
                <a:moveTo>
                  <a:pt x="0" y="0"/>
                </a:moveTo>
                <a:lnTo>
                  <a:pt x="3070" y="0"/>
                </a:lnTo>
                <a:lnTo>
                  <a:pt x="30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reeform 158"/>
          <p:cNvSpPr/>
          <p:nvPr/>
        </p:nvSpPr>
        <p:spPr>
          <a:xfrm>
            <a:off x="3857400" y="3076560"/>
            <a:ext cx="857520" cy="409680"/>
          </a:xfrm>
          <a:custGeom>
            <a:avLst/>
            <a:gdLst/>
            <a:ahLst/>
            <a:cxnLst/>
            <a:rect l="0" t="0" r="r" b="b"/>
            <a:pathLst>
              <a:path w="2382" h="1138">
                <a:moveTo>
                  <a:pt x="0" y="0"/>
                </a:moveTo>
                <a:lnTo>
                  <a:pt x="2382" y="0"/>
                </a:lnTo>
                <a:lnTo>
                  <a:pt x="238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reeform 159"/>
          <p:cNvSpPr/>
          <p:nvPr/>
        </p:nvSpPr>
        <p:spPr>
          <a:xfrm>
            <a:off x="4714560" y="3076560"/>
            <a:ext cx="1172160" cy="409680"/>
          </a:xfrm>
          <a:custGeom>
            <a:avLst/>
            <a:gdLst/>
            <a:ahLst/>
            <a:cxnLst/>
            <a:rect l="0" t="0" r="r" b="b"/>
            <a:pathLst>
              <a:path w="3256" h="1138">
                <a:moveTo>
                  <a:pt x="0" y="0"/>
                </a:moveTo>
                <a:lnTo>
                  <a:pt x="3256" y="0"/>
                </a:lnTo>
                <a:lnTo>
                  <a:pt x="325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reeform 160"/>
          <p:cNvSpPr/>
          <p:nvPr/>
        </p:nvSpPr>
        <p:spPr>
          <a:xfrm>
            <a:off x="5886360" y="3076560"/>
            <a:ext cx="1028880" cy="409680"/>
          </a:xfrm>
          <a:custGeom>
            <a:avLst/>
            <a:gdLst/>
            <a:ahLst/>
            <a:cxnLst/>
            <a:rect l="0" t="0" r="r" b="b"/>
            <a:pathLst>
              <a:path w="2858" h="1138">
                <a:moveTo>
                  <a:pt x="0" y="0"/>
                </a:moveTo>
                <a:lnTo>
                  <a:pt x="2858" y="0"/>
                </a:lnTo>
                <a:lnTo>
                  <a:pt x="285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reeform 161"/>
          <p:cNvSpPr/>
          <p:nvPr/>
        </p:nvSpPr>
        <p:spPr>
          <a:xfrm>
            <a:off x="752400" y="3485880"/>
            <a:ext cx="2000520" cy="410040"/>
          </a:xfrm>
          <a:custGeom>
            <a:avLst/>
            <a:gdLst/>
            <a:ahLst/>
            <a:cxnLst/>
            <a:rect l="0" t="0" r="r" b="b"/>
            <a:pathLst>
              <a:path w="5557" h="1139">
                <a:moveTo>
                  <a:pt x="0" y="0"/>
                </a:moveTo>
                <a:lnTo>
                  <a:pt x="5557" y="0"/>
                </a:lnTo>
                <a:lnTo>
                  <a:pt x="555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reeform 162"/>
          <p:cNvSpPr/>
          <p:nvPr/>
        </p:nvSpPr>
        <p:spPr>
          <a:xfrm>
            <a:off x="2752560" y="3485880"/>
            <a:ext cx="1105200" cy="410040"/>
          </a:xfrm>
          <a:custGeom>
            <a:avLst/>
            <a:gdLst/>
            <a:ahLst/>
            <a:cxnLst/>
            <a:rect l="0" t="0" r="r" b="b"/>
            <a:pathLst>
              <a:path w="3070" h="1139">
                <a:moveTo>
                  <a:pt x="0" y="0"/>
                </a:moveTo>
                <a:lnTo>
                  <a:pt x="3070" y="0"/>
                </a:lnTo>
                <a:lnTo>
                  <a:pt x="30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reeform 163"/>
          <p:cNvSpPr/>
          <p:nvPr/>
        </p:nvSpPr>
        <p:spPr>
          <a:xfrm>
            <a:off x="3857400" y="3485880"/>
            <a:ext cx="857520" cy="410040"/>
          </a:xfrm>
          <a:custGeom>
            <a:avLst/>
            <a:gdLst/>
            <a:ahLst/>
            <a:cxnLst/>
            <a:rect l="0" t="0" r="r" b="b"/>
            <a:pathLst>
              <a:path w="2382" h="1139">
                <a:moveTo>
                  <a:pt x="0" y="0"/>
                </a:moveTo>
                <a:lnTo>
                  <a:pt x="2382" y="0"/>
                </a:lnTo>
                <a:lnTo>
                  <a:pt x="238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reeform 164"/>
          <p:cNvSpPr/>
          <p:nvPr/>
        </p:nvSpPr>
        <p:spPr>
          <a:xfrm>
            <a:off x="4714560" y="348588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reeform 165"/>
          <p:cNvSpPr/>
          <p:nvPr/>
        </p:nvSpPr>
        <p:spPr>
          <a:xfrm>
            <a:off x="5886360" y="3485880"/>
            <a:ext cx="1028880" cy="410040"/>
          </a:xfrm>
          <a:custGeom>
            <a:avLst/>
            <a:gdLst/>
            <a:ahLst/>
            <a:cxnLst/>
            <a:rect l="0" t="0" r="r" b="b"/>
            <a:pathLst>
              <a:path w="2858" h="1139">
                <a:moveTo>
                  <a:pt x="0" y="0"/>
                </a:moveTo>
                <a:lnTo>
                  <a:pt x="2858" y="0"/>
                </a:lnTo>
                <a:lnTo>
                  <a:pt x="28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reeform 166"/>
          <p:cNvSpPr/>
          <p:nvPr/>
        </p:nvSpPr>
        <p:spPr>
          <a:xfrm>
            <a:off x="752400" y="3895560"/>
            <a:ext cx="2000520" cy="410040"/>
          </a:xfrm>
          <a:custGeom>
            <a:avLst/>
            <a:gdLst/>
            <a:ahLst/>
            <a:cxnLst/>
            <a:rect l="0" t="0" r="r" b="b"/>
            <a:pathLst>
              <a:path w="5557" h="1139">
                <a:moveTo>
                  <a:pt x="0" y="0"/>
                </a:moveTo>
                <a:lnTo>
                  <a:pt x="5557" y="0"/>
                </a:lnTo>
                <a:lnTo>
                  <a:pt x="555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reeform 167"/>
          <p:cNvSpPr/>
          <p:nvPr/>
        </p:nvSpPr>
        <p:spPr>
          <a:xfrm>
            <a:off x="2752560" y="3895560"/>
            <a:ext cx="1105200" cy="410040"/>
          </a:xfrm>
          <a:custGeom>
            <a:avLst/>
            <a:gdLst/>
            <a:ahLst/>
            <a:cxnLst/>
            <a:rect l="0" t="0" r="r" b="b"/>
            <a:pathLst>
              <a:path w="3070" h="1139">
                <a:moveTo>
                  <a:pt x="0" y="0"/>
                </a:moveTo>
                <a:lnTo>
                  <a:pt x="3070" y="0"/>
                </a:lnTo>
                <a:lnTo>
                  <a:pt x="30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3857400" y="3895560"/>
            <a:ext cx="857520" cy="410040"/>
          </a:xfrm>
          <a:custGeom>
            <a:avLst/>
            <a:gdLst/>
            <a:ahLst/>
            <a:cxnLst/>
            <a:rect l="0" t="0" r="r" b="b"/>
            <a:pathLst>
              <a:path w="2382" h="1139">
                <a:moveTo>
                  <a:pt x="0" y="0"/>
                </a:moveTo>
                <a:lnTo>
                  <a:pt x="2382" y="0"/>
                </a:lnTo>
                <a:lnTo>
                  <a:pt x="238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reeform 169"/>
          <p:cNvSpPr/>
          <p:nvPr/>
        </p:nvSpPr>
        <p:spPr>
          <a:xfrm>
            <a:off x="4714560" y="3895560"/>
            <a:ext cx="1172160" cy="410040"/>
          </a:xfrm>
          <a:custGeom>
            <a:avLst/>
            <a:gdLst/>
            <a:ahLst/>
            <a:cxnLst/>
            <a:rect l="0" t="0" r="r" b="b"/>
            <a:pathLst>
              <a:path w="3256" h="1139">
                <a:moveTo>
                  <a:pt x="0" y="0"/>
                </a:moveTo>
                <a:lnTo>
                  <a:pt x="3256" y="0"/>
                </a:lnTo>
                <a:lnTo>
                  <a:pt x="3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reeform 170"/>
          <p:cNvSpPr/>
          <p:nvPr/>
        </p:nvSpPr>
        <p:spPr>
          <a:xfrm>
            <a:off x="5886360" y="3895560"/>
            <a:ext cx="1028880" cy="410040"/>
          </a:xfrm>
          <a:custGeom>
            <a:avLst/>
            <a:gdLst/>
            <a:ahLst/>
            <a:cxnLst/>
            <a:rect l="0" t="0" r="r" b="b"/>
            <a:pathLst>
              <a:path w="2858" h="1139">
                <a:moveTo>
                  <a:pt x="0" y="0"/>
                </a:moveTo>
                <a:lnTo>
                  <a:pt x="2858" y="0"/>
                </a:lnTo>
                <a:lnTo>
                  <a:pt x="285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reeform 171"/>
          <p:cNvSpPr/>
          <p:nvPr/>
        </p:nvSpPr>
        <p:spPr>
          <a:xfrm>
            <a:off x="752400" y="1428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reeform 172"/>
          <p:cNvSpPr/>
          <p:nvPr/>
        </p:nvSpPr>
        <p:spPr>
          <a:xfrm>
            <a:off x="752400" y="1428480"/>
            <a:ext cx="2000520" cy="10080"/>
          </a:xfrm>
          <a:custGeom>
            <a:avLst/>
            <a:gdLst/>
            <a:ahLst/>
            <a:cxn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reeform 173"/>
          <p:cNvSpPr/>
          <p:nvPr/>
        </p:nvSpPr>
        <p:spPr>
          <a:xfrm>
            <a:off x="2742840" y="1428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2752560" y="1428480"/>
            <a:ext cx="1114920" cy="10080"/>
          </a:xfrm>
          <a:custGeom>
            <a:avLst/>
            <a:gdLst/>
            <a:ahLst/>
            <a:cxn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reeform 175"/>
          <p:cNvSpPr/>
          <p:nvPr/>
        </p:nvSpPr>
        <p:spPr>
          <a:xfrm>
            <a:off x="3857400" y="1428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reeform 176"/>
          <p:cNvSpPr/>
          <p:nvPr/>
        </p:nvSpPr>
        <p:spPr>
          <a:xfrm>
            <a:off x="3867120" y="1428480"/>
            <a:ext cx="857520" cy="10080"/>
          </a:xfrm>
          <a:custGeom>
            <a:avLst/>
            <a:gdLst/>
            <a:ahLst/>
            <a:cxn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reeform 177"/>
          <p:cNvSpPr/>
          <p:nvPr/>
        </p:nvSpPr>
        <p:spPr>
          <a:xfrm>
            <a:off x="4714560" y="1428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reeform 178"/>
          <p:cNvSpPr/>
          <p:nvPr/>
        </p:nvSpPr>
        <p:spPr>
          <a:xfrm>
            <a:off x="4724280" y="1428480"/>
            <a:ext cx="1171800" cy="10080"/>
          </a:xfrm>
          <a:custGeom>
            <a:avLst/>
            <a:gdLst/>
            <a:ahLst/>
            <a:cxn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reeform 179"/>
          <p:cNvSpPr/>
          <p:nvPr/>
        </p:nvSpPr>
        <p:spPr>
          <a:xfrm>
            <a:off x="5886360" y="1428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reeform 180"/>
          <p:cNvSpPr/>
          <p:nvPr/>
        </p:nvSpPr>
        <p:spPr>
          <a:xfrm>
            <a:off x="5895720" y="1428480"/>
            <a:ext cx="1019520" cy="10080"/>
          </a:xfrm>
          <a:custGeom>
            <a:avLst/>
            <a:gdLst/>
            <a:ahLst/>
            <a:cxn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reeform 181"/>
          <p:cNvSpPr/>
          <p:nvPr/>
        </p:nvSpPr>
        <p:spPr>
          <a:xfrm>
            <a:off x="6905520" y="1428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752400" y="1838160"/>
            <a:ext cx="2000520" cy="9720"/>
          </a:xfrm>
          <a:custGeom>
            <a:avLst/>
            <a:gdLst/>
            <a:ahLst/>
            <a:cxn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reeform 183"/>
          <p:cNvSpPr/>
          <p:nvPr/>
        </p:nvSpPr>
        <p:spPr>
          <a:xfrm>
            <a:off x="2752560" y="1838160"/>
            <a:ext cx="1114920" cy="9720"/>
          </a:xfrm>
          <a:custGeom>
            <a:avLst/>
            <a:gdLst/>
            <a:ahLst/>
            <a:cxn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reeform 184"/>
          <p:cNvSpPr/>
          <p:nvPr/>
        </p:nvSpPr>
        <p:spPr>
          <a:xfrm>
            <a:off x="3867120" y="1838160"/>
            <a:ext cx="857520" cy="9720"/>
          </a:xfrm>
          <a:custGeom>
            <a:avLst/>
            <a:gdLst/>
            <a:ahLst/>
            <a:cxn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reeform 185"/>
          <p:cNvSpPr/>
          <p:nvPr/>
        </p:nvSpPr>
        <p:spPr>
          <a:xfrm>
            <a:off x="4724280" y="1838160"/>
            <a:ext cx="1171800" cy="9720"/>
          </a:xfrm>
          <a:custGeom>
            <a:avLst/>
            <a:gdLst/>
            <a:ahLst/>
            <a:cxn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reeform 186"/>
          <p:cNvSpPr/>
          <p:nvPr/>
        </p:nvSpPr>
        <p:spPr>
          <a:xfrm>
            <a:off x="5895720" y="1838160"/>
            <a:ext cx="1019520" cy="9720"/>
          </a:xfrm>
          <a:custGeom>
            <a:avLst/>
            <a:gdLst/>
            <a:ahLst/>
            <a:cxn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reeform 187"/>
          <p:cNvSpPr/>
          <p:nvPr/>
        </p:nvSpPr>
        <p:spPr>
          <a:xfrm>
            <a:off x="752400" y="184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reeform 188"/>
          <p:cNvSpPr/>
          <p:nvPr/>
        </p:nvSpPr>
        <p:spPr>
          <a:xfrm>
            <a:off x="2742840" y="184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reeform 189"/>
          <p:cNvSpPr/>
          <p:nvPr/>
        </p:nvSpPr>
        <p:spPr>
          <a:xfrm>
            <a:off x="3857400" y="184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reeform 190"/>
          <p:cNvSpPr/>
          <p:nvPr/>
        </p:nvSpPr>
        <p:spPr>
          <a:xfrm>
            <a:off x="4714560" y="184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reeform 191"/>
          <p:cNvSpPr/>
          <p:nvPr/>
        </p:nvSpPr>
        <p:spPr>
          <a:xfrm>
            <a:off x="5886360" y="184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reeform 192"/>
          <p:cNvSpPr/>
          <p:nvPr/>
        </p:nvSpPr>
        <p:spPr>
          <a:xfrm>
            <a:off x="6905520" y="184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reeform 193"/>
          <p:cNvSpPr/>
          <p:nvPr/>
        </p:nvSpPr>
        <p:spPr>
          <a:xfrm>
            <a:off x="752400" y="2257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752400" y="2247840"/>
            <a:ext cx="2000520" cy="9720"/>
          </a:xfrm>
          <a:custGeom>
            <a:avLst/>
            <a:gdLst/>
            <a:ahLst/>
            <a:cxn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2742840" y="2257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2752560" y="2247840"/>
            <a:ext cx="1114920" cy="9720"/>
          </a:xfrm>
          <a:custGeom>
            <a:avLst/>
            <a:gdLst/>
            <a:ahLst/>
            <a:cxn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3857400" y="2257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reeform 198"/>
          <p:cNvSpPr/>
          <p:nvPr/>
        </p:nvSpPr>
        <p:spPr>
          <a:xfrm>
            <a:off x="3867120" y="2247840"/>
            <a:ext cx="857520" cy="9720"/>
          </a:xfrm>
          <a:custGeom>
            <a:avLst/>
            <a:gdLst/>
            <a:ahLst/>
            <a:cxn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reeform 199"/>
          <p:cNvSpPr/>
          <p:nvPr/>
        </p:nvSpPr>
        <p:spPr>
          <a:xfrm>
            <a:off x="4714560" y="2257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reeform 200"/>
          <p:cNvSpPr/>
          <p:nvPr/>
        </p:nvSpPr>
        <p:spPr>
          <a:xfrm>
            <a:off x="4724280" y="2247840"/>
            <a:ext cx="1171800" cy="9720"/>
          </a:xfrm>
          <a:custGeom>
            <a:avLst/>
            <a:gdLst/>
            <a:ahLst/>
            <a:cxn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reeform 201"/>
          <p:cNvSpPr/>
          <p:nvPr/>
        </p:nvSpPr>
        <p:spPr>
          <a:xfrm>
            <a:off x="5886360" y="2257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reeform 202"/>
          <p:cNvSpPr/>
          <p:nvPr/>
        </p:nvSpPr>
        <p:spPr>
          <a:xfrm>
            <a:off x="5895720" y="2247840"/>
            <a:ext cx="1019520" cy="9720"/>
          </a:xfrm>
          <a:custGeom>
            <a:avLst/>
            <a:gdLst/>
            <a:ahLst/>
            <a:cxn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reeform 203"/>
          <p:cNvSpPr/>
          <p:nvPr/>
        </p:nvSpPr>
        <p:spPr>
          <a:xfrm>
            <a:off x="6905520" y="2257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752400" y="2666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752400" y="2657160"/>
            <a:ext cx="2000520" cy="10080"/>
          </a:xfrm>
          <a:custGeom>
            <a:avLst/>
            <a:gdLst/>
            <a:ahLst/>
            <a:cxn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reeform 206"/>
          <p:cNvSpPr/>
          <p:nvPr/>
        </p:nvSpPr>
        <p:spPr>
          <a:xfrm>
            <a:off x="2742840" y="2666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reeform 207"/>
          <p:cNvSpPr/>
          <p:nvPr/>
        </p:nvSpPr>
        <p:spPr>
          <a:xfrm>
            <a:off x="2752560" y="2657160"/>
            <a:ext cx="1114920" cy="10080"/>
          </a:xfrm>
          <a:custGeom>
            <a:avLst/>
            <a:gdLst/>
            <a:ahLst/>
            <a:cxn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 208"/>
          <p:cNvSpPr/>
          <p:nvPr/>
        </p:nvSpPr>
        <p:spPr>
          <a:xfrm>
            <a:off x="3857400" y="2666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reeform 209"/>
          <p:cNvSpPr/>
          <p:nvPr/>
        </p:nvSpPr>
        <p:spPr>
          <a:xfrm>
            <a:off x="3867120" y="2657160"/>
            <a:ext cx="857520" cy="10080"/>
          </a:xfrm>
          <a:custGeom>
            <a:avLst/>
            <a:gdLst/>
            <a:ahLst/>
            <a:cxn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reeform 210"/>
          <p:cNvSpPr/>
          <p:nvPr/>
        </p:nvSpPr>
        <p:spPr>
          <a:xfrm>
            <a:off x="4714560" y="2666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reeform 211"/>
          <p:cNvSpPr/>
          <p:nvPr/>
        </p:nvSpPr>
        <p:spPr>
          <a:xfrm>
            <a:off x="4724280" y="2657160"/>
            <a:ext cx="1171800" cy="10080"/>
          </a:xfrm>
          <a:custGeom>
            <a:avLst/>
            <a:gdLst/>
            <a:ahLst/>
            <a:cxn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reeform 212"/>
          <p:cNvSpPr/>
          <p:nvPr/>
        </p:nvSpPr>
        <p:spPr>
          <a:xfrm>
            <a:off x="5886360" y="2666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reeform 213"/>
          <p:cNvSpPr/>
          <p:nvPr/>
        </p:nvSpPr>
        <p:spPr>
          <a:xfrm>
            <a:off x="5895720" y="2657160"/>
            <a:ext cx="1019520" cy="10080"/>
          </a:xfrm>
          <a:custGeom>
            <a:avLst/>
            <a:gdLst/>
            <a:ahLst/>
            <a:cxn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6905520" y="2666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reeform 215"/>
          <p:cNvSpPr/>
          <p:nvPr/>
        </p:nvSpPr>
        <p:spPr>
          <a:xfrm>
            <a:off x="752400" y="3076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reeform 216"/>
          <p:cNvSpPr/>
          <p:nvPr/>
        </p:nvSpPr>
        <p:spPr>
          <a:xfrm>
            <a:off x="752400" y="3066840"/>
            <a:ext cx="2000520" cy="10080"/>
          </a:xfrm>
          <a:custGeom>
            <a:avLst/>
            <a:gdLst/>
            <a:ahLst/>
            <a:cxn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reeform 217"/>
          <p:cNvSpPr/>
          <p:nvPr/>
        </p:nvSpPr>
        <p:spPr>
          <a:xfrm>
            <a:off x="2742840" y="3076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reeform 218"/>
          <p:cNvSpPr/>
          <p:nvPr/>
        </p:nvSpPr>
        <p:spPr>
          <a:xfrm>
            <a:off x="2752560" y="3066840"/>
            <a:ext cx="1114920" cy="10080"/>
          </a:xfrm>
          <a:custGeom>
            <a:avLst/>
            <a:gdLst/>
            <a:ahLst/>
            <a:cxn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reeform 219"/>
          <p:cNvSpPr/>
          <p:nvPr/>
        </p:nvSpPr>
        <p:spPr>
          <a:xfrm>
            <a:off x="3857400" y="3076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reeform 220"/>
          <p:cNvSpPr/>
          <p:nvPr/>
        </p:nvSpPr>
        <p:spPr>
          <a:xfrm>
            <a:off x="3867120" y="3066840"/>
            <a:ext cx="857520" cy="10080"/>
          </a:xfrm>
          <a:custGeom>
            <a:avLst/>
            <a:gdLst/>
            <a:ahLst/>
            <a:cxn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reeform 221"/>
          <p:cNvSpPr/>
          <p:nvPr/>
        </p:nvSpPr>
        <p:spPr>
          <a:xfrm>
            <a:off x="4714560" y="3076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reeform 222"/>
          <p:cNvSpPr/>
          <p:nvPr/>
        </p:nvSpPr>
        <p:spPr>
          <a:xfrm>
            <a:off x="4724280" y="3066840"/>
            <a:ext cx="1171800" cy="10080"/>
          </a:xfrm>
          <a:custGeom>
            <a:avLst/>
            <a:gdLst/>
            <a:ahLst/>
            <a:cxn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reeform 223"/>
          <p:cNvSpPr/>
          <p:nvPr/>
        </p:nvSpPr>
        <p:spPr>
          <a:xfrm>
            <a:off x="5886360" y="3076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reeform 224"/>
          <p:cNvSpPr/>
          <p:nvPr/>
        </p:nvSpPr>
        <p:spPr>
          <a:xfrm>
            <a:off x="5895720" y="3066840"/>
            <a:ext cx="1019520" cy="10080"/>
          </a:xfrm>
          <a:custGeom>
            <a:avLst/>
            <a:gdLst/>
            <a:ahLst/>
            <a:cxn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reeform 225"/>
          <p:cNvSpPr/>
          <p:nvPr/>
        </p:nvSpPr>
        <p:spPr>
          <a:xfrm>
            <a:off x="6905520" y="3076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reeform 226"/>
          <p:cNvSpPr/>
          <p:nvPr/>
        </p:nvSpPr>
        <p:spPr>
          <a:xfrm>
            <a:off x="752400" y="3485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reeform 227"/>
          <p:cNvSpPr/>
          <p:nvPr/>
        </p:nvSpPr>
        <p:spPr>
          <a:xfrm>
            <a:off x="752400" y="3476520"/>
            <a:ext cx="2000520" cy="9720"/>
          </a:xfrm>
          <a:custGeom>
            <a:avLst/>
            <a:gdLst/>
            <a:ahLst/>
            <a:cxnLst/>
            <a:rect l="0" t="0" r="r" b="b"/>
            <a:pathLst>
              <a:path w="5557" h="27">
                <a:moveTo>
                  <a:pt x="0" y="0"/>
                </a:moveTo>
                <a:lnTo>
                  <a:pt x="5557" y="0"/>
                </a:lnTo>
                <a:lnTo>
                  <a:pt x="55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reeform 228"/>
          <p:cNvSpPr/>
          <p:nvPr/>
        </p:nvSpPr>
        <p:spPr>
          <a:xfrm>
            <a:off x="2742840" y="3485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reeform 229"/>
          <p:cNvSpPr/>
          <p:nvPr/>
        </p:nvSpPr>
        <p:spPr>
          <a:xfrm>
            <a:off x="2752560" y="3476520"/>
            <a:ext cx="1114920" cy="9720"/>
          </a:xfrm>
          <a:custGeom>
            <a:avLst/>
            <a:gdLst/>
            <a:ahLst/>
            <a:cxnLst/>
            <a:rect l="0" t="0" r="r" b="b"/>
            <a:pathLst>
              <a:path w="3097" h="27">
                <a:moveTo>
                  <a:pt x="0" y="0"/>
                </a:moveTo>
                <a:lnTo>
                  <a:pt x="3097" y="0"/>
                </a:lnTo>
                <a:lnTo>
                  <a:pt x="30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reeform 230"/>
          <p:cNvSpPr/>
          <p:nvPr/>
        </p:nvSpPr>
        <p:spPr>
          <a:xfrm>
            <a:off x="3857400" y="3485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reeform 231"/>
          <p:cNvSpPr/>
          <p:nvPr/>
        </p:nvSpPr>
        <p:spPr>
          <a:xfrm>
            <a:off x="3867120" y="3476520"/>
            <a:ext cx="857520" cy="9720"/>
          </a:xfrm>
          <a:custGeom>
            <a:avLst/>
            <a:gdLst/>
            <a:ahLst/>
            <a:cxnLst/>
            <a:rect l="0" t="0" r="r" b="b"/>
            <a:pathLst>
              <a:path w="2382" h="27">
                <a:moveTo>
                  <a:pt x="0" y="0"/>
                </a:moveTo>
                <a:lnTo>
                  <a:pt x="2382" y="0"/>
                </a:lnTo>
                <a:lnTo>
                  <a:pt x="23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reeform 232"/>
          <p:cNvSpPr/>
          <p:nvPr/>
        </p:nvSpPr>
        <p:spPr>
          <a:xfrm>
            <a:off x="4714560" y="3485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reeform 233"/>
          <p:cNvSpPr/>
          <p:nvPr/>
        </p:nvSpPr>
        <p:spPr>
          <a:xfrm>
            <a:off x="4724280" y="3476520"/>
            <a:ext cx="1171800" cy="9720"/>
          </a:xfrm>
          <a:custGeom>
            <a:avLst/>
            <a:gdLst/>
            <a:ahLst/>
            <a:cxnLst/>
            <a:rect l="0" t="0" r="r" b="b"/>
            <a:pathLst>
              <a:path w="3255" h="27">
                <a:moveTo>
                  <a:pt x="0" y="0"/>
                </a:moveTo>
                <a:lnTo>
                  <a:pt x="3255" y="0"/>
                </a:lnTo>
                <a:lnTo>
                  <a:pt x="32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reeform 234"/>
          <p:cNvSpPr/>
          <p:nvPr/>
        </p:nvSpPr>
        <p:spPr>
          <a:xfrm>
            <a:off x="5886360" y="3485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reeform 235"/>
          <p:cNvSpPr/>
          <p:nvPr/>
        </p:nvSpPr>
        <p:spPr>
          <a:xfrm>
            <a:off x="5895720" y="3476520"/>
            <a:ext cx="1019520" cy="9720"/>
          </a:xfrm>
          <a:custGeom>
            <a:avLst/>
            <a:gdLst/>
            <a:ahLst/>
            <a:cxn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reeform 236"/>
          <p:cNvSpPr/>
          <p:nvPr/>
        </p:nvSpPr>
        <p:spPr>
          <a:xfrm>
            <a:off x="6905520" y="3485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752400" y="38955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reeform 238"/>
          <p:cNvSpPr/>
          <p:nvPr/>
        </p:nvSpPr>
        <p:spPr>
          <a:xfrm>
            <a:off x="752400" y="3885840"/>
            <a:ext cx="2000520" cy="10080"/>
          </a:xfrm>
          <a:custGeom>
            <a:avLst/>
            <a:gdLst/>
            <a:ahLst/>
            <a:cxn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reeform 239"/>
          <p:cNvSpPr/>
          <p:nvPr/>
        </p:nvSpPr>
        <p:spPr>
          <a:xfrm>
            <a:off x="2742840" y="38955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reeform 240"/>
          <p:cNvSpPr/>
          <p:nvPr/>
        </p:nvSpPr>
        <p:spPr>
          <a:xfrm>
            <a:off x="2752560" y="3885840"/>
            <a:ext cx="1114920" cy="10080"/>
          </a:xfrm>
          <a:custGeom>
            <a:avLst/>
            <a:gdLst/>
            <a:ahLst/>
            <a:cxn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reeform 241"/>
          <p:cNvSpPr/>
          <p:nvPr/>
        </p:nvSpPr>
        <p:spPr>
          <a:xfrm>
            <a:off x="3857400" y="38955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reeform 242"/>
          <p:cNvSpPr/>
          <p:nvPr/>
        </p:nvSpPr>
        <p:spPr>
          <a:xfrm>
            <a:off x="3867120" y="3885840"/>
            <a:ext cx="857520" cy="10080"/>
          </a:xfrm>
          <a:custGeom>
            <a:avLst/>
            <a:gdLst/>
            <a:ahLst/>
            <a:cxn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reeform 243"/>
          <p:cNvSpPr/>
          <p:nvPr/>
        </p:nvSpPr>
        <p:spPr>
          <a:xfrm>
            <a:off x="4714560" y="38955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reeform 244"/>
          <p:cNvSpPr/>
          <p:nvPr/>
        </p:nvSpPr>
        <p:spPr>
          <a:xfrm>
            <a:off x="4724280" y="3885840"/>
            <a:ext cx="1171800" cy="10080"/>
          </a:xfrm>
          <a:custGeom>
            <a:avLst/>
            <a:gdLst/>
            <a:ahLst/>
            <a:cxn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reeform 245"/>
          <p:cNvSpPr/>
          <p:nvPr/>
        </p:nvSpPr>
        <p:spPr>
          <a:xfrm>
            <a:off x="5886360" y="38955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reeform 246"/>
          <p:cNvSpPr/>
          <p:nvPr/>
        </p:nvSpPr>
        <p:spPr>
          <a:xfrm>
            <a:off x="5895720" y="3885840"/>
            <a:ext cx="1019520" cy="10080"/>
          </a:xfrm>
          <a:custGeom>
            <a:avLst/>
            <a:gdLst/>
            <a:ahLst/>
            <a:cxn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reeform 247"/>
          <p:cNvSpPr/>
          <p:nvPr/>
        </p:nvSpPr>
        <p:spPr>
          <a:xfrm>
            <a:off x="6905520" y="38955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reeform 248"/>
          <p:cNvSpPr/>
          <p:nvPr/>
        </p:nvSpPr>
        <p:spPr>
          <a:xfrm>
            <a:off x="752400" y="4295520"/>
            <a:ext cx="2000520" cy="10080"/>
          </a:xfrm>
          <a:custGeom>
            <a:avLst/>
            <a:gdLst/>
            <a:ahLst/>
            <a:cxnLst/>
            <a:rect l="0" t="0" r="r" b="b"/>
            <a:pathLst>
              <a:path w="5557" h="28">
                <a:moveTo>
                  <a:pt x="0" y="0"/>
                </a:moveTo>
                <a:lnTo>
                  <a:pt x="5557" y="0"/>
                </a:lnTo>
                <a:lnTo>
                  <a:pt x="55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reeform 249"/>
          <p:cNvSpPr/>
          <p:nvPr/>
        </p:nvSpPr>
        <p:spPr>
          <a:xfrm>
            <a:off x="2752560" y="4295520"/>
            <a:ext cx="1114920" cy="10080"/>
          </a:xfrm>
          <a:custGeom>
            <a:avLst/>
            <a:gdLst/>
            <a:ahLst/>
            <a:cxnLst/>
            <a:rect l="0" t="0" r="r" b="b"/>
            <a:pathLst>
              <a:path w="3097" h="28">
                <a:moveTo>
                  <a:pt x="0" y="0"/>
                </a:moveTo>
                <a:lnTo>
                  <a:pt x="3097" y="0"/>
                </a:lnTo>
                <a:lnTo>
                  <a:pt x="30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reeform 250"/>
          <p:cNvSpPr/>
          <p:nvPr/>
        </p:nvSpPr>
        <p:spPr>
          <a:xfrm>
            <a:off x="3867120" y="4295520"/>
            <a:ext cx="857520" cy="10080"/>
          </a:xfrm>
          <a:custGeom>
            <a:avLst/>
            <a:gdLst/>
            <a:ahLst/>
            <a:cxnLst/>
            <a:rect l="0" t="0" r="r" b="b"/>
            <a:pathLst>
              <a:path w="2382" h="28">
                <a:moveTo>
                  <a:pt x="0" y="0"/>
                </a:moveTo>
                <a:lnTo>
                  <a:pt x="2382" y="0"/>
                </a:lnTo>
                <a:lnTo>
                  <a:pt x="23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reeform 251"/>
          <p:cNvSpPr/>
          <p:nvPr/>
        </p:nvSpPr>
        <p:spPr>
          <a:xfrm>
            <a:off x="4724280" y="4295520"/>
            <a:ext cx="1171800" cy="10080"/>
          </a:xfrm>
          <a:custGeom>
            <a:avLst/>
            <a:gdLst/>
            <a:ahLst/>
            <a:cxnLst/>
            <a:rect l="0" t="0" r="r" b="b"/>
            <a:pathLst>
              <a:path w="3255" h="28">
                <a:moveTo>
                  <a:pt x="0" y="0"/>
                </a:moveTo>
                <a:lnTo>
                  <a:pt x="3255" y="0"/>
                </a:lnTo>
                <a:lnTo>
                  <a:pt x="32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reeform 252"/>
          <p:cNvSpPr/>
          <p:nvPr/>
        </p:nvSpPr>
        <p:spPr>
          <a:xfrm>
            <a:off x="5895720" y="4295520"/>
            <a:ext cx="1019520" cy="10080"/>
          </a:xfrm>
          <a:custGeom>
            <a:avLst/>
            <a:gdLst/>
            <a:ahLst/>
            <a:cxn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747720" y="728640"/>
            <a:ext cx="657288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Performance by Evaluation Criteria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1370160" y="1501200"/>
            <a:ext cx="91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Criterion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2879640" y="1501200"/>
            <a:ext cx="984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Human 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3990240" y="1501200"/>
            <a:ext cx="68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LLM 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4845240" y="1501200"/>
            <a:ext cx="1080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Difference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6068520" y="1501200"/>
            <a:ext cx="75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p-value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880920" y="1910880"/>
            <a:ext cx="2128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Innovation &amp; Impact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2879640" y="191088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84.7%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3990240" y="191088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4845240" y="191088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-0.37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6015960" y="1910880"/>
            <a:ext cx="20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880920" y="2320560"/>
            <a:ext cx="133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Methodology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2879640" y="232056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72.2%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3990240" y="232056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75.4%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4845240" y="2320560"/>
            <a:ext cx="96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+0.96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6015960" y="2320560"/>
            <a:ext cx="20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880920" y="2729880"/>
            <a:ext cx="1545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Team Strength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2879640" y="272988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85.8%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3990240" y="272988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83.1%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4845240" y="272988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-0.27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6015960" y="2729880"/>
            <a:ext cx="20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880920" y="3139560"/>
            <a:ext cx="1768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External Funding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2879640" y="313956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76.7%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990240" y="313956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83.5%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4845240" y="3139560"/>
            <a:ext cx="96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+0.69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6015960" y="3139560"/>
            <a:ext cx="825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p=0.022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880920" y="3549240"/>
            <a:ext cx="1492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Budget Clarity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2879640" y="354924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83.3%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3990240" y="354924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80.7%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4845240" y="354924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-0.26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015960" y="3549240"/>
            <a:ext cx="20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880920" y="3958920"/>
            <a:ext cx="133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Presentation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2879640" y="395892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74.2%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3990240" y="3958920"/>
            <a:ext cx="540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72.2%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4845240" y="395892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-0.19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6015960" y="3958920"/>
            <a:ext cx="20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reeform 289"/>
          <p:cNvSpPr/>
          <p:nvPr/>
        </p:nvSpPr>
        <p:spPr>
          <a:xfrm>
            <a:off x="1000080" y="51526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747720" y="4512600"/>
            <a:ext cx="1802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Key Insights: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reeform 291"/>
          <p:cNvSpPr/>
          <p:nvPr/>
        </p:nvSpPr>
        <p:spPr>
          <a:xfrm>
            <a:off x="1000080" y="555300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1204920" y="5013360"/>
            <a:ext cx="4015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Minimal differences across most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reeform 293"/>
          <p:cNvSpPr/>
          <p:nvPr/>
        </p:nvSpPr>
        <p:spPr>
          <a:xfrm>
            <a:off x="1000080" y="5952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1204920" y="5413320"/>
            <a:ext cx="89283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score significantly higher on External Funding potential (p=0.022)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reeform 295"/>
          <p:cNvSpPr/>
          <p:nvPr/>
        </p:nvSpPr>
        <p:spPr>
          <a:xfrm>
            <a:off x="1000080" y="63529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204920" y="5813640"/>
            <a:ext cx="5585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LLMs also score higher on Methodology (+0.96 pts, 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1204920" y="6213600"/>
            <a:ext cx="7518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No evidence of systematic "LLM optimism" - scores closely match humans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117003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3"/>
          <p:cNvPicPr/>
          <p:nvPr/>
        </p:nvPicPr>
        <p:blipFill>
          <a:blip r:embed="rId2"/>
          <a:stretch/>
        </p:blipFill>
        <p:spPr>
          <a:xfrm>
            <a:off x="1793608" y="0"/>
            <a:ext cx="8366391" cy="676631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Box 306"/>
          <p:cNvSpPr txBox="1"/>
          <p:nvPr/>
        </p:nvSpPr>
        <p:spPr>
          <a:xfrm>
            <a:off x="116715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Freeform 310"/>
          <p:cNvSpPr/>
          <p:nvPr/>
        </p:nvSpPr>
        <p:spPr>
          <a:xfrm>
            <a:off x="752400" y="1438200"/>
            <a:ext cx="2229120" cy="409680"/>
          </a:xfrm>
          <a:custGeom>
            <a:avLst/>
            <a:gdLst/>
            <a:ahLst/>
            <a:cxnLst/>
            <a:rect l="0" t="0" r="r" b="b"/>
            <a:pathLst>
              <a:path w="6192" h="1138">
                <a:moveTo>
                  <a:pt x="0" y="0"/>
                </a:moveTo>
                <a:lnTo>
                  <a:pt x="6192" y="0"/>
                </a:lnTo>
                <a:lnTo>
                  <a:pt x="619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reeform 311"/>
          <p:cNvSpPr/>
          <p:nvPr/>
        </p:nvSpPr>
        <p:spPr>
          <a:xfrm>
            <a:off x="2981160" y="1438200"/>
            <a:ext cx="1410120" cy="409680"/>
          </a:xfrm>
          <a:custGeom>
            <a:avLst/>
            <a:gdLst/>
            <a:ahLst/>
            <a:cxnLst/>
            <a:rect l="0" t="0" r="r" b="b"/>
            <a:pathLst>
              <a:path w="3917" h="1138">
                <a:moveTo>
                  <a:pt x="0" y="0"/>
                </a:moveTo>
                <a:lnTo>
                  <a:pt x="3917" y="0"/>
                </a:lnTo>
                <a:lnTo>
                  <a:pt x="391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reeform 312"/>
          <p:cNvSpPr/>
          <p:nvPr/>
        </p:nvSpPr>
        <p:spPr>
          <a:xfrm>
            <a:off x="4390920" y="143820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reeform 313"/>
          <p:cNvSpPr/>
          <p:nvPr/>
        </p:nvSpPr>
        <p:spPr>
          <a:xfrm>
            <a:off x="6095880" y="1438200"/>
            <a:ext cx="486000" cy="409680"/>
          </a:xfrm>
          <a:custGeom>
            <a:avLst/>
            <a:gdLst/>
            <a:ahLst/>
            <a:cxnLst/>
            <a:rect l="0" t="0" r="r" b="b"/>
            <a:pathLst>
              <a:path w="1350" h="1138">
                <a:moveTo>
                  <a:pt x="0" y="0"/>
                </a:moveTo>
                <a:lnTo>
                  <a:pt x="1350" y="0"/>
                </a:lnTo>
                <a:lnTo>
                  <a:pt x="135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reeform 314"/>
          <p:cNvSpPr/>
          <p:nvPr/>
        </p:nvSpPr>
        <p:spPr>
          <a:xfrm>
            <a:off x="752400" y="184752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reeform 315"/>
          <p:cNvSpPr/>
          <p:nvPr/>
        </p:nvSpPr>
        <p:spPr>
          <a:xfrm>
            <a:off x="2981160" y="1847520"/>
            <a:ext cx="1410120" cy="410040"/>
          </a:xfrm>
          <a:custGeom>
            <a:avLst/>
            <a:gdLst/>
            <a:ahLst/>
            <a:cxnLst/>
            <a:rect l="0" t="0" r="r" b="b"/>
            <a:pathLst>
              <a:path w="3917" h="1139">
                <a:moveTo>
                  <a:pt x="0" y="0"/>
                </a:moveTo>
                <a:lnTo>
                  <a:pt x="3917" y="0"/>
                </a:lnTo>
                <a:lnTo>
                  <a:pt x="39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reeform 316"/>
          <p:cNvSpPr/>
          <p:nvPr/>
        </p:nvSpPr>
        <p:spPr>
          <a:xfrm>
            <a:off x="4390920" y="184752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reeform 317"/>
          <p:cNvSpPr/>
          <p:nvPr/>
        </p:nvSpPr>
        <p:spPr>
          <a:xfrm>
            <a:off x="6095880" y="184752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reeform 318"/>
          <p:cNvSpPr/>
          <p:nvPr/>
        </p:nvSpPr>
        <p:spPr>
          <a:xfrm>
            <a:off x="752400" y="225720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reeform 319"/>
          <p:cNvSpPr/>
          <p:nvPr/>
        </p:nvSpPr>
        <p:spPr>
          <a:xfrm>
            <a:off x="2981160" y="2257200"/>
            <a:ext cx="1410120" cy="410040"/>
          </a:xfrm>
          <a:custGeom>
            <a:avLst/>
            <a:gdLst/>
            <a:ahLst/>
            <a:cxnLst/>
            <a:rect l="0" t="0" r="r" b="b"/>
            <a:pathLst>
              <a:path w="3917" h="1139">
                <a:moveTo>
                  <a:pt x="0" y="0"/>
                </a:moveTo>
                <a:lnTo>
                  <a:pt x="3917" y="0"/>
                </a:lnTo>
                <a:lnTo>
                  <a:pt x="39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reeform 320"/>
          <p:cNvSpPr/>
          <p:nvPr/>
        </p:nvSpPr>
        <p:spPr>
          <a:xfrm>
            <a:off x="4390920" y="225720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reeform 321"/>
          <p:cNvSpPr/>
          <p:nvPr/>
        </p:nvSpPr>
        <p:spPr>
          <a:xfrm>
            <a:off x="6095880" y="225720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reeform 322"/>
          <p:cNvSpPr/>
          <p:nvPr/>
        </p:nvSpPr>
        <p:spPr>
          <a:xfrm>
            <a:off x="752400" y="266688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reeform 323"/>
          <p:cNvSpPr/>
          <p:nvPr/>
        </p:nvSpPr>
        <p:spPr>
          <a:xfrm>
            <a:off x="2981160" y="2666880"/>
            <a:ext cx="1410120" cy="410040"/>
          </a:xfrm>
          <a:custGeom>
            <a:avLst/>
            <a:gdLst/>
            <a:ahLst/>
            <a:cxnLst/>
            <a:rect l="0" t="0" r="r" b="b"/>
            <a:pathLst>
              <a:path w="3917" h="1139">
                <a:moveTo>
                  <a:pt x="0" y="0"/>
                </a:moveTo>
                <a:lnTo>
                  <a:pt x="3917" y="0"/>
                </a:lnTo>
                <a:lnTo>
                  <a:pt x="391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reeform 324"/>
          <p:cNvSpPr/>
          <p:nvPr/>
        </p:nvSpPr>
        <p:spPr>
          <a:xfrm>
            <a:off x="4390920" y="266688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reeform 325"/>
          <p:cNvSpPr/>
          <p:nvPr/>
        </p:nvSpPr>
        <p:spPr>
          <a:xfrm>
            <a:off x="6095880" y="266688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reeform 326"/>
          <p:cNvSpPr/>
          <p:nvPr/>
        </p:nvSpPr>
        <p:spPr>
          <a:xfrm>
            <a:off x="752400" y="3076560"/>
            <a:ext cx="2229120" cy="409680"/>
          </a:xfrm>
          <a:custGeom>
            <a:avLst/>
            <a:gdLst/>
            <a:ahLst/>
            <a:cxnLst/>
            <a:rect l="0" t="0" r="r" b="b"/>
            <a:pathLst>
              <a:path w="6192" h="1138">
                <a:moveTo>
                  <a:pt x="0" y="0"/>
                </a:moveTo>
                <a:lnTo>
                  <a:pt x="6192" y="0"/>
                </a:lnTo>
                <a:lnTo>
                  <a:pt x="619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reeform 327"/>
          <p:cNvSpPr/>
          <p:nvPr/>
        </p:nvSpPr>
        <p:spPr>
          <a:xfrm>
            <a:off x="2981160" y="3076560"/>
            <a:ext cx="1410120" cy="409680"/>
          </a:xfrm>
          <a:custGeom>
            <a:avLst/>
            <a:gdLst/>
            <a:ahLst/>
            <a:cxnLst/>
            <a:rect l="0" t="0" r="r" b="b"/>
            <a:pathLst>
              <a:path w="3917" h="1138">
                <a:moveTo>
                  <a:pt x="0" y="0"/>
                </a:moveTo>
                <a:lnTo>
                  <a:pt x="3917" y="0"/>
                </a:lnTo>
                <a:lnTo>
                  <a:pt x="391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reeform 328"/>
          <p:cNvSpPr/>
          <p:nvPr/>
        </p:nvSpPr>
        <p:spPr>
          <a:xfrm>
            <a:off x="4390920" y="307656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reeform 329"/>
          <p:cNvSpPr/>
          <p:nvPr/>
        </p:nvSpPr>
        <p:spPr>
          <a:xfrm>
            <a:off x="6095880" y="3076560"/>
            <a:ext cx="486000" cy="409680"/>
          </a:xfrm>
          <a:custGeom>
            <a:avLst/>
            <a:gdLst/>
            <a:ahLst/>
            <a:cxnLst/>
            <a:rect l="0" t="0" r="r" b="b"/>
            <a:pathLst>
              <a:path w="1350" h="1138">
                <a:moveTo>
                  <a:pt x="0" y="0"/>
                </a:moveTo>
                <a:lnTo>
                  <a:pt x="1350" y="0"/>
                </a:lnTo>
                <a:lnTo>
                  <a:pt x="135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reeform 330"/>
          <p:cNvSpPr/>
          <p:nvPr/>
        </p:nvSpPr>
        <p:spPr>
          <a:xfrm>
            <a:off x="752400" y="1428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reeform 331"/>
          <p:cNvSpPr/>
          <p:nvPr/>
        </p:nvSpPr>
        <p:spPr>
          <a:xfrm>
            <a:off x="752400" y="1428480"/>
            <a:ext cx="2229120" cy="10080"/>
          </a:xfrm>
          <a:custGeom>
            <a:avLst/>
            <a:gdLst/>
            <a:ahLst/>
            <a:cxn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reeform 332"/>
          <p:cNvSpPr/>
          <p:nvPr/>
        </p:nvSpPr>
        <p:spPr>
          <a:xfrm>
            <a:off x="2971440" y="142848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reeform 333"/>
          <p:cNvSpPr/>
          <p:nvPr/>
        </p:nvSpPr>
        <p:spPr>
          <a:xfrm>
            <a:off x="2981160" y="1428480"/>
            <a:ext cx="1410120" cy="10080"/>
          </a:xfrm>
          <a:custGeom>
            <a:avLst/>
            <a:gdLst/>
            <a:ahLst/>
            <a:cxn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reeform 334"/>
          <p:cNvSpPr/>
          <p:nvPr/>
        </p:nvSpPr>
        <p:spPr>
          <a:xfrm>
            <a:off x="4381200" y="1428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reeform 335"/>
          <p:cNvSpPr/>
          <p:nvPr/>
        </p:nvSpPr>
        <p:spPr>
          <a:xfrm>
            <a:off x="4390920" y="142848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reeform 336"/>
          <p:cNvSpPr/>
          <p:nvPr/>
        </p:nvSpPr>
        <p:spPr>
          <a:xfrm>
            <a:off x="6086160" y="1428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reeform 337"/>
          <p:cNvSpPr/>
          <p:nvPr/>
        </p:nvSpPr>
        <p:spPr>
          <a:xfrm>
            <a:off x="6095880" y="1428480"/>
            <a:ext cx="486000" cy="10080"/>
          </a:xfrm>
          <a:custGeom>
            <a:avLst/>
            <a:gdLst/>
            <a:ahLst/>
            <a:cxnLst/>
            <a:rect l="0" t="0" r="r" b="b"/>
            <a:pathLst>
              <a:path w="1350" h="28">
                <a:moveTo>
                  <a:pt x="0" y="0"/>
                </a:moveTo>
                <a:lnTo>
                  <a:pt x="1350" y="0"/>
                </a:lnTo>
                <a:lnTo>
                  <a:pt x="13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reeform 338"/>
          <p:cNvSpPr/>
          <p:nvPr/>
        </p:nvSpPr>
        <p:spPr>
          <a:xfrm>
            <a:off x="6572160" y="1428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reeform 339"/>
          <p:cNvSpPr/>
          <p:nvPr/>
        </p:nvSpPr>
        <p:spPr>
          <a:xfrm>
            <a:off x="752400" y="1838160"/>
            <a:ext cx="2229120" cy="9720"/>
          </a:xfrm>
          <a:custGeom>
            <a:avLst/>
            <a:gdLst/>
            <a:ahLst/>
            <a:cxn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reeform 340"/>
          <p:cNvSpPr/>
          <p:nvPr/>
        </p:nvSpPr>
        <p:spPr>
          <a:xfrm>
            <a:off x="2981160" y="1838160"/>
            <a:ext cx="1410120" cy="9720"/>
          </a:xfrm>
          <a:custGeom>
            <a:avLst/>
            <a:gdLst/>
            <a:ahLst/>
            <a:cxn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reeform 341"/>
          <p:cNvSpPr/>
          <p:nvPr/>
        </p:nvSpPr>
        <p:spPr>
          <a:xfrm>
            <a:off x="4390920" y="1838160"/>
            <a:ext cx="1705320" cy="9720"/>
          </a:xfrm>
          <a:custGeom>
            <a:avLst/>
            <a:gdLst/>
            <a:ahLst/>
            <a:cxn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reeform 342"/>
          <p:cNvSpPr/>
          <p:nvPr/>
        </p:nvSpPr>
        <p:spPr>
          <a:xfrm>
            <a:off x="6095880" y="1838160"/>
            <a:ext cx="486000" cy="9720"/>
          </a:xfrm>
          <a:custGeom>
            <a:avLst/>
            <a:gdLst/>
            <a:ahLst/>
            <a:cxnLst/>
            <a:rect l="0" t="0" r="r" b="b"/>
            <a:pathLst>
              <a:path w="1350" h="27">
                <a:moveTo>
                  <a:pt x="0" y="0"/>
                </a:moveTo>
                <a:lnTo>
                  <a:pt x="1350" y="0"/>
                </a:lnTo>
                <a:lnTo>
                  <a:pt x="13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reeform 343"/>
          <p:cNvSpPr/>
          <p:nvPr/>
        </p:nvSpPr>
        <p:spPr>
          <a:xfrm>
            <a:off x="752400" y="184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reeform 344"/>
          <p:cNvSpPr/>
          <p:nvPr/>
        </p:nvSpPr>
        <p:spPr>
          <a:xfrm>
            <a:off x="2971440" y="1847520"/>
            <a:ext cx="10440" cy="410040"/>
          </a:xfrm>
          <a:custGeom>
            <a:avLst/>
            <a:gdLst/>
            <a:ahLst/>
            <a:cxnLst/>
            <a:rect l="0" t="0" r="r" b="b"/>
            <a:pathLst>
              <a:path w="29" h="1139">
                <a:moveTo>
                  <a:pt x="0" y="0"/>
                </a:moveTo>
                <a:lnTo>
                  <a:pt x="29" y="0"/>
                </a:lnTo>
                <a:lnTo>
                  <a:pt x="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reeform 345"/>
          <p:cNvSpPr/>
          <p:nvPr/>
        </p:nvSpPr>
        <p:spPr>
          <a:xfrm>
            <a:off x="4381200" y="184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reeform 346"/>
          <p:cNvSpPr/>
          <p:nvPr/>
        </p:nvSpPr>
        <p:spPr>
          <a:xfrm>
            <a:off x="6086160" y="184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reeform 347"/>
          <p:cNvSpPr/>
          <p:nvPr/>
        </p:nvSpPr>
        <p:spPr>
          <a:xfrm>
            <a:off x="6572160" y="184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reeform 348"/>
          <p:cNvSpPr/>
          <p:nvPr/>
        </p:nvSpPr>
        <p:spPr>
          <a:xfrm>
            <a:off x="752400" y="2257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reeform 349"/>
          <p:cNvSpPr/>
          <p:nvPr/>
        </p:nvSpPr>
        <p:spPr>
          <a:xfrm>
            <a:off x="752400" y="2247840"/>
            <a:ext cx="2229120" cy="9720"/>
          </a:xfrm>
          <a:custGeom>
            <a:avLst/>
            <a:gdLst/>
            <a:ahLst/>
            <a:cxn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reeform 350"/>
          <p:cNvSpPr/>
          <p:nvPr/>
        </p:nvSpPr>
        <p:spPr>
          <a:xfrm>
            <a:off x="2971440" y="2257200"/>
            <a:ext cx="10440" cy="410040"/>
          </a:xfrm>
          <a:custGeom>
            <a:avLst/>
            <a:gdLst/>
            <a:ahLst/>
            <a:cxnLst/>
            <a:rect l="0" t="0" r="r" b="b"/>
            <a:pathLst>
              <a:path w="29" h="1139">
                <a:moveTo>
                  <a:pt x="0" y="0"/>
                </a:moveTo>
                <a:lnTo>
                  <a:pt x="29" y="0"/>
                </a:lnTo>
                <a:lnTo>
                  <a:pt x="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reeform 351"/>
          <p:cNvSpPr/>
          <p:nvPr/>
        </p:nvSpPr>
        <p:spPr>
          <a:xfrm>
            <a:off x="2981160" y="2247840"/>
            <a:ext cx="1410120" cy="9720"/>
          </a:xfrm>
          <a:custGeom>
            <a:avLst/>
            <a:gdLst/>
            <a:ahLst/>
            <a:cxn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reeform 352"/>
          <p:cNvSpPr/>
          <p:nvPr/>
        </p:nvSpPr>
        <p:spPr>
          <a:xfrm>
            <a:off x="4381200" y="2257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reeform 353"/>
          <p:cNvSpPr/>
          <p:nvPr/>
        </p:nvSpPr>
        <p:spPr>
          <a:xfrm>
            <a:off x="4390920" y="2247840"/>
            <a:ext cx="1705320" cy="9720"/>
          </a:xfrm>
          <a:custGeom>
            <a:avLst/>
            <a:gdLst/>
            <a:ahLst/>
            <a:cxn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reeform 354"/>
          <p:cNvSpPr/>
          <p:nvPr/>
        </p:nvSpPr>
        <p:spPr>
          <a:xfrm>
            <a:off x="6086160" y="22572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reeform 355"/>
          <p:cNvSpPr/>
          <p:nvPr/>
        </p:nvSpPr>
        <p:spPr>
          <a:xfrm>
            <a:off x="6095880" y="2247840"/>
            <a:ext cx="486000" cy="9720"/>
          </a:xfrm>
          <a:custGeom>
            <a:avLst/>
            <a:gdLst/>
            <a:ahLst/>
            <a:cxnLst/>
            <a:rect l="0" t="0" r="r" b="b"/>
            <a:pathLst>
              <a:path w="1350" h="27">
                <a:moveTo>
                  <a:pt x="0" y="0"/>
                </a:moveTo>
                <a:lnTo>
                  <a:pt x="1350" y="0"/>
                </a:lnTo>
                <a:lnTo>
                  <a:pt x="13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reeform 356"/>
          <p:cNvSpPr/>
          <p:nvPr/>
        </p:nvSpPr>
        <p:spPr>
          <a:xfrm>
            <a:off x="6572160" y="2257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reeform 357"/>
          <p:cNvSpPr/>
          <p:nvPr/>
        </p:nvSpPr>
        <p:spPr>
          <a:xfrm>
            <a:off x="752400" y="2666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reeform 358"/>
          <p:cNvSpPr/>
          <p:nvPr/>
        </p:nvSpPr>
        <p:spPr>
          <a:xfrm>
            <a:off x="752400" y="2657160"/>
            <a:ext cx="2229120" cy="10080"/>
          </a:xfrm>
          <a:custGeom>
            <a:avLst/>
            <a:gdLst/>
            <a:ahLst/>
            <a:cxn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reeform 359"/>
          <p:cNvSpPr/>
          <p:nvPr/>
        </p:nvSpPr>
        <p:spPr>
          <a:xfrm>
            <a:off x="2971440" y="2666880"/>
            <a:ext cx="10440" cy="410040"/>
          </a:xfrm>
          <a:custGeom>
            <a:avLst/>
            <a:gdLst/>
            <a:ahLst/>
            <a:cxnLst/>
            <a:rect l="0" t="0" r="r" b="b"/>
            <a:pathLst>
              <a:path w="29" h="1139">
                <a:moveTo>
                  <a:pt x="0" y="0"/>
                </a:moveTo>
                <a:lnTo>
                  <a:pt x="29" y="0"/>
                </a:lnTo>
                <a:lnTo>
                  <a:pt x="2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reeform 360"/>
          <p:cNvSpPr/>
          <p:nvPr/>
        </p:nvSpPr>
        <p:spPr>
          <a:xfrm>
            <a:off x="2981160" y="2657160"/>
            <a:ext cx="1410120" cy="10080"/>
          </a:xfrm>
          <a:custGeom>
            <a:avLst/>
            <a:gdLst/>
            <a:ahLst/>
            <a:cxn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 361"/>
          <p:cNvSpPr/>
          <p:nvPr/>
        </p:nvSpPr>
        <p:spPr>
          <a:xfrm>
            <a:off x="4381200" y="2666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reeform 362"/>
          <p:cNvSpPr/>
          <p:nvPr/>
        </p:nvSpPr>
        <p:spPr>
          <a:xfrm>
            <a:off x="4390920" y="265716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reeform 363"/>
          <p:cNvSpPr/>
          <p:nvPr/>
        </p:nvSpPr>
        <p:spPr>
          <a:xfrm>
            <a:off x="6086160" y="2666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reeform 364"/>
          <p:cNvSpPr/>
          <p:nvPr/>
        </p:nvSpPr>
        <p:spPr>
          <a:xfrm>
            <a:off x="6095880" y="2657160"/>
            <a:ext cx="486000" cy="10080"/>
          </a:xfrm>
          <a:custGeom>
            <a:avLst/>
            <a:gdLst/>
            <a:ahLst/>
            <a:cxnLst/>
            <a:rect l="0" t="0" r="r" b="b"/>
            <a:pathLst>
              <a:path w="1350" h="28">
                <a:moveTo>
                  <a:pt x="0" y="0"/>
                </a:moveTo>
                <a:lnTo>
                  <a:pt x="1350" y="0"/>
                </a:lnTo>
                <a:lnTo>
                  <a:pt x="13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reeform 365"/>
          <p:cNvSpPr/>
          <p:nvPr/>
        </p:nvSpPr>
        <p:spPr>
          <a:xfrm>
            <a:off x="6572160" y="2666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reeform 366"/>
          <p:cNvSpPr/>
          <p:nvPr/>
        </p:nvSpPr>
        <p:spPr>
          <a:xfrm>
            <a:off x="752400" y="3076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reeform 367"/>
          <p:cNvSpPr/>
          <p:nvPr/>
        </p:nvSpPr>
        <p:spPr>
          <a:xfrm>
            <a:off x="752400" y="3066840"/>
            <a:ext cx="2229120" cy="10080"/>
          </a:xfrm>
          <a:custGeom>
            <a:avLst/>
            <a:gdLst/>
            <a:ahLst/>
            <a:cxn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reeform 368"/>
          <p:cNvSpPr/>
          <p:nvPr/>
        </p:nvSpPr>
        <p:spPr>
          <a:xfrm>
            <a:off x="2971440" y="3076560"/>
            <a:ext cx="10440" cy="409680"/>
          </a:xfrm>
          <a:custGeom>
            <a:avLst/>
            <a:gdLst/>
            <a:ahLst/>
            <a:cxnLst/>
            <a:rect l="0" t="0" r="r" b="b"/>
            <a:pathLst>
              <a:path w="29" h="1138">
                <a:moveTo>
                  <a:pt x="0" y="0"/>
                </a:moveTo>
                <a:lnTo>
                  <a:pt x="29" y="0"/>
                </a:lnTo>
                <a:lnTo>
                  <a:pt x="2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reeform 369"/>
          <p:cNvSpPr/>
          <p:nvPr/>
        </p:nvSpPr>
        <p:spPr>
          <a:xfrm>
            <a:off x="2981160" y="3066840"/>
            <a:ext cx="1410120" cy="10080"/>
          </a:xfrm>
          <a:custGeom>
            <a:avLst/>
            <a:gdLst/>
            <a:ahLst/>
            <a:cxn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reeform 370"/>
          <p:cNvSpPr/>
          <p:nvPr/>
        </p:nvSpPr>
        <p:spPr>
          <a:xfrm>
            <a:off x="4381200" y="3076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reeform 371"/>
          <p:cNvSpPr/>
          <p:nvPr/>
        </p:nvSpPr>
        <p:spPr>
          <a:xfrm>
            <a:off x="4390920" y="306684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reeform 372"/>
          <p:cNvSpPr/>
          <p:nvPr/>
        </p:nvSpPr>
        <p:spPr>
          <a:xfrm>
            <a:off x="6086160" y="30765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reeform 373"/>
          <p:cNvSpPr/>
          <p:nvPr/>
        </p:nvSpPr>
        <p:spPr>
          <a:xfrm>
            <a:off x="6095880" y="3066840"/>
            <a:ext cx="486000" cy="10080"/>
          </a:xfrm>
          <a:custGeom>
            <a:avLst/>
            <a:gdLst/>
            <a:ahLst/>
            <a:cxnLst/>
            <a:rect l="0" t="0" r="r" b="b"/>
            <a:pathLst>
              <a:path w="1350" h="28">
                <a:moveTo>
                  <a:pt x="0" y="0"/>
                </a:moveTo>
                <a:lnTo>
                  <a:pt x="1350" y="0"/>
                </a:lnTo>
                <a:lnTo>
                  <a:pt x="13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reeform 374"/>
          <p:cNvSpPr/>
          <p:nvPr/>
        </p:nvSpPr>
        <p:spPr>
          <a:xfrm>
            <a:off x="6572160" y="3076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reeform 375"/>
          <p:cNvSpPr/>
          <p:nvPr/>
        </p:nvSpPr>
        <p:spPr>
          <a:xfrm>
            <a:off x="752400" y="3476520"/>
            <a:ext cx="2229120" cy="9720"/>
          </a:xfrm>
          <a:custGeom>
            <a:avLst/>
            <a:gdLst/>
            <a:ahLst/>
            <a:cxn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reeform 376"/>
          <p:cNvSpPr/>
          <p:nvPr/>
        </p:nvSpPr>
        <p:spPr>
          <a:xfrm>
            <a:off x="2981160" y="3476520"/>
            <a:ext cx="1410120" cy="9720"/>
          </a:xfrm>
          <a:custGeom>
            <a:avLst/>
            <a:gdLst/>
            <a:ahLst/>
            <a:cxn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reeform 377"/>
          <p:cNvSpPr/>
          <p:nvPr/>
        </p:nvSpPr>
        <p:spPr>
          <a:xfrm>
            <a:off x="4390920" y="3476520"/>
            <a:ext cx="1705320" cy="9720"/>
          </a:xfrm>
          <a:custGeom>
            <a:avLst/>
            <a:gdLst/>
            <a:ahLst/>
            <a:cxn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reeform 378"/>
          <p:cNvSpPr/>
          <p:nvPr/>
        </p:nvSpPr>
        <p:spPr>
          <a:xfrm>
            <a:off x="6095880" y="3476520"/>
            <a:ext cx="486000" cy="9720"/>
          </a:xfrm>
          <a:custGeom>
            <a:avLst/>
            <a:gdLst/>
            <a:ahLst/>
            <a:cxnLst/>
            <a:rect l="0" t="0" r="r" b="b"/>
            <a:pathLst>
              <a:path w="1350" h="27">
                <a:moveTo>
                  <a:pt x="0" y="0"/>
                </a:moveTo>
                <a:lnTo>
                  <a:pt x="1350" y="0"/>
                </a:lnTo>
                <a:lnTo>
                  <a:pt x="13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TextBox 379"/>
          <p:cNvSpPr txBox="1"/>
          <p:nvPr/>
        </p:nvSpPr>
        <p:spPr>
          <a:xfrm>
            <a:off x="747720" y="728640"/>
            <a:ext cx="56023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Impact of Prompt Engineering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1364760" y="1501200"/>
            <a:ext cx="1196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Experiment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TextBox 381"/>
          <p:cNvSpPr txBox="1"/>
          <p:nvPr/>
        </p:nvSpPr>
        <p:spPr>
          <a:xfrm>
            <a:off x="3210120" y="1501200"/>
            <a:ext cx="1100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Mean ± SD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4517280" y="1501200"/>
            <a:ext cx="169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Diff from Human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Box 383"/>
          <p:cNvSpPr txBox="1"/>
          <p:nvPr/>
        </p:nvSpPr>
        <p:spPr>
          <a:xfrm>
            <a:off x="6281280" y="1501200"/>
            <a:ext cx="19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880920" y="1910880"/>
            <a:ext cx="217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Baseline 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(no examples)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TextBox 385"/>
          <p:cNvSpPr txBox="1"/>
          <p:nvPr/>
        </p:nvSpPr>
        <p:spPr>
          <a:xfrm>
            <a:off x="3105360" y="191088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83.63 ± 5.75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TextBox 386"/>
          <p:cNvSpPr txBox="1"/>
          <p:nvPr/>
        </p:nvSpPr>
        <p:spPr>
          <a:xfrm>
            <a:off x="4517280" y="1910880"/>
            <a:ext cx="789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+4.55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6221520" y="191088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27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TextBox 388"/>
          <p:cNvSpPr txBox="1"/>
          <p:nvPr/>
        </p:nvSpPr>
        <p:spPr>
          <a:xfrm>
            <a:off x="880920" y="2320560"/>
            <a:ext cx="1609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Single Example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3105360" y="232056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84.94 ± 6.19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4517280" y="2320560"/>
            <a:ext cx="789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+5.86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6221520" y="232056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880920" y="2729880"/>
            <a:ext cx="2255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Multiple Examples 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TextBox 393"/>
          <p:cNvSpPr txBox="1"/>
          <p:nvPr/>
        </p:nvSpPr>
        <p:spPr>
          <a:xfrm>
            <a:off x="3105360" y="2729880"/>
            <a:ext cx="1269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80.56 ± 5.36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4517280" y="2729880"/>
            <a:ext cx="96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+1.47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Box 395"/>
          <p:cNvSpPr txBox="1"/>
          <p:nvPr/>
        </p:nvSpPr>
        <p:spPr>
          <a:xfrm>
            <a:off x="6221520" y="272988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880920" y="3139560"/>
            <a:ext cx="1905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Strict Instructions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3105360" y="313956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72.44 ± 5.34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4517280" y="313956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-6.64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TextBox 399"/>
          <p:cNvSpPr txBox="1"/>
          <p:nvPr/>
        </p:nvSpPr>
        <p:spPr>
          <a:xfrm>
            <a:off x="6221520" y="313956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reeform 400"/>
          <p:cNvSpPr/>
          <p:nvPr/>
        </p:nvSpPr>
        <p:spPr>
          <a:xfrm>
            <a:off x="1000080" y="43336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TextBox 401"/>
          <p:cNvSpPr txBox="1"/>
          <p:nvPr/>
        </p:nvSpPr>
        <p:spPr>
          <a:xfrm>
            <a:off x="747720" y="3693600"/>
            <a:ext cx="1858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Key Findings: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reeform 402"/>
          <p:cNvSpPr/>
          <p:nvPr/>
        </p:nvSpPr>
        <p:spPr>
          <a:xfrm>
            <a:off x="1000080" y="47336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1204920" y="4194360"/>
            <a:ext cx="51087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Experiments differ significantly (F=18.44, p&lt;0.001)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reeform 404"/>
          <p:cNvSpPr/>
          <p:nvPr/>
        </p:nvSpPr>
        <p:spPr>
          <a:xfrm>
            <a:off x="1000080" y="51339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1204920" y="4594320"/>
            <a:ext cx="9577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Multiple examples achieved best alignment with humans (1.47 pt difference)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reeform 406"/>
          <p:cNvSpPr/>
          <p:nvPr/>
        </p:nvSpPr>
        <p:spPr>
          <a:xfrm>
            <a:off x="1000080" y="553392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1204920" y="4994280"/>
            <a:ext cx="49302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 dirty="0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Strict instructions led to under-scoring (-6.64 pts)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1204920" y="5394600"/>
            <a:ext cx="4784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More examples &gt; single example for calibration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747720" y="5889600"/>
            <a:ext cx="87667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Answer: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Yes - training examples (especially multiple) improve LLM-human alignment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116658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415"/>
          <p:cNvPicPr/>
          <p:nvPr/>
        </p:nvPicPr>
        <p:blipFill>
          <a:blip r:embed="rId2"/>
          <a:stretch/>
        </p:blipFill>
        <p:spPr>
          <a:xfrm>
            <a:off x="445376" y="237879"/>
            <a:ext cx="11028857" cy="639656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Box 418"/>
          <p:cNvSpPr txBox="1"/>
          <p:nvPr/>
        </p:nvSpPr>
        <p:spPr>
          <a:xfrm>
            <a:off x="1166292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Freeform 422"/>
          <p:cNvSpPr/>
          <p:nvPr/>
        </p:nvSpPr>
        <p:spPr>
          <a:xfrm>
            <a:off x="752400" y="1981080"/>
            <a:ext cx="695520" cy="410040"/>
          </a:xfrm>
          <a:custGeom>
            <a:avLst/>
            <a:gdLst/>
            <a:ahLst/>
            <a:cxnLst/>
            <a:rect l="0" t="0" r="r" b="b"/>
            <a:pathLst>
              <a:path w="1932" h="1139">
                <a:moveTo>
                  <a:pt x="0" y="0"/>
                </a:moveTo>
                <a:lnTo>
                  <a:pt x="1932" y="0"/>
                </a:lnTo>
                <a:lnTo>
                  <a:pt x="19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reeform 423"/>
          <p:cNvSpPr/>
          <p:nvPr/>
        </p:nvSpPr>
        <p:spPr>
          <a:xfrm>
            <a:off x="1447560" y="1981080"/>
            <a:ext cx="1619640" cy="410040"/>
          </a:xfrm>
          <a:custGeom>
            <a:avLst/>
            <a:gdLst/>
            <a:ahLst/>
            <a:cxnLst/>
            <a:rect l="0" t="0" r="r" b="b"/>
            <a:pathLst>
              <a:path w="4499" h="1139">
                <a:moveTo>
                  <a:pt x="0" y="0"/>
                </a:moveTo>
                <a:lnTo>
                  <a:pt x="4499" y="0"/>
                </a:lnTo>
                <a:lnTo>
                  <a:pt x="449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reeform 424"/>
          <p:cNvSpPr/>
          <p:nvPr/>
        </p:nvSpPr>
        <p:spPr>
          <a:xfrm>
            <a:off x="3066840" y="1981080"/>
            <a:ext cx="1362600" cy="410040"/>
          </a:xfrm>
          <a:custGeom>
            <a:avLst/>
            <a:gdLst/>
            <a:ahLst/>
            <a:cxnLst/>
            <a:rect l="0" t="0" r="r" b="b"/>
            <a:pathLst>
              <a:path w="3785" h="1139">
                <a:moveTo>
                  <a:pt x="0" y="0"/>
                </a:moveTo>
                <a:lnTo>
                  <a:pt x="3785" y="0"/>
                </a:lnTo>
                <a:lnTo>
                  <a:pt x="37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reeform 425"/>
          <p:cNvSpPr/>
          <p:nvPr/>
        </p:nvSpPr>
        <p:spPr>
          <a:xfrm>
            <a:off x="4429080" y="198108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reeform 426"/>
          <p:cNvSpPr/>
          <p:nvPr/>
        </p:nvSpPr>
        <p:spPr>
          <a:xfrm>
            <a:off x="6134040" y="198108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Freeform 427"/>
          <p:cNvSpPr/>
          <p:nvPr/>
        </p:nvSpPr>
        <p:spPr>
          <a:xfrm>
            <a:off x="752400" y="2390760"/>
            <a:ext cx="695520" cy="409680"/>
          </a:xfrm>
          <a:custGeom>
            <a:avLst/>
            <a:gdLst/>
            <a:ahLst/>
            <a:cxnLst/>
            <a:rect l="0" t="0" r="r" b="b"/>
            <a:pathLst>
              <a:path w="1932" h="1138">
                <a:moveTo>
                  <a:pt x="0" y="0"/>
                </a:moveTo>
                <a:lnTo>
                  <a:pt x="1932" y="0"/>
                </a:lnTo>
                <a:lnTo>
                  <a:pt x="193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reeform 428"/>
          <p:cNvSpPr/>
          <p:nvPr/>
        </p:nvSpPr>
        <p:spPr>
          <a:xfrm>
            <a:off x="1447560" y="2390760"/>
            <a:ext cx="1619640" cy="409680"/>
          </a:xfrm>
          <a:custGeom>
            <a:avLst/>
            <a:gdLst/>
            <a:ahLst/>
            <a:cxnLst/>
            <a:rect l="0" t="0" r="r" b="b"/>
            <a:pathLst>
              <a:path w="4499" h="1138">
                <a:moveTo>
                  <a:pt x="0" y="0"/>
                </a:moveTo>
                <a:lnTo>
                  <a:pt x="4499" y="0"/>
                </a:lnTo>
                <a:lnTo>
                  <a:pt x="449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reeform 429"/>
          <p:cNvSpPr/>
          <p:nvPr/>
        </p:nvSpPr>
        <p:spPr>
          <a:xfrm>
            <a:off x="3066840" y="2390760"/>
            <a:ext cx="1362600" cy="409680"/>
          </a:xfrm>
          <a:custGeom>
            <a:avLst/>
            <a:gdLst/>
            <a:ahLst/>
            <a:cxnLst/>
            <a:rect l="0" t="0" r="r" b="b"/>
            <a:pathLst>
              <a:path w="3785" h="1138">
                <a:moveTo>
                  <a:pt x="0" y="0"/>
                </a:moveTo>
                <a:lnTo>
                  <a:pt x="3785" y="0"/>
                </a:lnTo>
                <a:lnTo>
                  <a:pt x="378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reeform 430"/>
          <p:cNvSpPr/>
          <p:nvPr/>
        </p:nvSpPr>
        <p:spPr>
          <a:xfrm>
            <a:off x="4429080" y="239076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Freeform 431"/>
          <p:cNvSpPr/>
          <p:nvPr/>
        </p:nvSpPr>
        <p:spPr>
          <a:xfrm>
            <a:off x="6134040" y="2390760"/>
            <a:ext cx="486000" cy="409680"/>
          </a:xfrm>
          <a:custGeom>
            <a:avLst/>
            <a:gdLst/>
            <a:ahLst/>
            <a:cxnLst/>
            <a:rect l="0" t="0" r="r" b="b"/>
            <a:pathLst>
              <a:path w="1350" h="1138">
                <a:moveTo>
                  <a:pt x="0" y="0"/>
                </a:moveTo>
                <a:lnTo>
                  <a:pt x="1350" y="0"/>
                </a:lnTo>
                <a:lnTo>
                  <a:pt x="135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Freeform 432"/>
          <p:cNvSpPr/>
          <p:nvPr/>
        </p:nvSpPr>
        <p:spPr>
          <a:xfrm>
            <a:off x="752400" y="2800080"/>
            <a:ext cx="695520" cy="410040"/>
          </a:xfrm>
          <a:custGeom>
            <a:avLst/>
            <a:gdLst/>
            <a:ahLst/>
            <a:cxnLst/>
            <a:rect l="0" t="0" r="r" b="b"/>
            <a:pathLst>
              <a:path w="1932" h="1139">
                <a:moveTo>
                  <a:pt x="0" y="0"/>
                </a:moveTo>
                <a:lnTo>
                  <a:pt x="1932" y="0"/>
                </a:lnTo>
                <a:lnTo>
                  <a:pt x="19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Freeform 433"/>
          <p:cNvSpPr/>
          <p:nvPr/>
        </p:nvSpPr>
        <p:spPr>
          <a:xfrm>
            <a:off x="1447560" y="2800080"/>
            <a:ext cx="1619640" cy="410040"/>
          </a:xfrm>
          <a:custGeom>
            <a:avLst/>
            <a:gdLst/>
            <a:ahLst/>
            <a:cxnLst/>
            <a:rect l="0" t="0" r="r" b="b"/>
            <a:pathLst>
              <a:path w="4499" h="1139">
                <a:moveTo>
                  <a:pt x="0" y="0"/>
                </a:moveTo>
                <a:lnTo>
                  <a:pt x="4499" y="0"/>
                </a:lnTo>
                <a:lnTo>
                  <a:pt x="449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Freeform 434"/>
          <p:cNvSpPr/>
          <p:nvPr/>
        </p:nvSpPr>
        <p:spPr>
          <a:xfrm>
            <a:off x="3066840" y="2800080"/>
            <a:ext cx="1362600" cy="410040"/>
          </a:xfrm>
          <a:custGeom>
            <a:avLst/>
            <a:gdLst/>
            <a:ahLst/>
            <a:cxnLst/>
            <a:rect l="0" t="0" r="r" b="b"/>
            <a:pathLst>
              <a:path w="3785" h="1139">
                <a:moveTo>
                  <a:pt x="0" y="0"/>
                </a:moveTo>
                <a:lnTo>
                  <a:pt x="3785" y="0"/>
                </a:lnTo>
                <a:lnTo>
                  <a:pt x="37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 435"/>
          <p:cNvSpPr/>
          <p:nvPr/>
        </p:nvSpPr>
        <p:spPr>
          <a:xfrm>
            <a:off x="4429080" y="280008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reeform 436"/>
          <p:cNvSpPr/>
          <p:nvPr/>
        </p:nvSpPr>
        <p:spPr>
          <a:xfrm>
            <a:off x="6134040" y="280008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reeform 437"/>
          <p:cNvSpPr/>
          <p:nvPr/>
        </p:nvSpPr>
        <p:spPr>
          <a:xfrm>
            <a:off x="752400" y="3209760"/>
            <a:ext cx="695520" cy="410040"/>
          </a:xfrm>
          <a:custGeom>
            <a:avLst/>
            <a:gdLst/>
            <a:ahLst/>
            <a:cxnLst/>
            <a:rect l="0" t="0" r="r" b="b"/>
            <a:pathLst>
              <a:path w="1932" h="1139">
                <a:moveTo>
                  <a:pt x="0" y="0"/>
                </a:moveTo>
                <a:lnTo>
                  <a:pt x="1932" y="0"/>
                </a:lnTo>
                <a:lnTo>
                  <a:pt x="19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Freeform 438"/>
          <p:cNvSpPr/>
          <p:nvPr/>
        </p:nvSpPr>
        <p:spPr>
          <a:xfrm>
            <a:off x="1447560" y="3209760"/>
            <a:ext cx="1619640" cy="410040"/>
          </a:xfrm>
          <a:custGeom>
            <a:avLst/>
            <a:gdLst/>
            <a:ahLst/>
            <a:cxnLst/>
            <a:rect l="0" t="0" r="r" b="b"/>
            <a:pathLst>
              <a:path w="4499" h="1139">
                <a:moveTo>
                  <a:pt x="0" y="0"/>
                </a:moveTo>
                <a:lnTo>
                  <a:pt x="4499" y="0"/>
                </a:lnTo>
                <a:lnTo>
                  <a:pt x="449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Freeform 439"/>
          <p:cNvSpPr/>
          <p:nvPr/>
        </p:nvSpPr>
        <p:spPr>
          <a:xfrm>
            <a:off x="3066840" y="3209760"/>
            <a:ext cx="1362600" cy="410040"/>
          </a:xfrm>
          <a:custGeom>
            <a:avLst/>
            <a:gdLst/>
            <a:ahLst/>
            <a:cxnLst/>
            <a:rect l="0" t="0" r="r" b="b"/>
            <a:pathLst>
              <a:path w="3785" h="1139">
                <a:moveTo>
                  <a:pt x="0" y="0"/>
                </a:moveTo>
                <a:lnTo>
                  <a:pt x="3785" y="0"/>
                </a:lnTo>
                <a:lnTo>
                  <a:pt x="378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Freeform 440"/>
          <p:cNvSpPr/>
          <p:nvPr/>
        </p:nvSpPr>
        <p:spPr>
          <a:xfrm>
            <a:off x="4429080" y="320976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reeform 441"/>
          <p:cNvSpPr/>
          <p:nvPr/>
        </p:nvSpPr>
        <p:spPr>
          <a:xfrm>
            <a:off x="6134040" y="3209760"/>
            <a:ext cx="486000" cy="410040"/>
          </a:xfrm>
          <a:custGeom>
            <a:avLst/>
            <a:gdLst/>
            <a:ahLst/>
            <a:cxnLst/>
            <a:rect l="0" t="0" r="r" b="b"/>
            <a:pathLst>
              <a:path w="1350" h="1139">
                <a:moveTo>
                  <a:pt x="0" y="0"/>
                </a:moveTo>
                <a:lnTo>
                  <a:pt x="1350" y="0"/>
                </a:lnTo>
                <a:lnTo>
                  <a:pt x="135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reeform 442"/>
          <p:cNvSpPr/>
          <p:nvPr/>
        </p:nvSpPr>
        <p:spPr>
          <a:xfrm>
            <a:off x="752400" y="1971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reeform 443"/>
          <p:cNvSpPr/>
          <p:nvPr/>
        </p:nvSpPr>
        <p:spPr>
          <a:xfrm>
            <a:off x="752400" y="1971360"/>
            <a:ext cx="705240" cy="10080"/>
          </a:xfrm>
          <a:custGeom>
            <a:avLst/>
            <a:gdLst/>
            <a:ahLst/>
            <a:cxn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reeform 444"/>
          <p:cNvSpPr/>
          <p:nvPr/>
        </p:nvSpPr>
        <p:spPr>
          <a:xfrm>
            <a:off x="1447560" y="19713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reeform 445"/>
          <p:cNvSpPr/>
          <p:nvPr/>
        </p:nvSpPr>
        <p:spPr>
          <a:xfrm>
            <a:off x="1457280" y="1971360"/>
            <a:ext cx="1609920" cy="10080"/>
          </a:xfrm>
          <a:custGeom>
            <a:avLst/>
            <a:gdLst/>
            <a:ahLst/>
            <a:cxnLst/>
            <a:rect l="0" t="0" r="r" b="b"/>
            <a:pathLst>
              <a:path w="4472" h="28">
                <a:moveTo>
                  <a:pt x="0" y="0"/>
                </a:moveTo>
                <a:lnTo>
                  <a:pt x="4472" y="0"/>
                </a:lnTo>
                <a:lnTo>
                  <a:pt x="44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reeform 446"/>
          <p:cNvSpPr/>
          <p:nvPr/>
        </p:nvSpPr>
        <p:spPr>
          <a:xfrm>
            <a:off x="3057480" y="1971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Freeform 447"/>
          <p:cNvSpPr/>
          <p:nvPr/>
        </p:nvSpPr>
        <p:spPr>
          <a:xfrm>
            <a:off x="3066840" y="1971360"/>
            <a:ext cx="1371960" cy="1008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reeform 448"/>
          <p:cNvSpPr/>
          <p:nvPr/>
        </p:nvSpPr>
        <p:spPr>
          <a:xfrm>
            <a:off x="4429080" y="1971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Freeform 449"/>
          <p:cNvSpPr/>
          <p:nvPr/>
        </p:nvSpPr>
        <p:spPr>
          <a:xfrm>
            <a:off x="4438440" y="1971360"/>
            <a:ext cx="1695960" cy="10080"/>
          </a:xfrm>
          <a:custGeom>
            <a:avLst/>
            <a:gdLst/>
            <a:ahLst/>
            <a:cxn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reeform 450"/>
          <p:cNvSpPr/>
          <p:nvPr/>
        </p:nvSpPr>
        <p:spPr>
          <a:xfrm>
            <a:off x="6124320" y="19713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Freeform 451"/>
          <p:cNvSpPr/>
          <p:nvPr/>
        </p:nvSpPr>
        <p:spPr>
          <a:xfrm>
            <a:off x="6134040" y="1971360"/>
            <a:ext cx="495360" cy="10080"/>
          </a:xfrm>
          <a:custGeom>
            <a:avLst/>
            <a:gdLst/>
            <a:ahLst/>
            <a:cxnLst/>
            <a:rect l="0" t="0" r="r" b="b"/>
            <a:pathLst>
              <a:path w="1376" h="28">
                <a:moveTo>
                  <a:pt x="0" y="0"/>
                </a:moveTo>
                <a:lnTo>
                  <a:pt x="1376" y="0"/>
                </a:lnTo>
                <a:lnTo>
                  <a:pt x="13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reeform 452"/>
          <p:cNvSpPr/>
          <p:nvPr/>
        </p:nvSpPr>
        <p:spPr>
          <a:xfrm>
            <a:off x="6619680" y="19713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Freeform 453"/>
          <p:cNvSpPr/>
          <p:nvPr/>
        </p:nvSpPr>
        <p:spPr>
          <a:xfrm>
            <a:off x="752400" y="2381040"/>
            <a:ext cx="705240" cy="10080"/>
          </a:xfrm>
          <a:custGeom>
            <a:avLst/>
            <a:gdLst/>
            <a:ahLst/>
            <a:cxn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reeform 454"/>
          <p:cNvSpPr/>
          <p:nvPr/>
        </p:nvSpPr>
        <p:spPr>
          <a:xfrm>
            <a:off x="1457280" y="2381040"/>
            <a:ext cx="1609920" cy="10080"/>
          </a:xfrm>
          <a:custGeom>
            <a:avLst/>
            <a:gdLst/>
            <a:ahLst/>
            <a:cxnLst/>
            <a:rect l="0" t="0" r="r" b="b"/>
            <a:pathLst>
              <a:path w="4472" h="28">
                <a:moveTo>
                  <a:pt x="0" y="0"/>
                </a:moveTo>
                <a:lnTo>
                  <a:pt x="4472" y="0"/>
                </a:lnTo>
                <a:lnTo>
                  <a:pt x="44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reeform 455"/>
          <p:cNvSpPr/>
          <p:nvPr/>
        </p:nvSpPr>
        <p:spPr>
          <a:xfrm>
            <a:off x="3066840" y="2381040"/>
            <a:ext cx="1371960" cy="1008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reeform 456"/>
          <p:cNvSpPr/>
          <p:nvPr/>
        </p:nvSpPr>
        <p:spPr>
          <a:xfrm>
            <a:off x="4438440" y="2381040"/>
            <a:ext cx="1695960" cy="10080"/>
          </a:xfrm>
          <a:custGeom>
            <a:avLst/>
            <a:gdLst/>
            <a:ahLst/>
            <a:cxn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Freeform 457"/>
          <p:cNvSpPr/>
          <p:nvPr/>
        </p:nvSpPr>
        <p:spPr>
          <a:xfrm>
            <a:off x="6134040" y="2381040"/>
            <a:ext cx="495360" cy="10080"/>
          </a:xfrm>
          <a:custGeom>
            <a:avLst/>
            <a:gdLst/>
            <a:ahLst/>
            <a:cxnLst/>
            <a:rect l="0" t="0" r="r" b="b"/>
            <a:pathLst>
              <a:path w="1376" h="28">
                <a:moveTo>
                  <a:pt x="0" y="0"/>
                </a:moveTo>
                <a:lnTo>
                  <a:pt x="1376" y="0"/>
                </a:lnTo>
                <a:lnTo>
                  <a:pt x="13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reeform 458"/>
          <p:cNvSpPr/>
          <p:nvPr/>
        </p:nvSpPr>
        <p:spPr>
          <a:xfrm>
            <a:off x="752400" y="2390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Freeform 459"/>
          <p:cNvSpPr/>
          <p:nvPr/>
        </p:nvSpPr>
        <p:spPr>
          <a:xfrm>
            <a:off x="1447560" y="23907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Freeform 460"/>
          <p:cNvSpPr/>
          <p:nvPr/>
        </p:nvSpPr>
        <p:spPr>
          <a:xfrm>
            <a:off x="3057480" y="2390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Freeform 461"/>
          <p:cNvSpPr/>
          <p:nvPr/>
        </p:nvSpPr>
        <p:spPr>
          <a:xfrm>
            <a:off x="4429080" y="2390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reeform 462"/>
          <p:cNvSpPr/>
          <p:nvPr/>
        </p:nvSpPr>
        <p:spPr>
          <a:xfrm>
            <a:off x="6124320" y="239076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reeform 463"/>
          <p:cNvSpPr/>
          <p:nvPr/>
        </p:nvSpPr>
        <p:spPr>
          <a:xfrm>
            <a:off x="6619680" y="23907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reeform 464"/>
          <p:cNvSpPr/>
          <p:nvPr/>
        </p:nvSpPr>
        <p:spPr>
          <a:xfrm>
            <a:off x="75240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reeform 465"/>
          <p:cNvSpPr/>
          <p:nvPr/>
        </p:nvSpPr>
        <p:spPr>
          <a:xfrm>
            <a:off x="752400" y="2790720"/>
            <a:ext cx="705240" cy="9720"/>
          </a:xfrm>
          <a:custGeom>
            <a:avLst/>
            <a:gdLst/>
            <a:ahLst/>
            <a:cxnLst/>
            <a:rect l="0" t="0" r="r" b="b"/>
            <a:pathLst>
              <a:path w="1959" h="27">
                <a:moveTo>
                  <a:pt x="0" y="0"/>
                </a:moveTo>
                <a:lnTo>
                  <a:pt x="1959" y="0"/>
                </a:lnTo>
                <a:lnTo>
                  <a:pt x="1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reeform 466"/>
          <p:cNvSpPr/>
          <p:nvPr/>
        </p:nvSpPr>
        <p:spPr>
          <a:xfrm>
            <a:off x="1447560" y="28000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reeform 467"/>
          <p:cNvSpPr/>
          <p:nvPr/>
        </p:nvSpPr>
        <p:spPr>
          <a:xfrm>
            <a:off x="1457280" y="2790720"/>
            <a:ext cx="1609920" cy="9720"/>
          </a:xfrm>
          <a:custGeom>
            <a:avLst/>
            <a:gdLst/>
            <a:ahLst/>
            <a:cxnLst/>
            <a:rect l="0" t="0" r="r" b="b"/>
            <a:pathLst>
              <a:path w="4472" h="27">
                <a:moveTo>
                  <a:pt x="0" y="0"/>
                </a:moveTo>
                <a:lnTo>
                  <a:pt x="4472" y="0"/>
                </a:lnTo>
                <a:lnTo>
                  <a:pt x="447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reeform 468"/>
          <p:cNvSpPr/>
          <p:nvPr/>
        </p:nvSpPr>
        <p:spPr>
          <a:xfrm>
            <a:off x="305748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reeform 469"/>
          <p:cNvSpPr/>
          <p:nvPr/>
        </p:nvSpPr>
        <p:spPr>
          <a:xfrm>
            <a:off x="3066840" y="2790720"/>
            <a:ext cx="1371960" cy="9720"/>
          </a:xfrm>
          <a:custGeom>
            <a:avLst/>
            <a:gdLst/>
            <a:ahLst/>
            <a:cxn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reeform 470"/>
          <p:cNvSpPr/>
          <p:nvPr/>
        </p:nvSpPr>
        <p:spPr>
          <a:xfrm>
            <a:off x="442908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reeform 471"/>
          <p:cNvSpPr/>
          <p:nvPr/>
        </p:nvSpPr>
        <p:spPr>
          <a:xfrm>
            <a:off x="4438440" y="2790720"/>
            <a:ext cx="1695960" cy="9720"/>
          </a:xfrm>
          <a:custGeom>
            <a:avLst/>
            <a:gdLst/>
            <a:ahLst/>
            <a:cxn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reeform 472"/>
          <p:cNvSpPr/>
          <p:nvPr/>
        </p:nvSpPr>
        <p:spPr>
          <a:xfrm>
            <a:off x="6124320" y="28000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reeform 473"/>
          <p:cNvSpPr/>
          <p:nvPr/>
        </p:nvSpPr>
        <p:spPr>
          <a:xfrm>
            <a:off x="6134040" y="2790720"/>
            <a:ext cx="495360" cy="9720"/>
          </a:xfrm>
          <a:custGeom>
            <a:avLst/>
            <a:gdLst/>
            <a:ahLst/>
            <a:cxnLst/>
            <a:rect l="0" t="0" r="r" b="b"/>
            <a:pathLst>
              <a:path w="1376" h="27">
                <a:moveTo>
                  <a:pt x="0" y="0"/>
                </a:moveTo>
                <a:lnTo>
                  <a:pt x="1376" y="0"/>
                </a:lnTo>
                <a:lnTo>
                  <a:pt x="13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reeform 474"/>
          <p:cNvSpPr/>
          <p:nvPr/>
        </p:nvSpPr>
        <p:spPr>
          <a:xfrm>
            <a:off x="6619680" y="28000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reeform 475"/>
          <p:cNvSpPr/>
          <p:nvPr/>
        </p:nvSpPr>
        <p:spPr>
          <a:xfrm>
            <a:off x="75240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reeform 476"/>
          <p:cNvSpPr/>
          <p:nvPr/>
        </p:nvSpPr>
        <p:spPr>
          <a:xfrm>
            <a:off x="752400" y="3200040"/>
            <a:ext cx="705240" cy="10080"/>
          </a:xfrm>
          <a:custGeom>
            <a:avLst/>
            <a:gdLst/>
            <a:ahLst/>
            <a:cxn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reeform 477"/>
          <p:cNvSpPr/>
          <p:nvPr/>
        </p:nvSpPr>
        <p:spPr>
          <a:xfrm>
            <a:off x="1447560" y="32097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reeform 478"/>
          <p:cNvSpPr/>
          <p:nvPr/>
        </p:nvSpPr>
        <p:spPr>
          <a:xfrm>
            <a:off x="1457280" y="3200040"/>
            <a:ext cx="1609920" cy="10080"/>
          </a:xfrm>
          <a:custGeom>
            <a:avLst/>
            <a:gdLst/>
            <a:ahLst/>
            <a:cxnLst/>
            <a:rect l="0" t="0" r="r" b="b"/>
            <a:pathLst>
              <a:path w="4472" h="28">
                <a:moveTo>
                  <a:pt x="0" y="0"/>
                </a:moveTo>
                <a:lnTo>
                  <a:pt x="4472" y="0"/>
                </a:lnTo>
                <a:lnTo>
                  <a:pt x="44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reeform 479"/>
          <p:cNvSpPr/>
          <p:nvPr/>
        </p:nvSpPr>
        <p:spPr>
          <a:xfrm>
            <a:off x="305748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reeform 480"/>
          <p:cNvSpPr/>
          <p:nvPr/>
        </p:nvSpPr>
        <p:spPr>
          <a:xfrm>
            <a:off x="3066840" y="3200040"/>
            <a:ext cx="1371960" cy="1008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reeform 481"/>
          <p:cNvSpPr/>
          <p:nvPr/>
        </p:nvSpPr>
        <p:spPr>
          <a:xfrm>
            <a:off x="442908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reeform 482"/>
          <p:cNvSpPr/>
          <p:nvPr/>
        </p:nvSpPr>
        <p:spPr>
          <a:xfrm>
            <a:off x="4438440" y="3200040"/>
            <a:ext cx="1695960" cy="10080"/>
          </a:xfrm>
          <a:custGeom>
            <a:avLst/>
            <a:gdLst/>
            <a:ahLst/>
            <a:cxn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reeform 483"/>
          <p:cNvSpPr/>
          <p:nvPr/>
        </p:nvSpPr>
        <p:spPr>
          <a:xfrm>
            <a:off x="6124320" y="32097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reeform 484"/>
          <p:cNvSpPr/>
          <p:nvPr/>
        </p:nvSpPr>
        <p:spPr>
          <a:xfrm>
            <a:off x="6134040" y="3200040"/>
            <a:ext cx="495360" cy="10080"/>
          </a:xfrm>
          <a:custGeom>
            <a:avLst/>
            <a:gdLst/>
            <a:ahLst/>
            <a:cxnLst/>
            <a:rect l="0" t="0" r="r" b="b"/>
            <a:pathLst>
              <a:path w="1376" h="28">
                <a:moveTo>
                  <a:pt x="0" y="0"/>
                </a:moveTo>
                <a:lnTo>
                  <a:pt x="1376" y="0"/>
                </a:lnTo>
                <a:lnTo>
                  <a:pt x="13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reeform 485"/>
          <p:cNvSpPr/>
          <p:nvPr/>
        </p:nvSpPr>
        <p:spPr>
          <a:xfrm>
            <a:off x="6619680" y="32097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reeform 486"/>
          <p:cNvSpPr/>
          <p:nvPr/>
        </p:nvSpPr>
        <p:spPr>
          <a:xfrm>
            <a:off x="752400" y="3609720"/>
            <a:ext cx="705240" cy="10080"/>
          </a:xfrm>
          <a:custGeom>
            <a:avLst/>
            <a:gdLst/>
            <a:ahLst/>
            <a:cxnLst/>
            <a:rect l="0" t="0" r="r" b="b"/>
            <a:pathLst>
              <a:path w="1959" h="28">
                <a:moveTo>
                  <a:pt x="0" y="0"/>
                </a:moveTo>
                <a:lnTo>
                  <a:pt x="1959" y="0"/>
                </a:lnTo>
                <a:lnTo>
                  <a:pt x="1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reeform 487"/>
          <p:cNvSpPr/>
          <p:nvPr/>
        </p:nvSpPr>
        <p:spPr>
          <a:xfrm>
            <a:off x="1457280" y="3609720"/>
            <a:ext cx="1609920" cy="10080"/>
          </a:xfrm>
          <a:custGeom>
            <a:avLst/>
            <a:gdLst/>
            <a:ahLst/>
            <a:cxnLst/>
            <a:rect l="0" t="0" r="r" b="b"/>
            <a:pathLst>
              <a:path w="4472" h="28">
                <a:moveTo>
                  <a:pt x="0" y="0"/>
                </a:moveTo>
                <a:lnTo>
                  <a:pt x="4472" y="0"/>
                </a:lnTo>
                <a:lnTo>
                  <a:pt x="44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Freeform 488"/>
          <p:cNvSpPr/>
          <p:nvPr/>
        </p:nvSpPr>
        <p:spPr>
          <a:xfrm>
            <a:off x="3066840" y="3609720"/>
            <a:ext cx="1371960" cy="10080"/>
          </a:xfrm>
          <a:custGeom>
            <a:avLst/>
            <a:gdLst/>
            <a:ahLst/>
            <a:cxn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reeform 489"/>
          <p:cNvSpPr/>
          <p:nvPr/>
        </p:nvSpPr>
        <p:spPr>
          <a:xfrm>
            <a:off x="4438440" y="3609720"/>
            <a:ext cx="1695960" cy="10080"/>
          </a:xfrm>
          <a:custGeom>
            <a:avLst/>
            <a:gdLst/>
            <a:ahLst/>
            <a:cxn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reeform 490"/>
          <p:cNvSpPr/>
          <p:nvPr/>
        </p:nvSpPr>
        <p:spPr>
          <a:xfrm>
            <a:off x="6134040" y="3609720"/>
            <a:ext cx="495360" cy="10080"/>
          </a:xfrm>
          <a:custGeom>
            <a:avLst/>
            <a:gdLst/>
            <a:ahLst/>
            <a:cxnLst/>
            <a:rect l="0" t="0" r="r" b="b"/>
            <a:pathLst>
              <a:path w="1376" h="28">
                <a:moveTo>
                  <a:pt x="0" y="0"/>
                </a:moveTo>
                <a:lnTo>
                  <a:pt x="1376" y="0"/>
                </a:lnTo>
                <a:lnTo>
                  <a:pt x="13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TextBox 491"/>
          <p:cNvSpPr txBox="1"/>
          <p:nvPr/>
        </p:nvSpPr>
        <p:spPr>
          <a:xfrm>
            <a:off x="747720" y="728640"/>
            <a:ext cx="52783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Model-Specific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TextBox 492"/>
          <p:cNvSpPr txBox="1"/>
          <p:nvPr/>
        </p:nvSpPr>
        <p:spPr>
          <a:xfrm>
            <a:off x="747720" y="1483920"/>
            <a:ext cx="4484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Vendor Comparison (n=48 each):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TextBox 493"/>
          <p:cNvSpPr txBox="1"/>
          <p:nvPr/>
        </p:nvSpPr>
        <p:spPr>
          <a:xfrm>
            <a:off x="880920" y="2044080"/>
            <a:ext cx="52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Rank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TextBox 494"/>
          <p:cNvSpPr txBox="1"/>
          <p:nvPr/>
        </p:nvSpPr>
        <p:spPr>
          <a:xfrm>
            <a:off x="1942920" y="2044080"/>
            <a:ext cx="741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Vendor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3275280" y="2044080"/>
            <a:ext cx="1100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Mean ± SD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4557960" y="2044080"/>
            <a:ext cx="169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Diff from Human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TextBox 497"/>
          <p:cNvSpPr txBox="1"/>
          <p:nvPr/>
        </p:nvSpPr>
        <p:spPr>
          <a:xfrm>
            <a:off x="6321960" y="2044080"/>
            <a:ext cx="19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TextBox 498"/>
          <p:cNvSpPr txBox="1"/>
          <p:nvPr/>
        </p:nvSpPr>
        <p:spPr>
          <a:xfrm>
            <a:off x="880920" y="2453760"/>
            <a:ext cx="19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1577880" y="2453760"/>
            <a:ext cx="1059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xAI (Grok)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3195360" y="245376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79.72 ± 6.54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TextBox 501"/>
          <p:cNvSpPr txBox="1"/>
          <p:nvPr/>
        </p:nvSpPr>
        <p:spPr>
          <a:xfrm>
            <a:off x="4557960" y="2453760"/>
            <a:ext cx="962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.SFNS-Regular_wdth_opsz140000_GRAD_wght2580000"/>
                <a:ea typeface=".SFNS-Regular_wdth_opsz140000_GRAD_wght2580000"/>
              </a:rPr>
              <a:t>+0.64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6262560" y="245376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TextBox 503"/>
          <p:cNvSpPr txBox="1"/>
          <p:nvPr/>
        </p:nvSpPr>
        <p:spPr>
          <a:xfrm>
            <a:off x="880920" y="2863440"/>
            <a:ext cx="190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1577880" y="2863440"/>
            <a:ext cx="121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OpenAI (GPT)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3195360" y="286344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75.44 ± 4.98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TextBox 506"/>
          <p:cNvSpPr txBox="1"/>
          <p:nvPr/>
        </p:nvSpPr>
        <p:spPr>
          <a:xfrm>
            <a:off x="4557960" y="2863440"/>
            <a:ext cx="741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-3.64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TextBox 507"/>
          <p:cNvSpPr txBox="1"/>
          <p:nvPr/>
        </p:nvSpPr>
        <p:spPr>
          <a:xfrm>
            <a:off x="6262560" y="286344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880920" y="3273120"/>
            <a:ext cx="190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1577880" y="3273120"/>
            <a:ext cx="13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Google (Gemini)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TextBox 510"/>
          <p:cNvSpPr txBox="1"/>
          <p:nvPr/>
        </p:nvSpPr>
        <p:spPr>
          <a:xfrm>
            <a:off x="3195360" y="3273120"/>
            <a:ext cx="1065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83.50 ± 7.41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4557960" y="3273120"/>
            <a:ext cx="789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+4.42 pts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TextBox 512"/>
          <p:cNvSpPr txBox="1"/>
          <p:nvPr/>
        </p:nvSpPr>
        <p:spPr>
          <a:xfrm>
            <a:off x="6262560" y="327312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.SFNS-Regular_wdth_opsz140000_GRAD_wght"/>
                <a:ea typeface=".SFNS-Regular_wdth_opsz140000_GRAD_wght"/>
              </a:rPr>
              <a:t>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Freeform 513"/>
          <p:cNvSpPr/>
          <p:nvPr/>
        </p:nvSpPr>
        <p:spPr>
          <a:xfrm>
            <a:off x="1000080" y="44668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747720" y="3826800"/>
            <a:ext cx="18025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Key Insights: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reeform 515"/>
          <p:cNvSpPr/>
          <p:nvPr/>
        </p:nvSpPr>
        <p:spPr>
          <a:xfrm>
            <a:off x="1000080" y="486720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TextBox 516"/>
          <p:cNvSpPr txBox="1"/>
          <p:nvPr/>
        </p:nvSpPr>
        <p:spPr>
          <a:xfrm>
            <a:off x="1204920" y="4327560"/>
            <a:ext cx="92214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xAI Grok shows best alignment with human reviewers (0.64 pt difference)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reeform 517"/>
          <p:cNvSpPr/>
          <p:nvPr/>
        </p:nvSpPr>
        <p:spPr>
          <a:xfrm>
            <a:off x="1000080" y="52671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TextBox 518"/>
          <p:cNvSpPr txBox="1"/>
          <p:nvPr/>
        </p:nvSpPr>
        <p:spPr>
          <a:xfrm>
            <a:off x="1204920" y="4727520"/>
            <a:ext cx="6271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Google Gemini tends to score higher than humans (+4.42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reeform 519"/>
          <p:cNvSpPr/>
          <p:nvPr/>
        </p:nvSpPr>
        <p:spPr>
          <a:xfrm>
            <a:off x="1000080" y="56671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TextBox 520"/>
          <p:cNvSpPr txBox="1"/>
          <p:nvPr/>
        </p:nvSpPr>
        <p:spPr>
          <a:xfrm>
            <a:off x="1204920" y="5127840"/>
            <a:ext cx="52477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OpenAI GPT scores more conservatively (-3.64 pts)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1204920" y="5527800"/>
            <a:ext cx="6061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All models maintain reasonable consistency (SD: 4.98-7.41)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TextBox 522"/>
          <p:cNvSpPr txBox="1"/>
          <p:nvPr/>
        </p:nvSpPr>
        <p:spPr>
          <a:xfrm>
            <a:off x="747720" y="6023160"/>
            <a:ext cx="81439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Implication: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Model choice matters - xAI Grok most suitable for this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TextBox 524"/>
          <p:cNvSpPr txBox="1"/>
          <p:nvPr/>
        </p:nvSpPr>
        <p:spPr>
          <a:xfrm>
            <a:off x="116676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528"/>
          <p:cNvPicPr/>
          <p:nvPr/>
        </p:nvPicPr>
        <p:blipFill>
          <a:blip r:embed="rId2"/>
          <a:stretch/>
        </p:blipFill>
        <p:spPr>
          <a:xfrm>
            <a:off x="300124" y="397433"/>
            <a:ext cx="11591751" cy="574402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TextBox 531"/>
          <p:cNvSpPr txBox="1"/>
          <p:nvPr/>
        </p:nvSpPr>
        <p:spPr>
          <a:xfrm>
            <a:off x="116607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535"/>
          <p:cNvSpPr txBox="1"/>
          <p:nvPr/>
        </p:nvSpPr>
        <p:spPr>
          <a:xfrm>
            <a:off x="747720" y="785880"/>
            <a:ext cx="66297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Inter-Rater Reliability &amp; Agreement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747720" y="1540800"/>
            <a:ext cx="30178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Consistency Analysis: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reeform 537"/>
          <p:cNvSpPr/>
          <p:nvPr/>
        </p:nvSpPr>
        <p:spPr>
          <a:xfrm>
            <a:off x="1000080" y="26762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747720" y="2041560"/>
            <a:ext cx="53600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Variability (Average SD across applicants):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reeform 539"/>
          <p:cNvSpPr/>
          <p:nvPr/>
        </p:nvSpPr>
        <p:spPr>
          <a:xfrm>
            <a:off x="1000080" y="30765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09"/>
                  <a:pt x="120" y="212"/>
                  <a:pt x="106" y="212"/>
                </a:cubicBezTo>
                <a:cubicBezTo>
                  <a:pt x="92" y="212"/>
                  <a:pt x="79" y="209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TextBox 540"/>
          <p:cNvSpPr txBox="1"/>
          <p:nvPr/>
        </p:nvSpPr>
        <p:spPr>
          <a:xfrm>
            <a:off x="1204920" y="2536920"/>
            <a:ext cx="6010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Human reviewers: 11.37 points; LLM reviewers: 6.94 points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TextBox 541"/>
          <p:cNvSpPr txBox="1"/>
          <p:nvPr/>
        </p:nvSpPr>
        <p:spPr>
          <a:xfrm>
            <a:off x="1204920" y="2936880"/>
            <a:ext cx="55512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are 39% more consistent than humans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reeform 542"/>
          <p:cNvSpPr/>
          <p:nvPr/>
        </p:nvSpPr>
        <p:spPr>
          <a:xfrm>
            <a:off x="1000080" y="40669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8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TextBox 543"/>
          <p:cNvSpPr txBox="1"/>
          <p:nvPr/>
        </p:nvSpPr>
        <p:spPr>
          <a:xfrm>
            <a:off x="747720" y="3432240"/>
            <a:ext cx="37983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Human-LLM Score Agreement: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reeform 544"/>
          <p:cNvSpPr/>
          <p:nvPr/>
        </p:nvSpPr>
        <p:spPr>
          <a:xfrm>
            <a:off x="1000080" y="44668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TextBox 545"/>
          <p:cNvSpPr txBox="1"/>
          <p:nvPr/>
        </p:nvSpPr>
        <p:spPr>
          <a:xfrm>
            <a:off x="1204920" y="3927600"/>
            <a:ext cx="8264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Pearson correlation: r = 0.90 (p=0.283); Spearman correlation: ρ = 1.00 (p&lt;0.001)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TextBox 546"/>
          <p:cNvSpPr txBox="1"/>
          <p:nvPr/>
        </p:nvSpPr>
        <p:spPr>
          <a:xfrm>
            <a:off x="1204920" y="4327560"/>
            <a:ext cx="63385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Perfect rank-order agreement on applicant scoring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reeform 547"/>
          <p:cNvSpPr/>
          <p:nvPr/>
        </p:nvSpPr>
        <p:spPr>
          <a:xfrm>
            <a:off x="1000080" y="54576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TextBox 548"/>
          <p:cNvSpPr txBox="1"/>
          <p:nvPr/>
        </p:nvSpPr>
        <p:spPr>
          <a:xfrm>
            <a:off x="747720" y="4822920"/>
            <a:ext cx="370980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Recommendation Agreement: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reeform 549"/>
          <p:cNvSpPr/>
          <p:nvPr/>
        </p:nvSpPr>
        <p:spPr>
          <a:xfrm>
            <a:off x="1000080" y="58575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1204920" y="5318280"/>
            <a:ext cx="105685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LLMs prefer "Fund with Revisions" (61%) vs Human split (42% Do Not Fund, 33% Fund, 25% Revisions)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1204920" y="5718240"/>
            <a:ext cx="57535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more optimistic about revision potential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116766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Picture 558"/>
          <p:cNvPicPr/>
          <p:nvPr/>
        </p:nvPicPr>
        <p:blipFill>
          <a:blip r:embed="rId2"/>
          <a:stretch/>
        </p:blipFill>
        <p:spPr>
          <a:xfrm>
            <a:off x="157012" y="893097"/>
            <a:ext cx="11761508" cy="499188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TextBox 559"/>
          <p:cNvSpPr txBox="1"/>
          <p:nvPr/>
        </p:nvSpPr>
        <p:spPr>
          <a:xfrm>
            <a:off x="109091" y="123480"/>
            <a:ext cx="87861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Critical Finding: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Strong numerical agreement doesn't guarantee decision alignment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TextBox 560"/>
          <p:cNvSpPr txBox="1"/>
          <p:nvPr/>
        </p:nvSpPr>
        <p:spPr>
          <a:xfrm>
            <a:off x="109091" y="6481080"/>
            <a:ext cx="5467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 dirty="0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Note: Applicants anonymized as S1-S3 to maintain blinding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TextBox 562"/>
          <p:cNvSpPr txBox="1"/>
          <p:nvPr/>
        </p:nvSpPr>
        <p:spPr>
          <a:xfrm>
            <a:off x="1166364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Box 566"/>
          <p:cNvSpPr txBox="1"/>
          <p:nvPr/>
        </p:nvSpPr>
        <p:spPr>
          <a:xfrm>
            <a:off x="747720" y="1681200"/>
            <a:ext cx="51447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Conclusions &amp; Implications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747720" y="2436120"/>
            <a:ext cx="2264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Key Takeaways: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reeform 568"/>
          <p:cNvSpPr/>
          <p:nvPr/>
        </p:nvSpPr>
        <p:spPr>
          <a:xfrm>
            <a:off x="1457280" y="35715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970200" y="2936880"/>
            <a:ext cx="88743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can match human scoring accuracy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(no significant difference, r=0.91)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TextBox 570"/>
          <p:cNvSpPr txBox="1"/>
          <p:nvPr/>
        </p:nvSpPr>
        <p:spPr>
          <a:xfrm>
            <a:off x="1662120" y="3432240"/>
            <a:ext cx="4397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But more conservative in recommendations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reeform 571"/>
          <p:cNvSpPr/>
          <p:nvPr/>
        </p:nvSpPr>
        <p:spPr>
          <a:xfrm>
            <a:off x="1457280" y="45622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TextBox 572"/>
          <p:cNvSpPr txBox="1"/>
          <p:nvPr/>
        </p:nvSpPr>
        <p:spPr>
          <a:xfrm>
            <a:off x="970200" y="3927600"/>
            <a:ext cx="7062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Prompt engineering significantly impacts performance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reeform 573"/>
          <p:cNvSpPr/>
          <p:nvPr/>
        </p:nvSpPr>
        <p:spPr>
          <a:xfrm>
            <a:off x="1457280" y="49622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1662120" y="4422960"/>
            <a:ext cx="4879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Multiple training examples optimal for calibration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TextBox 575"/>
          <p:cNvSpPr txBox="1"/>
          <p:nvPr/>
        </p:nvSpPr>
        <p:spPr>
          <a:xfrm>
            <a:off x="1662120" y="4822920"/>
            <a:ext cx="38250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Strict instructions led to under-scoring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TextBox 576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TextBox 577"/>
          <p:cNvSpPr txBox="1"/>
          <p:nvPr/>
        </p:nvSpPr>
        <p:spPr>
          <a:xfrm>
            <a:off x="116607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Box 581"/>
          <p:cNvSpPr txBox="1"/>
          <p:nvPr/>
        </p:nvSpPr>
        <p:spPr>
          <a:xfrm>
            <a:off x="747720" y="1748160"/>
            <a:ext cx="73933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Conclusions &amp; Implications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reeform 582"/>
          <p:cNvSpPr/>
          <p:nvPr/>
        </p:nvSpPr>
        <p:spPr>
          <a:xfrm>
            <a:off x="1457280" y="31050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TextBox 583"/>
          <p:cNvSpPr txBox="1"/>
          <p:nvPr/>
        </p:nvSpPr>
        <p:spPr>
          <a:xfrm>
            <a:off x="970200" y="2470320"/>
            <a:ext cx="32900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Model selection matters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Freeform 584"/>
          <p:cNvSpPr/>
          <p:nvPr/>
        </p:nvSpPr>
        <p:spPr>
          <a:xfrm>
            <a:off x="1457280" y="3504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1662120" y="2965680"/>
            <a:ext cx="4053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xAI Grok showed best human alignment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TextBox 586"/>
          <p:cNvSpPr txBox="1"/>
          <p:nvPr/>
        </p:nvSpPr>
        <p:spPr>
          <a:xfrm>
            <a:off x="1662120" y="3365640"/>
            <a:ext cx="4740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5-point spread between best and worst models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reeform 587"/>
          <p:cNvSpPr/>
          <p:nvPr/>
        </p:nvSpPr>
        <p:spPr>
          <a:xfrm>
            <a:off x="1457280" y="44956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TextBox 588"/>
          <p:cNvSpPr txBox="1"/>
          <p:nvPr/>
        </p:nvSpPr>
        <p:spPr>
          <a:xfrm>
            <a:off x="970200" y="3861000"/>
            <a:ext cx="4992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LLMs offer advantages in consistency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reeform 589"/>
          <p:cNvSpPr/>
          <p:nvPr/>
        </p:nvSpPr>
        <p:spPr>
          <a:xfrm>
            <a:off x="1457280" y="48956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TextBox 590"/>
          <p:cNvSpPr txBox="1"/>
          <p:nvPr/>
        </p:nvSpPr>
        <p:spPr>
          <a:xfrm>
            <a:off x="1662120" y="4356360"/>
            <a:ext cx="3469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39% lower variability than humans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TextBox 591"/>
          <p:cNvSpPr txBox="1"/>
          <p:nvPr/>
        </p:nvSpPr>
        <p:spPr>
          <a:xfrm>
            <a:off x="1662120" y="4756320"/>
            <a:ext cx="3913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Reduced inter-rater reliability concerns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TextBox 592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TextBox 593"/>
          <p:cNvSpPr txBox="1"/>
          <p:nvPr/>
        </p:nvSpPr>
        <p:spPr>
          <a:xfrm>
            <a:off x="1163448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Box 597"/>
          <p:cNvSpPr txBox="1"/>
          <p:nvPr/>
        </p:nvSpPr>
        <p:spPr>
          <a:xfrm>
            <a:off x="747720" y="728640"/>
            <a:ext cx="73933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Conclusions &amp; Implications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Freeform 599"/>
          <p:cNvSpPr/>
          <p:nvPr/>
        </p:nvSpPr>
        <p:spPr>
          <a:xfrm>
            <a:off x="807480" y="2066400"/>
            <a:ext cx="156960" cy="154440"/>
          </a:xfrm>
          <a:custGeom>
            <a:avLst/>
            <a:gdLst/>
            <a:ahLst/>
            <a:cxnLst/>
            <a:rect l="0" t="0" r="r" b="b"/>
            <a:pathLst>
              <a:path w="436" h="429">
                <a:moveTo>
                  <a:pt x="416" y="7"/>
                </a:moveTo>
                <a:cubicBezTo>
                  <a:pt x="396" y="-6"/>
                  <a:pt x="368" y="0"/>
                  <a:pt x="355" y="20"/>
                </a:cubicBezTo>
                <a:lnTo>
                  <a:pt x="163" y="317"/>
                </a:lnTo>
                <a:lnTo>
                  <a:pt x="73" y="235"/>
                </a:lnTo>
                <a:cubicBezTo>
                  <a:pt x="55" y="219"/>
                  <a:pt x="28" y="220"/>
                  <a:pt x="11" y="238"/>
                </a:cubicBezTo>
                <a:cubicBezTo>
                  <a:pt x="-5" y="256"/>
                  <a:pt x="-4" y="283"/>
                  <a:pt x="14" y="300"/>
                </a:cubicBezTo>
                <a:lnTo>
                  <a:pt x="141" y="418"/>
                </a:lnTo>
                <a:cubicBezTo>
                  <a:pt x="150" y="425"/>
                  <a:pt x="161" y="429"/>
                  <a:pt x="172" y="429"/>
                </a:cubicBezTo>
                <a:cubicBezTo>
                  <a:pt x="183" y="429"/>
                  <a:pt x="199" y="424"/>
                  <a:pt x="209" y="409"/>
                </a:cubicBezTo>
                <a:cubicBezTo>
                  <a:pt x="214" y="400"/>
                  <a:pt x="429" y="69"/>
                  <a:pt x="429" y="69"/>
                </a:cubicBezTo>
                <a:cubicBezTo>
                  <a:pt x="442" y="49"/>
                  <a:pt x="437" y="21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TextBox 600"/>
          <p:cNvSpPr txBox="1"/>
          <p:nvPr/>
        </p:nvSpPr>
        <p:spPr>
          <a:xfrm>
            <a:off x="747720" y="1483920"/>
            <a:ext cx="31158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Practical Implications: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Freeform 601"/>
          <p:cNvSpPr/>
          <p:nvPr/>
        </p:nvSpPr>
        <p:spPr>
          <a:xfrm>
            <a:off x="1000080" y="26193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9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TextBox 602"/>
          <p:cNvSpPr txBox="1"/>
          <p:nvPr/>
        </p:nvSpPr>
        <p:spPr>
          <a:xfrm>
            <a:off x="908881" y="1984320"/>
            <a:ext cx="28076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Where LLMs Can Help: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reeform 603"/>
          <p:cNvSpPr/>
          <p:nvPr/>
        </p:nvSpPr>
        <p:spPr>
          <a:xfrm>
            <a:off x="1000080" y="301932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TextBox 604"/>
          <p:cNvSpPr txBox="1"/>
          <p:nvPr/>
        </p:nvSpPr>
        <p:spPr>
          <a:xfrm>
            <a:off x="1204920" y="2479680"/>
            <a:ext cx="2847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Initial screening and ranking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reeform 605"/>
          <p:cNvSpPr/>
          <p:nvPr/>
        </p:nvSpPr>
        <p:spPr>
          <a:xfrm>
            <a:off x="1000080" y="34192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1204920" y="2880000"/>
            <a:ext cx="2987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Generating detailed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reeform 607"/>
          <p:cNvSpPr/>
          <p:nvPr/>
        </p:nvSpPr>
        <p:spPr>
          <a:xfrm>
            <a:off x="1000080" y="38192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TextBox 608"/>
          <p:cNvSpPr txBox="1"/>
          <p:nvPr/>
        </p:nvSpPr>
        <p:spPr>
          <a:xfrm>
            <a:off x="1204920" y="3279960"/>
            <a:ext cx="30117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Calibration/norming exercises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TextBox 610"/>
          <p:cNvSpPr txBox="1"/>
          <p:nvPr/>
        </p:nvSpPr>
        <p:spPr>
          <a:xfrm>
            <a:off x="1204920" y="3679920"/>
            <a:ext cx="2669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Reducing reviewer burden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reeform 611"/>
          <p:cNvSpPr/>
          <p:nvPr/>
        </p:nvSpPr>
        <p:spPr>
          <a:xfrm>
            <a:off x="1000080" y="4809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TextBox 612"/>
          <p:cNvSpPr txBox="1"/>
          <p:nvPr/>
        </p:nvSpPr>
        <p:spPr>
          <a:xfrm>
            <a:off x="908881" y="4175280"/>
            <a:ext cx="42044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Where Humans Remain Essential: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reeform 613"/>
          <p:cNvSpPr/>
          <p:nvPr/>
        </p:nvSpPr>
        <p:spPr>
          <a:xfrm>
            <a:off x="1000080" y="52099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TextBox 614"/>
          <p:cNvSpPr txBox="1"/>
          <p:nvPr/>
        </p:nvSpPr>
        <p:spPr>
          <a:xfrm>
            <a:off x="1204920" y="4670640"/>
            <a:ext cx="2326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Final funding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Freeform 615"/>
          <p:cNvSpPr/>
          <p:nvPr/>
        </p:nvSpPr>
        <p:spPr>
          <a:xfrm>
            <a:off x="1000080" y="56098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TextBox 616"/>
          <p:cNvSpPr txBox="1"/>
          <p:nvPr/>
        </p:nvSpPr>
        <p:spPr>
          <a:xfrm>
            <a:off x="1204920" y="5070600"/>
            <a:ext cx="2440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Nuanced judgment calls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Freeform 617"/>
          <p:cNvSpPr/>
          <p:nvPr/>
        </p:nvSpPr>
        <p:spPr>
          <a:xfrm>
            <a:off x="1000080" y="601020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TextBox 618"/>
          <p:cNvSpPr txBox="1"/>
          <p:nvPr/>
        </p:nvSpPr>
        <p:spPr>
          <a:xfrm>
            <a:off x="1204920" y="5470560"/>
            <a:ext cx="2135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Handling edge cases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TextBox 619"/>
          <p:cNvSpPr txBox="1"/>
          <p:nvPr/>
        </p:nvSpPr>
        <p:spPr>
          <a:xfrm>
            <a:off x="1204920" y="5870520"/>
            <a:ext cx="3241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Accountability and transparency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TextBox 621"/>
          <p:cNvSpPr txBox="1"/>
          <p:nvPr/>
        </p:nvSpPr>
        <p:spPr>
          <a:xfrm>
            <a:off x="116715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625"/>
          <p:cNvSpPr txBox="1"/>
          <p:nvPr/>
        </p:nvSpPr>
        <p:spPr>
          <a:xfrm>
            <a:off x="747720" y="2891160"/>
            <a:ext cx="48027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Recommended Approach: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TextBox 626"/>
          <p:cNvSpPr txBox="1"/>
          <p:nvPr/>
        </p:nvSpPr>
        <p:spPr>
          <a:xfrm>
            <a:off x="747720" y="3613320"/>
            <a:ext cx="6347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Hybrid system with LLM pre-screening + human final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TextBox 627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TextBox 628"/>
          <p:cNvSpPr txBox="1"/>
          <p:nvPr/>
        </p:nvSpPr>
        <p:spPr>
          <a:xfrm>
            <a:off x="1164312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Box 632"/>
          <p:cNvSpPr txBox="1"/>
          <p:nvPr/>
        </p:nvSpPr>
        <p:spPr>
          <a:xfrm>
            <a:off x="747720" y="728640"/>
            <a:ext cx="725904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Future Directions &amp; Acknowledgments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TextBox 633"/>
          <p:cNvSpPr txBox="1"/>
          <p:nvPr/>
        </p:nvSpPr>
        <p:spPr>
          <a:xfrm>
            <a:off x="747720" y="1483920"/>
            <a:ext cx="3451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Next Steps for Research: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TextBox 634"/>
          <p:cNvSpPr txBox="1"/>
          <p:nvPr/>
        </p:nvSpPr>
        <p:spPr>
          <a:xfrm>
            <a:off x="970200" y="1984320"/>
            <a:ext cx="77378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Expand sample size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Test across multiple grant programs and cycles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TextBox 635"/>
          <p:cNvSpPr txBox="1"/>
          <p:nvPr/>
        </p:nvSpPr>
        <p:spPr>
          <a:xfrm>
            <a:off x="970200" y="2384640"/>
            <a:ext cx="85179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Hybrid system testing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Evaluate LLM pre-screen + human review 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TextBox 636"/>
          <p:cNvSpPr txBox="1"/>
          <p:nvPr/>
        </p:nvSpPr>
        <p:spPr>
          <a:xfrm>
            <a:off x="970200" y="2784600"/>
            <a:ext cx="78897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Longitudinal validation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Track prediction accuracy for funded projects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TextBox 637"/>
          <p:cNvSpPr txBox="1"/>
          <p:nvPr/>
        </p:nvSpPr>
        <p:spPr>
          <a:xfrm>
            <a:off x="970200" y="3184560"/>
            <a:ext cx="67723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Bias analysis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Assess for demographic or institutional biases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TextBox 638"/>
          <p:cNvSpPr txBox="1"/>
          <p:nvPr/>
        </p:nvSpPr>
        <p:spPr>
          <a:xfrm>
            <a:off x="970200" y="3584520"/>
            <a:ext cx="757224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5.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Qualitative analysis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- Compare rationale quality and feedback utility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Freeform 639"/>
          <p:cNvSpPr/>
          <p:nvPr/>
        </p:nvSpPr>
        <p:spPr>
          <a:xfrm>
            <a:off x="1000080" y="47624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TextBox 640"/>
          <p:cNvSpPr txBox="1"/>
          <p:nvPr/>
        </p:nvSpPr>
        <p:spPr>
          <a:xfrm>
            <a:off x="747720" y="4122360"/>
            <a:ext cx="29624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Broader Implications: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reeform 641"/>
          <p:cNvSpPr/>
          <p:nvPr/>
        </p:nvSpPr>
        <p:spPr>
          <a:xfrm>
            <a:off x="1000080" y="51624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TextBox 642"/>
          <p:cNvSpPr txBox="1"/>
          <p:nvPr/>
        </p:nvSpPr>
        <p:spPr>
          <a:xfrm>
            <a:off x="1204920" y="4622760"/>
            <a:ext cx="5159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Potential for democratizing access to expert 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reeform 643"/>
          <p:cNvSpPr/>
          <p:nvPr/>
        </p:nvSpPr>
        <p:spPr>
          <a:xfrm>
            <a:off x="1000080" y="55623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TextBox 644"/>
          <p:cNvSpPr txBox="1"/>
          <p:nvPr/>
        </p:nvSpPr>
        <p:spPr>
          <a:xfrm>
            <a:off x="1204920" y="5023080"/>
            <a:ext cx="4956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Reducing time-to-decision in grant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Freeform 645"/>
          <p:cNvSpPr/>
          <p:nvPr/>
        </p:nvSpPr>
        <p:spPr>
          <a:xfrm>
            <a:off x="1000080" y="59623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9"/>
                </a:cubicBezTo>
                <a:cubicBezTo>
                  <a:pt x="79" y="4"/>
                  <a:pt x="92" y="0"/>
                  <a:pt x="106" y="0"/>
                </a:cubicBezTo>
                <a:cubicBezTo>
                  <a:pt x="120" y="0"/>
                  <a:pt x="134" y="4"/>
                  <a:pt x="147" y="9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TextBox 646"/>
          <p:cNvSpPr txBox="1"/>
          <p:nvPr/>
        </p:nvSpPr>
        <p:spPr>
          <a:xfrm>
            <a:off x="1204920" y="5423040"/>
            <a:ext cx="36986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Standardization of evaluation criteria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TextBox 647"/>
          <p:cNvSpPr txBox="1"/>
          <p:nvPr/>
        </p:nvSpPr>
        <p:spPr>
          <a:xfrm>
            <a:off x="1204920" y="5823000"/>
            <a:ext cx="3597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Cost reduction for funding agencies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TextBox 648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TextBox 649"/>
          <p:cNvSpPr txBox="1"/>
          <p:nvPr/>
        </p:nvSpPr>
        <p:spPr>
          <a:xfrm>
            <a:off x="116370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Box 653"/>
          <p:cNvSpPr txBox="1"/>
          <p:nvPr/>
        </p:nvSpPr>
        <p:spPr>
          <a:xfrm>
            <a:off x="747720" y="1900440"/>
            <a:ext cx="21157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Thank You!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Freeform 654"/>
          <p:cNvSpPr/>
          <p:nvPr/>
        </p:nvSpPr>
        <p:spPr>
          <a:xfrm>
            <a:off x="1000080" y="33051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TextBox 655"/>
          <p:cNvSpPr txBox="1"/>
          <p:nvPr/>
        </p:nvSpPr>
        <p:spPr>
          <a:xfrm>
            <a:off x="747720" y="2664720"/>
            <a:ext cx="26272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Acknowledgments: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Freeform 656"/>
          <p:cNvSpPr/>
          <p:nvPr/>
        </p:nvSpPr>
        <p:spPr>
          <a:xfrm>
            <a:off x="1000080" y="370512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TextBox 657"/>
          <p:cNvSpPr txBox="1"/>
          <p:nvPr/>
        </p:nvSpPr>
        <p:spPr>
          <a:xfrm>
            <a:off x="1204920" y="3165480"/>
            <a:ext cx="3469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SBU School of Health Professions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TextBox 658"/>
          <p:cNvSpPr txBox="1"/>
          <p:nvPr/>
        </p:nvSpPr>
        <p:spPr>
          <a:xfrm>
            <a:off x="1204920" y="3565800"/>
            <a:ext cx="4778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Human reviewers who participated in this study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Freeform 659"/>
          <p:cNvSpPr/>
          <p:nvPr/>
        </p:nvSpPr>
        <p:spPr>
          <a:xfrm>
            <a:off x="1000080" y="47433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TextBox 660"/>
          <p:cNvSpPr txBox="1"/>
          <p:nvPr/>
        </p:nvSpPr>
        <p:spPr>
          <a:xfrm>
            <a:off x="747720" y="4103280"/>
            <a:ext cx="22644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Contact &amp; Code: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TextBox 661"/>
          <p:cNvSpPr txBox="1"/>
          <p:nvPr/>
        </p:nvSpPr>
        <p:spPr>
          <a:xfrm>
            <a:off x="1204920" y="4603680"/>
            <a:ext cx="371877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1F2328"/>
                </a:solidFill>
                <a:effectLst/>
                <a:uFillTx/>
                <a:latin typeface=".SFNS-Regular_wdth_opsz180000_GRAD_wght2580000"/>
                <a:ea typeface=".SFNS-Regular_wdth_opsz180000_GRAD_wght2580000"/>
              </a:rPr>
              <a:t>Email: </a:t>
            </a:r>
            <a:r>
              <a:rPr lang="en-US" sz="1800" b="0" u="none" strike="noStrike" dirty="0" err="1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hants.williams@stonybrook.edu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TextBox 662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TextBox 663"/>
          <p:cNvSpPr txBox="1"/>
          <p:nvPr/>
        </p:nvSpPr>
        <p:spPr>
          <a:xfrm>
            <a:off x="116391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Box 667"/>
          <p:cNvSpPr txBox="1"/>
          <p:nvPr/>
        </p:nvSpPr>
        <p:spPr>
          <a:xfrm>
            <a:off x="747720" y="3044880"/>
            <a:ext cx="5436360" cy="64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u="none" strike="noStrike">
                <a:solidFill>
                  <a:srgbClr val="990000"/>
                </a:solidFill>
                <a:effectLst/>
                <a:uFillTx/>
                <a:latin typeface=".SFNS-Regular_wdth_opsz300000_GRAD_wght2580000"/>
                <a:ea typeface=".SFNS-Regular_wdth_opsz300000_GRAD_wght2580000"/>
              </a:rPr>
              <a:t>Supplementary Slides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TextBox 668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TextBox 672"/>
          <p:cNvSpPr txBox="1"/>
          <p:nvPr/>
        </p:nvSpPr>
        <p:spPr>
          <a:xfrm>
            <a:off x="747720" y="2224080"/>
            <a:ext cx="47826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S1: Detailed Methodology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Freeform 673"/>
          <p:cNvSpPr/>
          <p:nvPr/>
        </p:nvSpPr>
        <p:spPr>
          <a:xfrm>
            <a:off x="1000080" y="36194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TextBox 674"/>
          <p:cNvSpPr txBox="1"/>
          <p:nvPr/>
        </p:nvSpPr>
        <p:spPr>
          <a:xfrm>
            <a:off x="747720" y="2979360"/>
            <a:ext cx="2571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Database Schema: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Freeform 675"/>
          <p:cNvSpPr/>
          <p:nvPr/>
        </p:nvSpPr>
        <p:spPr>
          <a:xfrm>
            <a:off x="1000080" y="40194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1204920" y="3479760"/>
            <a:ext cx="5134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Combined reviews table with human and LLM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Freeform 677"/>
          <p:cNvSpPr/>
          <p:nvPr/>
        </p:nvSpPr>
        <p:spPr>
          <a:xfrm>
            <a:off x="1000080" y="44193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TextBox 678"/>
          <p:cNvSpPr txBox="1"/>
          <p:nvPr/>
        </p:nvSpPr>
        <p:spPr>
          <a:xfrm>
            <a:off x="1204920" y="3880080"/>
            <a:ext cx="4180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Experiment tracking with prompt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TextBox 679"/>
          <p:cNvSpPr txBox="1"/>
          <p:nvPr/>
        </p:nvSpPr>
        <p:spPr>
          <a:xfrm>
            <a:off x="1204920" y="4280040"/>
            <a:ext cx="3265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Criteria-level scoring breakdown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TextBox 680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TextBox 681"/>
          <p:cNvSpPr txBox="1"/>
          <p:nvPr/>
        </p:nvSpPr>
        <p:spPr>
          <a:xfrm>
            <a:off x="116319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TextBox 685"/>
          <p:cNvSpPr txBox="1"/>
          <p:nvPr/>
        </p:nvSpPr>
        <p:spPr>
          <a:xfrm>
            <a:off x="747720" y="1100160"/>
            <a:ext cx="70311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S1: Detailed Methodology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Freeform 686"/>
          <p:cNvSpPr/>
          <p:nvPr/>
        </p:nvSpPr>
        <p:spPr>
          <a:xfrm>
            <a:off x="1000080" y="25048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TextBox 687"/>
          <p:cNvSpPr txBox="1"/>
          <p:nvPr/>
        </p:nvSpPr>
        <p:spPr>
          <a:xfrm>
            <a:off x="747720" y="1864800"/>
            <a:ext cx="3311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LLM API Configurations: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Freeform 688"/>
          <p:cNvSpPr/>
          <p:nvPr/>
        </p:nvSpPr>
        <p:spPr>
          <a:xfrm>
            <a:off x="1000080" y="29048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TextBox 689"/>
          <p:cNvSpPr txBox="1"/>
          <p:nvPr/>
        </p:nvSpPr>
        <p:spPr>
          <a:xfrm>
            <a:off x="1204920" y="2365560"/>
            <a:ext cx="3062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OpenAI: GPT-5-nano (default)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Freeform 690"/>
          <p:cNvSpPr/>
          <p:nvPr/>
        </p:nvSpPr>
        <p:spPr>
          <a:xfrm>
            <a:off x="1000080" y="33051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TextBox 691"/>
          <p:cNvSpPr txBox="1"/>
          <p:nvPr/>
        </p:nvSpPr>
        <p:spPr>
          <a:xfrm>
            <a:off x="1204920" y="2765520"/>
            <a:ext cx="25927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Google: Gemini 2.5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1204920" y="3165480"/>
            <a:ext cx="2681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xAI: Grok-4-fast-reasoning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Freeform 693"/>
          <p:cNvSpPr/>
          <p:nvPr/>
        </p:nvSpPr>
        <p:spPr>
          <a:xfrm>
            <a:off x="1000080" y="434304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TextBox 694"/>
          <p:cNvSpPr txBox="1"/>
          <p:nvPr/>
        </p:nvSpPr>
        <p:spPr>
          <a:xfrm>
            <a:off x="747720" y="3702960"/>
            <a:ext cx="40093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Statistical Analysis Methods: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Freeform 695"/>
          <p:cNvSpPr/>
          <p:nvPr/>
        </p:nvSpPr>
        <p:spPr>
          <a:xfrm>
            <a:off x="1000080" y="47433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4"/>
                  <a:pt x="171" y="22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TextBox 696"/>
          <p:cNvSpPr txBox="1"/>
          <p:nvPr/>
        </p:nvSpPr>
        <p:spPr>
          <a:xfrm>
            <a:off x="1204920" y="4203720"/>
            <a:ext cx="4269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Two-sample t-tests for group comparisons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Freeform 697"/>
          <p:cNvSpPr/>
          <p:nvPr/>
        </p:nvSpPr>
        <p:spPr>
          <a:xfrm>
            <a:off x="1000080" y="51433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TextBox 698"/>
          <p:cNvSpPr txBox="1"/>
          <p:nvPr/>
        </p:nvSpPr>
        <p:spPr>
          <a:xfrm>
            <a:off x="1204920" y="4603680"/>
            <a:ext cx="3660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Pearson and Spearman correlations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Freeform 699"/>
          <p:cNvSpPr/>
          <p:nvPr/>
        </p:nvSpPr>
        <p:spPr>
          <a:xfrm>
            <a:off x="1000080" y="554328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TextBox 700"/>
          <p:cNvSpPr txBox="1"/>
          <p:nvPr/>
        </p:nvSpPr>
        <p:spPr>
          <a:xfrm>
            <a:off x="1204920" y="5004000"/>
            <a:ext cx="4548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One-way ANOVA for experiment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TextBox 701"/>
          <p:cNvSpPr txBox="1"/>
          <p:nvPr/>
        </p:nvSpPr>
        <p:spPr>
          <a:xfrm>
            <a:off x="1204920" y="5403960"/>
            <a:ext cx="3322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Effect sizes (Cohen's d) reported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TextBox 702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TextBox 703"/>
          <p:cNvSpPr txBox="1"/>
          <p:nvPr/>
        </p:nvSpPr>
        <p:spPr>
          <a:xfrm>
            <a:off x="116481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extBox 707"/>
          <p:cNvSpPr txBox="1"/>
          <p:nvPr/>
        </p:nvSpPr>
        <p:spPr>
          <a:xfrm>
            <a:off x="747720" y="728640"/>
            <a:ext cx="61542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S2: Example Review Comparison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TextBox 708"/>
          <p:cNvSpPr txBox="1"/>
          <p:nvPr/>
        </p:nvSpPr>
        <p:spPr>
          <a:xfrm>
            <a:off x="747720" y="1483920"/>
            <a:ext cx="53236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Human Review Excerpt (Applicant S1):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TextBox 709"/>
          <p:cNvSpPr txBox="1"/>
          <p:nvPr/>
        </p:nvSpPr>
        <p:spPr>
          <a:xfrm>
            <a:off x="747720" y="2022120"/>
            <a:ext cx="8935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"The proposal addresses an important gap in physical therapy education regarding Lyme disease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TextBox 710"/>
          <p:cNvSpPr txBox="1"/>
          <p:nvPr/>
        </p:nvSpPr>
        <p:spPr>
          <a:xfrm>
            <a:off x="747720" y="2364840"/>
            <a:ext cx="9372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differential diagnosis. The methodology is sound but lacks detail on sampling strategy. Budget is well-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TextBox 711"/>
          <p:cNvSpPr txBox="1"/>
          <p:nvPr/>
        </p:nvSpPr>
        <p:spPr>
          <a:xfrm>
            <a:off x="747720" y="2707920"/>
            <a:ext cx="7906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justified. Recommend funding with minor revisions to strengthen the timeline section."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TextBox 712"/>
          <p:cNvSpPr txBox="1"/>
          <p:nvPr/>
        </p:nvSpPr>
        <p:spPr>
          <a:xfrm>
            <a:off x="747720" y="3207960"/>
            <a:ext cx="53517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LLM Review Excerpt (Same Applicant):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TextBox 713"/>
          <p:cNvSpPr txBox="1"/>
          <p:nvPr/>
        </p:nvSpPr>
        <p:spPr>
          <a:xfrm>
            <a:off x="747720" y="3746160"/>
            <a:ext cx="9481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"This proposal demonstrates strong innovation in addressing Lyme disease education gaps for physical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TextBox 714"/>
          <p:cNvSpPr txBox="1"/>
          <p:nvPr/>
        </p:nvSpPr>
        <p:spPr>
          <a:xfrm>
            <a:off x="747720" y="4088880"/>
            <a:ext cx="8915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therapists. The methodological approach shows promise, though the convenience sampling limits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TextBox 715"/>
          <p:cNvSpPr txBox="1"/>
          <p:nvPr/>
        </p:nvSpPr>
        <p:spPr>
          <a:xfrm>
            <a:off x="747720" y="4431960"/>
            <a:ext cx="10051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generalizability. Budget allocation is appropriate and clearly justified. The absence of a detailed timeline is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TextBox 716"/>
          <p:cNvSpPr txBox="1"/>
          <p:nvPr/>
        </p:nvSpPr>
        <p:spPr>
          <a:xfrm>
            <a:off x="747720" y="4774680"/>
            <a:ext cx="9715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i="1" u="none" strike="noStrike">
                <a:solidFill>
                  <a:srgbClr val="1F2328"/>
                </a:solidFill>
                <a:effectLst/>
                <a:uFillTx/>
                <a:latin typeface=".SFNS-RegularItalic_opsz180000_YAXS_wght"/>
                <a:ea typeface=".SFNS-RegularItalic_opsz180000_YAXS_wght"/>
              </a:rPr>
              <a:t>significant weakness. Recommendation: Fund with Revisions to address timeline and sampling concerns."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TextBox 717"/>
          <p:cNvSpPr txBox="1"/>
          <p:nvPr/>
        </p:nvSpPr>
        <p:spPr>
          <a:xfrm>
            <a:off x="747720" y="5274720"/>
            <a:ext cx="86338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Similarity: Both identify timeline weakness; LLM more detailed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TextBox 718"/>
          <p:cNvSpPr txBox="1"/>
          <p:nvPr/>
        </p:nvSpPr>
        <p:spPr>
          <a:xfrm>
            <a:off x="747720" y="5817600"/>
            <a:ext cx="75452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Difference: Human more concise; LLM more structured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TextBox 71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TextBox 720"/>
          <p:cNvSpPr txBox="1"/>
          <p:nvPr/>
        </p:nvSpPr>
        <p:spPr>
          <a:xfrm>
            <a:off x="116352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TextBox 724"/>
          <p:cNvSpPr txBox="1"/>
          <p:nvPr/>
        </p:nvSpPr>
        <p:spPr>
          <a:xfrm>
            <a:off x="747720" y="1300320"/>
            <a:ext cx="281988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S3: Limitations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Freeform 725"/>
          <p:cNvSpPr/>
          <p:nvPr/>
        </p:nvSpPr>
        <p:spPr>
          <a:xfrm>
            <a:off x="1000080" y="27050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TextBox 726"/>
          <p:cNvSpPr txBox="1"/>
          <p:nvPr/>
        </p:nvSpPr>
        <p:spPr>
          <a:xfrm>
            <a:off x="747720" y="2064960"/>
            <a:ext cx="176112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Sample Size: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Freeform 727"/>
          <p:cNvSpPr/>
          <p:nvPr/>
        </p:nvSpPr>
        <p:spPr>
          <a:xfrm>
            <a:off x="1000080" y="31050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TextBox 728"/>
          <p:cNvSpPr txBox="1"/>
          <p:nvPr/>
        </p:nvSpPr>
        <p:spPr>
          <a:xfrm>
            <a:off x="1204920" y="2565360"/>
            <a:ext cx="4346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Limited to 3 grant applications (originally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Freeform 729"/>
          <p:cNvSpPr/>
          <p:nvPr/>
        </p:nvSpPr>
        <p:spPr>
          <a:xfrm>
            <a:off x="1000080" y="3504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TextBox 730"/>
          <p:cNvSpPr txBox="1"/>
          <p:nvPr/>
        </p:nvSpPr>
        <p:spPr>
          <a:xfrm>
            <a:off x="1204920" y="2965680"/>
            <a:ext cx="3025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Single institution and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1204920" y="3365640"/>
            <a:ext cx="5350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May not generalize to other grant types or disciplines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Freeform 732"/>
          <p:cNvSpPr/>
          <p:nvPr/>
        </p:nvSpPr>
        <p:spPr>
          <a:xfrm>
            <a:off x="1000080" y="45432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TextBox 733"/>
          <p:cNvSpPr txBox="1"/>
          <p:nvPr/>
        </p:nvSpPr>
        <p:spPr>
          <a:xfrm>
            <a:off x="747720" y="3903120"/>
            <a:ext cx="223560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Generalizability: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Freeform 734"/>
          <p:cNvSpPr/>
          <p:nvPr/>
        </p:nvSpPr>
        <p:spPr>
          <a:xfrm>
            <a:off x="1000080" y="49431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TextBox 735"/>
          <p:cNvSpPr txBox="1"/>
          <p:nvPr/>
        </p:nvSpPr>
        <p:spPr>
          <a:xfrm>
            <a:off x="1204920" y="4403880"/>
            <a:ext cx="6124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Seed grants may differ from larger federal grants (NIH, NSF)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Freeform 736"/>
          <p:cNvSpPr/>
          <p:nvPr/>
        </p:nvSpPr>
        <p:spPr>
          <a:xfrm>
            <a:off x="1000080" y="53434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TextBox 737"/>
          <p:cNvSpPr txBox="1"/>
          <p:nvPr/>
        </p:nvSpPr>
        <p:spPr>
          <a:xfrm>
            <a:off x="1204920" y="4803840"/>
            <a:ext cx="5757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Health professions context may not extend to other fields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TextBox 738"/>
          <p:cNvSpPr txBox="1"/>
          <p:nvPr/>
        </p:nvSpPr>
        <p:spPr>
          <a:xfrm>
            <a:off x="1204920" y="5203800"/>
            <a:ext cx="25167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English-only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TextBox 73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TextBox 740"/>
          <p:cNvSpPr txBox="1"/>
          <p:nvPr/>
        </p:nvSpPr>
        <p:spPr>
          <a:xfrm>
            <a:off x="116319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Box 744"/>
          <p:cNvSpPr txBox="1"/>
          <p:nvPr/>
        </p:nvSpPr>
        <p:spPr>
          <a:xfrm>
            <a:off x="747720" y="1300320"/>
            <a:ext cx="506844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S3: Limitations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reeform 745"/>
          <p:cNvSpPr/>
          <p:nvPr/>
        </p:nvSpPr>
        <p:spPr>
          <a:xfrm>
            <a:off x="1000080" y="27050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TextBox 746"/>
          <p:cNvSpPr txBox="1"/>
          <p:nvPr/>
        </p:nvSpPr>
        <p:spPr>
          <a:xfrm>
            <a:off x="747720" y="2064960"/>
            <a:ext cx="3074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Technical Limitations: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Freeform 747"/>
          <p:cNvSpPr/>
          <p:nvPr/>
        </p:nvSpPr>
        <p:spPr>
          <a:xfrm>
            <a:off x="1000080" y="31050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TextBox 748"/>
          <p:cNvSpPr txBox="1"/>
          <p:nvPr/>
        </p:nvSpPr>
        <p:spPr>
          <a:xfrm>
            <a:off x="1204920" y="2565360"/>
            <a:ext cx="33548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API costs and access restrictions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Freeform 749"/>
          <p:cNvSpPr/>
          <p:nvPr/>
        </p:nvSpPr>
        <p:spPr>
          <a:xfrm>
            <a:off x="1000080" y="3504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TextBox 750"/>
          <p:cNvSpPr txBox="1"/>
          <p:nvPr/>
        </p:nvSpPr>
        <p:spPr>
          <a:xfrm>
            <a:off x="1204920" y="2965680"/>
            <a:ext cx="3596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Token limits for very long proposals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TextBox 751"/>
          <p:cNvSpPr txBox="1"/>
          <p:nvPr/>
        </p:nvSpPr>
        <p:spPr>
          <a:xfrm>
            <a:off x="1204920" y="3365640"/>
            <a:ext cx="33937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Model versions subject to change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Freeform 752"/>
          <p:cNvSpPr/>
          <p:nvPr/>
        </p:nvSpPr>
        <p:spPr>
          <a:xfrm>
            <a:off x="1000080" y="45432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TextBox 753"/>
          <p:cNvSpPr txBox="1"/>
          <p:nvPr/>
        </p:nvSpPr>
        <p:spPr>
          <a:xfrm>
            <a:off x="747720" y="3903120"/>
            <a:ext cx="2654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Design Limitations: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Freeform 754"/>
          <p:cNvSpPr/>
          <p:nvPr/>
        </p:nvSpPr>
        <p:spPr>
          <a:xfrm>
            <a:off x="1000080" y="49431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TextBox 755"/>
          <p:cNvSpPr txBox="1"/>
          <p:nvPr/>
        </p:nvSpPr>
        <p:spPr>
          <a:xfrm>
            <a:off x="1204920" y="4403880"/>
            <a:ext cx="3621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No real-time feedback incorporation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Freeform 756"/>
          <p:cNvSpPr/>
          <p:nvPr/>
        </p:nvSpPr>
        <p:spPr>
          <a:xfrm>
            <a:off x="1000080" y="53434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TextBox 757"/>
          <p:cNvSpPr txBox="1"/>
          <p:nvPr/>
        </p:nvSpPr>
        <p:spPr>
          <a:xfrm>
            <a:off x="1204920" y="4803840"/>
            <a:ext cx="5680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Human reviewers not calibrated using training examples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TextBox 758"/>
          <p:cNvSpPr txBox="1"/>
          <p:nvPr/>
        </p:nvSpPr>
        <p:spPr>
          <a:xfrm>
            <a:off x="1204920" y="5203800"/>
            <a:ext cx="55915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Recommendation categories may be institution-specific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TextBox 75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TextBox 760"/>
          <p:cNvSpPr txBox="1"/>
          <p:nvPr/>
        </p:nvSpPr>
        <p:spPr>
          <a:xfrm>
            <a:off x="1162836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Box 764"/>
          <p:cNvSpPr txBox="1"/>
          <p:nvPr/>
        </p:nvSpPr>
        <p:spPr>
          <a:xfrm>
            <a:off x="747720" y="1300320"/>
            <a:ext cx="49536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S4: Ethical Considerations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Freeform 765"/>
          <p:cNvSpPr/>
          <p:nvPr/>
        </p:nvSpPr>
        <p:spPr>
          <a:xfrm>
            <a:off x="1000080" y="27050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TextBox 766"/>
          <p:cNvSpPr txBox="1"/>
          <p:nvPr/>
        </p:nvSpPr>
        <p:spPr>
          <a:xfrm>
            <a:off x="747720" y="2064960"/>
            <a:ext cx="4247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Data Privacy &amp; Anonymization: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Freeform 767"/>
          <p:cNvSpPr/>
          <p:nvPr/>
        </p:nvSpPr>
        <p:spPr>
          <a:xfrm>
            <a:off x="1000080" y="31050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TextBox 768"/>
          <p:cNvSpPr txBox="1"/>
          <p:nvPr/>
        </p:nvSpPr>
        <p:spPr>
          <a:xfrm>
            <a:off x="1204920" y="2565360"/>
            <a:ext cx="53888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All applicant data de-identified in public presentations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Freeform 769"/>
          <p:cNvSpPr/>
          <p:nvPr/>
        </p:nvSpPr>
        <p:spPr>
          <a:xfrm>
            <a:off x="1000080" y="3504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TextBox 770"/>
          <p:cNvSpPr txBox="1"/>
          <p:nvPr/>
        </p:nvSpPr>
        <p:spPr>
          <a:xfrm>
            <a:off x="1204920" y="2965680"/>
            <a:ext cx="34567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Grant applications stored securely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TextBox 771"/>
          <p:cNvSpPr txBox="1"/>
          <p:nvPr/>
        </p:nvSpPr>
        <p:spPr>
          <a:xfrm>
            <a:off x="1204920" y="3365640"/>
            <a:ext cx="529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IRB approval obtained (not human subject research)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Freeform 772"/>
          <p:cNvSpPr/>
          <p:nvPr/>
        </p:nvSpPr>
        <p:spPr>
          <a:xfrm>
            <a:off x="1000080" y="45432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TextBox 773"/>
          <p:cNvSpPr txBox="1"/>
          <p:nvPr/>
        </p:nvSpPr>
        <p:spPr>
          <a:xfrm>
            <a:off x="747720" y="3903120"/>
            <a:ext cx="38840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Bias Detection &amp; Mitigation: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Freeform 774"/>
          <p:cNvSpPr/>
          <p:nvPr/>
        </p:nvSpPr>
        <p:spPr>
          <a:xfrm>
            <a:off x="1000080" y="49431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TextBox 775"/>
          <p:cNvSpPr txBox="1"/>
          <p:nvPr/>
        </p:nvSpPr>
        <p:spPr>
          <a:xfrm>
            <a:off x="1204920" y="4403880"/>
            <a:ext cx="46893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No demographic information provided to LLMs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Freeform 776"/>
          <p:cNvSpPr/>
          <p:nvPr/>
        </p:nvSpPr>
        <p:spPr>
          <a:xfrm>
            <a:off x="1000080" y="53434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TextBox 777"/>
          <p:cNvSpPr txBox="1"/>
          <p:nvPr/>
        </p:nvSpPr>
        <p:spPr>
          <a:xfrm>
            <a:off x="1204920" y="4803840"/>
            <a:ext cx="5642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Multiple models tested to identify vendor-specific biases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TextBox 778"/>
          <p:cNvSpPr txBox="1"/>
          <p:nvPr/>
        </p:nvSpPr>
        <p:spPr>
          <a:xfrm>
            <a:off x="1204920" y="5203800"/>
            <a:ext cx="62395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Training examples selected to represent score range diversity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TextBox 77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16658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TextBox 784"/>
          <p:cNvSpPr txBox="1"/>
          <p:nvPr/>
        </p:nvSpPr>
        <p:spPr>
          <a:xfrm>
            <a:off x="747720" y="1300320"/>
            <a:ext cx="720216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990000"/>
                </a:solidFill>
                <a:effectLst/>
                <a:uFillTx/>
                <a:latin typeface=".SFNS-Regular_wdth_opsz240000_GRAD_wght2580000"/>
                <a:ea typeface=".SFNS-Regular_wdth_opsz240000_GRAD_wght2580000"/>
              </a:rPr>
              <a:t>S4: Ethical Considerations (continued)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Freeform 785"/>
          <p:cNvSpPr/>
          <p:nvPr/>
        </p:nvSpPr>
        <p:spPr>
          <a:xfrm>
            <a:off x="1000080" y="270504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TextBox 786"/>
          <p:cNvSpPr txBox="1"/>
          <p:nvPr/>
        </p:nvSpPr>
        <p:spPr>
          <a:xfrm>
            <a:off x="747720" y="2064960"/>
            <a:ext cx="19706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Transparency: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Freeform 787"/>
          <p:cNvSpPr/>
          <p:nvPr/>
        </p:nvSpPr>
        <p:spPr>
          <a:xfrm>
            <a:off x="1000080" y="31050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TextBox 788"/>
          <p:cNvSpPr txBox="1"/>
          <p:nvPr/>
        </p:nvSpPr>
        <p:spPr>
          <a:xfrm>
            <a:off x="1204920" y="2565360"/>
            <a:ext cx="5032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Full prompt disclosure in supplementary materials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Freeform 789"/>
          <p:cNvSpPr/>
          <p:nvPr/>
        </p:nvSpPr>
        <p:spPr>
          <a:xfrm>
            <a:off x="1000080" y="35049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TextBox 790"/>
          <p:cNvSpPr txBox="1"/>
          <p:nvPr/>
        </p:nvSpPr>
        <p:spPr>
          <a:xfrm>
            <a:off x="1204920" y="2965680"/>
            <a:ext cx="5083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Reproducible methodology with open-source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TextBox 791"/>
          <p:cNvSpPr txBox="1"/>
          <p:nvPr/>
        </p:nvSpPr>
        <p:spPr>
          <a:xfrm>
            <a:off x="1204920" y="3365640"/>
            <a:ext cx="5095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Clear communication of limitations to stakeholders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Freeform 792"/>
          <p:cNvSpPr/>
          <p:nvPr/>
        </p:nvSpPr>
        <p:spPr>
          <a:xfrm>
            <a:off x="1000080" y="454320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TextBox 793"/>
          <p:cNvSpPr txBox="1"/>
          <p:nvPr/>
        </p:nvSpPr>
        <p:spPr>
          <a:xfrm>
            <a:off x="747720" y="3903120"/>
            <a:ext cx="378684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1F2328"/>
                </a:solidFill>
                <a:effectLst/>
                <a:uFillTx/>
                <a:latin typeface=".SFNS-Regular_wdth_opsz1A665F_GRAD_wght2580000"/>
                <a:ea typeface=".SFNS-Regular_wdth_opsz1A665F_GRAD_wght2580000"/>
              </a:rPr>
              <a:t>Implementation Guidelines: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Freeform 794"/>
          <p:cNvSpPr/>
          <p:nvPr/>
        </p:nvSpPr>
        <p:spPr>
          <a:xfrm>
            <a:off x="1000080" y="494316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TextBox 795"/>
          <p:cNvSpPr txBox="1"/>
          <p:nvPr/>
        </p:nvSpPr>
        <p:spPr>
          <a:xfrm>
            <a:off x="1204920" y="4403880"/>
            <a:ext cx="4879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Recommend human oversight for final decisions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Freeform 796"/>
          <p:cNvSpPr/>
          <p:nvPr/>
        </p:nvSpPr>
        <p:spPr>
          <a:xfrm>
            <a:off x="1000080" y="534348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TextBox 797"/>
          <p:cNvSpPr txBox="1"/>
          <p:nvPr/>
        </p:nvSpPr>
        <p:spPr>
          <a:xfrm>
            <a:off x="1204920" y="4803840"/>
            <a:ext cx="3241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Regular auditing of LLM outputs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TextBox 798"/>
          <p:cNvSpPr txBox="1"/>
          <p:nvPr/>
        </p:nvSpPr>
        <p:spPr>
          <a:xfrm>
            <a:off x="1204920" y="5203800"/>
            <a:ext cx="54896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Explicit disclosure to applicants if LLMs used in 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TextBox 799"/>
          <p:cNvSpPr txBox="1"/>
          <p:nvPr/>
        </p:nvSpPr>
        <p:spPr>
          <a:xfrm>
            <a:off x="285840" y="6408000"/>
            <a:ext cx="6192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Can LLMs Replace Human Grant Reviewers? | SBU School of Health Professions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TextBox 800"/>
          <p:cNvSpPr txBox="1"/>
          <p:nvPr/>
        </p:nvSpPr>
        <p:spPr>
          <a:xfrm>
            <a:off x="1163700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1981</Words>
  <Application>Microsoft Macintosh PowerPoint</Application>
  <PresentationFormat>Widescreen</PresentationFormat>
  <Paragraphs>330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.SFNS-Regular_wdth_opsz120000_GRAD_wght</vt:lpstr>
      <vt:lpstr>.SFNS-Regular_wdth_opsz140000_GRAD_wght</vt:lpstr>
      <vt:lpstr>.SFNS-Regular_wdth_opsz140000_GRAD_wght2580000</vt:lpstr>
      <vt:lpstr>.SFNS-Regular_wdth_opsz180000_GRAD_wght</vt:lpstr>
      <vt:lpstr>.SFNS-Regular_wdth_opsz180000_GRAD_wght2580000</vt:lpstr>
      <vt:lpstr>.SFNS-Regular_wdth_opsz1A665F_GRAD_wght2580000</vt:lpstr>
      <vt:lpstr>.SFNS-Regular_wdth_opsz240000_GRAD_wght2580000</vt:lpstr>
      <vt:lpstr>.SFNS-Regular_wdth_opsz300000_GRAD_wght2580000</vt:lpstr>
      <vt:lpstr>.SFNS-RegularItalic_opsz180000_YAXS_wght</vt:lpstr>
      <vt:lpstr>Arial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hants williams</cp:lastModifiedBy>
  <cp:revision>12</cp:revision>
  <dcterms:modified xsi:type="dcterms:W3CDTF">2025-10-08T12:42:18Z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