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000000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000000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5">
              <a:lumOff val="-29866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5">
              <a:lumOff val="-29866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5">
              <a:lumOff val="-29866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5">
              <a:lumOff val="-29866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5">
              <a:lumOff val="-29866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5">
              <a:lumOff val="-29866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5">
              <a:lumOff val="-29866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5">
              <a:lumOff val="-29866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5">
              <a:lumOff val="-29866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Hants Williams, Jack Lamberg, Eric Lamberg"/>
          <p:cNvSpPr txBox="1"/>
          <p:nvPr>
            <p:ph type="body" idx="21"/>
          </p:nvPr>
        </p:nvSpPr>
        <p:spPr>
          <a:xfrm>
            <a:off x="1206499" y="9584970"/>
            <a:ext cx="21971002" cy="216940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Hants Williams, Jack Lamberg, Eric Lamberg</a:t>
            </a:r>
          </a:p>
        </p:txBody>
      </p:sp>
      <p:sp>
        <p:nvSpPr>
          <p:cNvPr id="172" name="The Write Stuff: Can Ai Judge Seed Grant Application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pPr/>
            <a:r>
              <a:t>The Write Stuff: Can Ai Judge Seed Grant Applications</a:t>
            </a:r>
            <a:endParaRPr b="0" spc="-24" sz="1200"/>
          </a:p>
        </p:txBody>
      </p:sp>
      <p:sp>
        <p:nvSpPr>
          <p:cNvPr id="173" name="What We Learned Testing AI as a Grant Reviewer"/>
          <p:cNvSpPr txBox="1"/>
          <p:nvPr>
            <p:ph type="subTitle" sz="quarter" idx="1"/>
          </p:nvPr>
        </p:nvSpPr>
        <p:spPr>
          <a:xfrm>
            <a:off x="1206500" y="7926082"/>
            <a:ext cx="21971000" cy="1905001"/>
          </a:xfrm>
          <a:prstGeom prst="rect">
            <a:avLst/>
          </a:prstGeom>
        </p:spPr>
        <p:txBody>
          <a:bodyPr/>
          <a:lstStyle/>
          <a:p>
            <a:pPr/>
            <a:r>
              <a:t>What We Learned Testing AI as a Grant Reviewer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he Problem: Grant Review Takes Tim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pPr/>
            <a:r>
              <a:t>The Problem: Grant Review Takes Time</a:t>
            </a:r>
          </a:p>
        </p:txBody>
      </p:sp>
      <p:sp>
        <p:nvSpPr>
          <p:cNvPr id="176" name="Every grant program faces these challenges:…"/>
          <p:cNvSpPr txBox="1"/>
          <p:nvPr>
            <p:ph type="body" idx="1"/>
          </p:nvPr>
        </p:nvSpPr>
        <p:spPr>
          <a:xfrm>
            <a:off x="1206500" y="3348026"/>
            <a:ext cx="21971000" cy="8256012"/>
          </a:xfrm>
          <a:prstGeom prst="rect">
            <a:avLst/>
          </a:prstGeom>
        </p:spPr>
        <p:txBody>
          <a:bodyPr/>
          <a:lstStyle/>
          <a:p>
            <a:pPr defTabSz="808990">
              <a:spcBef>
                <a:spcPts val="1700"/>
              </a:spcBef>
              <a:defRPr b="1" spc="-53" sz="5390"/>
            </a:pPr>
            <a:r>
              <a:t>Every grant program faces these challenges:</a:t>
            </a:r>
          </a:p>
          <a:p>
            <a:pPr defTabSz="808990">
              <a:spcBef>
                <a:spcPts val="1700"/>
              </a:spcBef>
              <a:defRPr spc="-53" sz="5390"/>
            </a:pPr>
            <a:r>
              <a:t>- Each review takes 2-4 hours of expert time</a:t>
            </a:r>
          </a:p>
          <a:p>
            <a:pPr defTabSz="808990">
              <a:spcBef>
                <a:spcPts val="1700"/>
              </a:spcBef>
              <a:defRPr spc="-53" sz="5390"/>
            </a:pPr>
            <a:r>
              <a:t>- Finding qualified reviewers is difficult</a:t>
            </a:r>
          </a:p>
          <a:p>
            <a:pPr defTabSz="808990">
              <a:spcBef>
                <a:spcPts val="1700"/>
              </a:spcBef>
              <a:defRPr spc="-53" sz="5390"/>
            </a:pPr>
            <a:r>
              <a:t>- Expert reviewers are expensive (or volunteer their time)</a:t>
            </a:r>
          </a:p>
          <a:p>
            <a:pPr defTabSz="808990">
              <a:spcBef>
                <a:spcPts val="1700"/>
              </a:spcBef>
              <a:defRPr spc="-53" sz="5390"/>
            </a:pPr>
            <a:r>
              <a:t>- Delays in getting reviews back</a:t>
            </a:r>
          </a:p>
          <a:p>
            <a:pPr defTabSz="808990">
              <a:spcBef>
                <a:spcPts val="1700"/>
              </a:spcBef>
              <a:defRPr spc="-53" sz="5390"/>
            </a:pPr>
            <a:r>
              <a:t>- Reviewers sometimes disagree significantly</a:t>
            </a:r>
          </a:p>
          <a:p>
            <a:pPr defTabSz="808990">
              <a:spcBef>
                <a:spcPts val="1700"/>
              </a:spcBef>
              <a:defRPr spc="-53" sz="5390"/>
            </a:pPr>
            <a:endParaRPr>
              <a:solidFill>
                <a:srgbClr val="CCCCCC"/>
              </a:solidFill>
            </a:endParaRPr>
          </a:p>
          <a:p>
            <a:pPr defTabSz="808990">
              <a:spcBef>
                <a:spcPts val="1700"/>
              </a:spcBef>
              <a:defRPr b="1" spc="-53" sz="5390">
                <a:solidFill>
                  <a:schemeClr val="accent5">
                    <a:lumOff val="-29866"/>
                  </a:schemeClr>
                </a:solidFill>
              </a:defRPr>
            </a:pPr>
            <a:r>
              <a:t>What if Ai could help?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What are LLMs and Gen Ai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pPr/>
            <a:r>
              <a:t>What are LLMs and Gen Ai?</a:t>
            </a:r>
          </a:p>
        </p:txBody>
      </p:sp>
      <p:sp>
        <p:nvSpPr>
          <p:cNvPr id="179" name="LLM = Large Language Model"/>
          <p:cNvSpPr txBox="1"/>
          <p:nvPr>
            <p:ph type="body" idx="21"/>
          </p:nvPr>
        </p:nvSpPr>
        <p:spPr>
          <a:xfrm>
            <a:off x="1206500" y="3277945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LLM = </a:t>
            </a:r>
            <a:r>
              <a:rPr b="0"/>
              <a:t>Large Language Model</a:t>
            </a:r>
          </a:p>
        </p:txBody>
      </p:sp>
      <p:sp>
        <p:nvSpPr>
          <p:cNvPr id="180" name="Think of it like a very advanced autocomplete:…"/>
          <p:cNvSpPr txBox="1"/>
          <p:nvPr>
            <p:ph type="body" idx="1"/>
          </p:nvPr>
        </p:nvSpPr>
        <p:spPr>
          <a:xfrm>
            <a:off x="1206500" y="6439363"/>
            <a:ext cx="21971000" cy="7405149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Think of it like a very advanced autocomplete:</a:t>
            </a:r>
          </a:p>
          <a:p>
            <a:pPr/>
            <a:r>
              <a:t>- You've used autocomplete when texting ("See you at..." → "the meeting")</a:t>
            </a:r>
          </a:p>
          <a:p>
            <a:pPr/>
            <a:r>
              <a:t>- LLMs do this but with entire paragraphs and complex reasoning</a:t>
            </a:r>
          </a:p>
          <a:p>
            <a:pPr/>
            <a:r>
              <a:t>- They read massive amounts of text and learn patterns</a:t>
            </a:r>
          </a:p>
          <a:p>
            <a:pPr/>
          </a:p>
        </p:txBody>
      </p:sp>
      <p:sp>
        <p:nvSpPr>
          <p:cNvPr id="181" name="Gen Ai = Generative Ai - Ai that creates new content (text, images, etc…)"/>
          <p:cNvSpPr txBox="1"/>
          <p:nvPr/>
        </p:nvSpPr>
        <p:spPr>
          <a:xfrm>
            <a:off x="1206500" y="4331751"/>
            <a:ext cx="21971000" cy="934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784225">
              <a:lnSpc>
                <a:spcPct val="100000"/>
              </a:lnSpc>
              <a:spcBef>
                <a:spcPts val="0"/>
              </a:spcBef>
              <a:defRPr b="1" sz="5225"/>
            </a:pPr>
            <a:r>
              <a:t>Gen Ai = </a:t>
            </a:r>
            <a:r>
              <a:rPr b="0"/>
              <a:t>Generative Ai - Ai that creates new content (text, images, etc…)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How Generative AI works:…"/>
          <p:cNvSpPr txBox="1"/>
          <p:nvPr/>
        </p:nvSpPr>
        <p:spPr>
          <a:xfrm>
            <a:off x="1170015" y="3821825"/>
            <a:ext cx="19017807" cy="7371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1800"/>
              </a:spcBef>
              <a:defRPr b="1" spc="-55" sz="5500"/>
            </a:pPr>
            <a:r>
              <a:t>How Generative AI works: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spc="-55" sz="5500"/>
            </a:pPr>
            <a:r>
              <a:t>- Trained on billions of documents (books, articles, websites)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spc="-55" sz="5500"/>
            </a:pPr>
            <a:r>
              <a:t>- Generates original responses based on what it learned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spc="-55" sz="5500"/>
            </a:pPr>
            <a:r>
              <a:t>- Can read and analyze new documents it's never seen before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spc="-55" sz="5500"/>
            </a:pPr>
          </a:p>
          <a:p>
            <a:pPr defTabSz="825500">
              <a:lnSpc>
                <a:spcPct val="100000"/>
              </a:lnSpc>
              <a:spcBef>
                <a:spcPts val="1800"/>
              </a:spcBef>
              <a:defRPr b="1" spc="-55" sz="5500"/>
            </a:pPr>
            <a:r>
              <a:t>Examples you might know:</a:t>
            </a:r>
          </a:p>
          <a:p>
            <a:pPr defTabSz="825500">
              <a:lnSpc>
                <a:spcPct val="100000"/>
              </a:lnSpc>
              <a:spcBef>
                <a:spcPts val="1800"/>
              </a:spcBef>
              <a:defRPr spc="-55" sz="5500"/>
            </a:pPr>
            <a:r>
              <a:t>- ChatGPT (OpenAI), Google Gemini, Claude (Anthropic)</a:t>
            </a:r>
          </a:p>
        </p:txBody>
      </p:sp>
      <p:sp>
        <p:nvSpPr>
          <p:cNvPr id="184" name="What are LLMs and Gen Ai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pPr/>
            <a:r>
              <a:t>What are LLMs and Gen Ai?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What we tested: Can LLMs review grants like a human expert?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defTabSz="2389572">
              <a:defRPr spc="-227" sz="11368"/>
            </a:pPr>
            <a:r>
              <a:t>What we tested: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Can LLMs review grants like a human expert?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Our study: A simple te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pPr/>
            <a:r>
              <a:t>Our study: A simple test</a:t>
            </a:r>
          </a:p>
        </p:txBody>
      </p:sp>
      <p:sp>
        <p:nvSpPr>
          <p:cNvPr id="189" name="We gave the same 3 grant applications to:…"/>
          <p:cNvSpPr txBox="1"/>
          <p:nvPr>
            <p:ph type="body" idx="1"/>
          </p:nvPr>
        </p:nvSpPr>
        <p:spPr>
          <a:xfrm>
            <a:off x="1206500" y="3253239"/>
            <a:ext cx="21971000" cy="8256012"/>
          </a:xfrm>
          <a:prstGeom prst="rect">
            <a:avLst/>
          </a:prstGeom>
        </p:spPr>
        <p:txBody>
          <a:bodyPr/>
          <a:lstStyle/>
          <a:p>
            <a:pPr defTabSz="495300">
              <a:spcBef>
                <a:spcPts val="1000"/>
              </a:spcBef>
              <a:defRPr b="1" spc="-33" sz="3300"/>
            </a:pPr>
            <a:r>
              <a:t>We gave the same 3 grant applications to:</a:t>
            </a:r>
          </a:p>
          <a:p>
            <a:pPr defTabSz="495300">
              <a:spcBef>
                <a:spcPts val="1000"/>
              </a:spcBef>
              <a:defRPr spc="-33" sz="3300"/>
            </a:pPr>
            <a:r>
              <a:t>- 4 human expert reviewers (12 total reviews)</a:t>
            </a:r>
          </a:p>
          <a:p>
            <a:pPr defTabSz="495300">
              <a:spcBef>
                <a:spcPts val="1000"/>
              </a:spcBef>
              <a:defRPr spc="-33" sz="3300"/>
            </a:pPr>
            <a:r>
              <a:t>- 3 different AI systems, each tested 4 different ways (108 AI reviews)</a:t>
            </a:r>
          </a:p>
          <a:p>
            <a:pPr defTabSz="495300">
              <a:spcBef>
                <a:spcPts val="1000"/>
              </a:spcBef>
              <a:defRPr spc="-33" sz="3300"/>
            </a:pPr>
          </a:p>
          <a:p>
            <a:pPr defTabSz="495300">
              <a:spcBef>
                <a:spcPts val="1000"/>
              </a:spcBef>
              <a:defRPr b="1" spc="-33" sz="3300"/>
            </a:pPr>
            <a:r>
              <a:t>Same scoring criteria for everyone (100 points total):</a:t>
            </a:r>
          </a:p>
          <a:p>
            <a:pPr defTabSz="495300">
              <a:spcBef>
                <a:spcPts val="1000"/>
              </a:spcBef>
              <a:defRPr spc="-33" sz="3300"/>
            </a:pPr>
            <a:r>
              <a:t>- Innovation &amp; Impact (30 pts)</a:t>
            </a:r>
          </a:p>
          <a:p>
            <a:pPr defTabSz="495300">
              <a:spcBef>
                <a:spcPts val="1000"/>
              </a:spcBef>
              <a:defRPr spc="-33" sz="3300"/>
            </a:pPr>
            <a:r>
              <a:t>- Research Methods (30 pts)</a:t>
            </a:r>
          </a:p>
          <a:p>
            <a:pPr defTabSz="495300">
              <a:spcBef>
                <a:spcPts val="1000"/>
              </a:spcBef>
              <a:defRPr spc="-33" sz="3300"/>
            </a:pPr>
            <a:r>
              <a:t>- Team Qualifications (10 pts)</a:t>
            </a:r>
          </a:p>
          <a:p>
            <a:pPr defTabSz="495300">
              <a:spcBef>
                <a:spcPts val="1000"/>
              </a:spcBef>
              <a:defRPr spc="-33" sz="3300"/>
            </a:pPr>
            <a:r>
              <a:t>- Funding Potential (10 pts)</a:t>
            </a:r>
          </a:p>
          <a:p>
            <a:pPr defTabSz="495300">
              <a:spcBef>
                <a:spcPts val="1000"/>
              </a:spcBef>
              <a:defRPr spc="-33" sz="3300"/>
            </a:pPr>
            <a:r>
              <a:t>- Budget (10 pts)</a:t>
            </a:r>
          </a:p>
          <a:p>
            <a:pPr defTabSz="495300">
              <a:spcBef>
                <a:spcPts val="1000"/>
              </a:spcBef>
              <a:defRPr spc="-33" sz="3300"/>
            </a:pPr>
            <a:r>
              <a:t>- Writing Quality (10 pts)</a:t>
            </a:r>
          </a:p>
          <a:p>
            <a:pPr defTabSz="495300">
              <a:spcBef>
                <a:spcPts val="1000"/>
              </a:spcBef>
              <a:defRPr spc="-33" sz="3300"/>
            </a:pPr>
          </a:p>
          <a:p>
            <a:pPr defTabSz="495300">
              <a:spcBef>
                <a:spcPts val="1000"/>
              </a:spcBef>
              <a:defRPr spc="-33" sz="3300"/>
            </a:pPr>
            <a:r>
              <a:rPr b="1"/>
              <a:t>Along with a final question:</a:t>
            </a:r>
            <a:r>
              <a:t> fund, fund with revisions, or do not fund </a:t>
            </a:r>
          </a:p>
        </p:txBody>
      </p:sp>
      <p:sp>
        <p:nvSpPr>
          <p:cNvPr id="190" name="Then we compared: Do AI and humans agree?"/>
          <p:cNvSpPr txBox="1"/>
          <p:nvPr/>
        </p:nvSpPr>
        <p:spPr>
          <a:xfrm>
            <a:off x="4859639" y="12235189"/>
            <a:ext cx="14281976" cy="201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1800"/>
              </a:spcBef>
              <a:defRPr i="1" spc="-55" sz="5500"/>
            </a:lvl1pPr>
          </a:lstStyle>
          <a:p>
            <a:pPr/>
            <a:r>
              <a:t>Then we compared: Do AI and humans agree?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LLM Prompt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LLM Prompt:</a:t>
            </a:r>
          </a:p>
        </p:txBody>
      </p:sp>
      <p:sp>
        <p:nvSpPr>
          <p:cNvPr id="193" name="To give detailed instructions to LLM like how you would to a huma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0"/>
            </a:lvl1pPr>
          </a:lstStyle>
          <a:p>
            <a:pPr/>
            <a:r>
              <a:t>To give detailed instructions to LLM like how you would to a human</a:t>
            </a:r>
          </a:p>
        </p:txBody>
      </p:sp>
      <p:sp>
        <p:nvSpPr>
          <p:cNvPr id="194" name="You are an expert grant reviewer assessing a School of Health Professions Research Seed Grant application.  Instructions - Evaluate the application against the six criteria listed below. - Assign a numeric score as a whole integer for each criterion base"/>
          <p:cNvSpPr txBox="1"/>
          <p:nvPr/>
        </p:nvSpPr>
        <p:spPr>
          <a:xfrm>
            <a:off x="873922" y="3788168"/>
            <a:ext cx="23046177" cy="9586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/>
            </a:lvl1pPr>
          </a:lstStyle>
          <a:p>
            <a:pPr/>
            <a:r>
              <a:t>You are an expert grant reviewer assessing a School of Health Professions Research Seed Grant application.  Instructions - Evaluate the application against the six criteria listed below. - Assign a numeric score as a whole integer for each criterion based on the scoring scale. - Use the same definitions and point ranges as human reviewers. - Provide 2–3 sentences of rationale for each score. - Conclude with an Overall Recommendation: “Fund”, “Fund with Revisions”, or “Do Not Fund.”  Scoring Scale (Whole Integers Only) - Exemplary (Full Points Range) – Fully meets and exceeds expectations; compelling evidence for success. - Adequate (Upper-Mid Range) – Meets most expectations; minor gaps. - Minimal Evidence (Mid-Lower Range) – Major gaps; insufficient support. - Insufficient Evidence (Lowest Range) – Does not meet expectations; unclear or unsupported.  Criteria with Specific Point Ranges IMPORTANT: Each criterion has different maximum points. Follow the exact ranges below: 1. Innovation and Impact (Why &amp; What) – Maximum 30 points - Novelty, originality, significance, and potential to create meaningful change - Exemplary: 27-30, Adequate: 21-26, Minimal: 15-20, Insufficient: 0-14 2. Methodological Approach and Feasibility (How &amp; When) – Maximum 30 points - Quality, rigor, appropriateness, feasibility, and risk management - Exemplary: 27-30, Adequate: 21-26, Minimal: 15-20, Insufficient: 0-14 3. Strength of Research Team (Who) – Maximum 10 points - Qualifications, track record, and fit to project - Exemplary: 9-10, Adequate: 7-8, Minimal: 5-6, Insufficient: 0-4 4. Potential to Attract External Funding – Maximum 10 points - Likelihood to lead to competitive grants and alignment with funders - Exemplary: 9-10, Adequate: 7-8, Minimal: 5-6, Insufficient: 0-4 5. Clarity and Efficiency of Budget – Maximum 10 points - Alignment of spending to aims, cost-effectiveness, and eligibility - Exemplary: 9-10, Adequate: 7-8, Minimal: 5-6, Insufficient: 0-4 6. Overall Presentation (Writing, Clarity, Flow) – Maximum 10 points - Quality of writing, organization, and ease of comprehension - Exemplary: 9-10, Adequate: 7-8, Minimal: 5-6, Insufficient: 0-4 Total Maximum Score: 100 points  Output Format (JSON Example) ```json { "scores": [ { "Criterion": "Innovation and Impact", "Score": 29, "Rationale": "The proposal introduces a novel approach to addressing clinical workflow inefficiencies, with a clear rationale for impact. Potential for significant advancement is high." }, { "Criterion": "Methodological Approach and Feasibility", "Score": 27, "Rationale": "The methods are well-aligned with the aims and supported by a clear, realistic timeline. Some contingencies could be more detailed." }, { "Criterion": "Strength of Research Team", "Score": 8, "Rationale": "The team has relevant expertise but could benefit from additional specialized skills in data analysis." }, { "Criterion": "Potential to Attract External Funding", "Score": 9, "Rationale": "Strong alignment with NIH priorities and clear pathway to larger studies make this highly competitive for external funding." }, { "Criterion": "Clarity and Efficiency of Budget", "Score": 10, "Rationale": "Budget is well-justified, cost-effective, and directly supports the proposed aims without unnecessary expenses." }, { "Criterion": "Overall Presentation (Writing, Clarity, Flow)", "Score": 7, "Rationale": "Well-written and organized overall, though some sections could be clearer in their presentation." } ], "OverallRecommendation": "Fund" } ```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Finding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pPr/>
            <a:r>
              <a:t>Finding 1 </a:t>
            </a:r>
          </a:p>
        </p:txBody>
      </p:sp>
      <p:sp>
        <p:nvSpPr>
          <p:cNvPr id="197" name="LLM Scores Match Human Score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LLM Scores Match Human Scores</a:t>
            </a:r>
          </a:p>
        </p:txBody>
      </p:sp>
      <p:sp>
        <p:nvSpPr>
          <p:cNvPr id="198" name="Average (mean) Scores (out of 100 points):…"/>
          <p:cNvSpPr txBox="1"/>
          <p:nvPr>
            <p:ph type="body" idx="1"/>
          </p:nvPr>
        </p:nvSpPr>
        <p:spPr>
          <a:xfrm>
            <a:off x="1206500" y="4248504"/>
            <a:ext cx="17806571" cy="825601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Average (mean) Scores (out of 100 points):</a:t>
            </a:r>
          </a:p>
          <a:p>
            <a:pPr/>
            <a:r>
              <a:t>- Human reviewers: 79 points (range: 61-99)</a:t>
            </a:r>
          </a:p>
          <a:p>
            <a:pPr/>
            <a:r>
              <a:t>- AI reviewers: 80 points (range: 62-97)</a:t>
            </a:r>
          </a:p>
          <a:p>
            <a:pPr/>
            <a:r>
              <a:t>- Difference: Less than 1 point </a:t>
            </a:r>
          </a:p>
        </p:txBody>
      </p:sp>
      <p:grpSp>
        <p:nvGrpSpPr>
          <p:cNvPr id="201" name="Group"/>
          <p:cNvGrpSpPr/>
          <p:nvPr/>
        </p:nvGrpSpPr>
        <p:grpSpPr>
          <a:xfrm>
            <a:off x="2425476" y="9928168"/>
            <a:ext cx="18854102" cy="2555459"/>
            <a:chOff x="0" y="0"/>
            <a:chExt cx="18854100" cy="2555458"/>
          </a:xfrm>
        </p:grpSpPr>
        <p:sp>
          <p:nvSpPr>
            <p:cNvPr id="199" name="What this means: Ai gave similar scores to human experts. The Ai was not too harsh or too generous, it evaluated the grants at the same level as humans."/>
            <p:cNvSpPr/>
            <p:nvPr/>
          </p:nvSpPr>
          <p:spPr>
            <a:xfrm>
              <a:off x="151776" y="31750"/>
              <a:ext cx="18702325" cy="2491959"/>
            </a:xfrm>
            <a:prstGeom prst="rect">
              <a:avLst/>
            </a:prstGeom>
            <a:solidFill>
              <a:srgbClr val="FFF3CD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lnSpc>
                  <a:spcPct val="100000"/>
                </a:lnSpc>
                <a:spcBef>
                  <a:spcPts val="0"/>
                </a:spcBef>
                <a:defRPr sz="41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 Neue"/>
                </a:rPr>
                <a:t>What this means: </a:t>
              </a:r>
              <a:r>
                <a:t>Ai gave similar scores to human experts. The Ai was not too harsh or too generous, it evaluated the grants at the same level as humans.</a:t>
              </a:r>
            </a:p>
          </p:txBody>
        </p:sp>
        <p:sp>
          <p:nvSpPr>
            <p:cNvPr id="200" name="Rectangle"/>
            <p:cNvSpPr/>
            <p:nvPr/>
          </p:nvSpPr>
          <p:spPr>
            <a:xfrm>
              <a:off x="0" y="0"/>
              <a:ext cx="146254" cy="2555459"/>
            </a:xfrm>
            <a:prstGeom prst="rect">
              <a:avLst/>
            </a:prstGeom>
            <a:solidFill>
              <a:srgbClr val="9901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slide5_human_vs_llm_overall.png" descr="slide5_human_vs_llm_overall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5810" y="352391"/>
            <a:ext cx="21832380" cy="13011218"/>
          </a:xfrm>
          <a:prstGeom prst="rect">
            <a:avLst/>
          </a:prstGeom>
          <a:ln w="63500">
            <a:solidFill>
              <a:schemeClr val="accent5">
                <a:lumOff val="-29866"/>
              </a:schemeClr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slide6_criteria_comparison.png" descr="slide6_criteria_comparis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69427" y="295538"/>
            <a:ext cx="16245146" cy="13124924"/>
          </a:xfrm>
          <a:prstGeom prst="rect">
            <a:avLst/>
          </a:prstGeom>
          <a:ln w="63500">
            <a:solidFill>
              <a:schemeClr val="accent5">
                <a:lumOff val="-29866"/>
              </a:schemeClr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rok_alignment_superiority.png" descr="grok_alignment_superiority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7245" y="0"/>
            <a:ext cx="2360951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AI is More Consistent"/>
          <p:cNvSpPr txBox="1"/>
          <p:nvPr>
            <p:ph type="body" idx="21"/>
          </p:nvPr>
        </p:nvSpPr>
        <p:spPr>
          <a:xfrm>
            <a:off x="1206500" y="2355185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AI is More Consistent</a:t>
            </a:r>
          </a:p>
        </p:txBody>
      </p:sp>
      <p:sp>
        <p:nvSpPr>
          <p:cNvPr id="210" name="How much reviewers disagreed with each other:…"/>
          <p:cNvSpPr txBox="1"/>
          <p:nvPr>
            <p:ph type="body" idx="1"/>
          </p:nvPr>
        </p:nvSpPr>
        <p:spPr>
          <a:xfrm>
            <a:off x="1235787" y="4507194"/>
            <a:ext cx="20380409" cy="8256012"/>
          </a:xfrm>
          <a:prstGeom prst="rect">
            <a:avLst/>
          </a:prstGeom>
        </p:spPr>
        <p:txBody>
          <a:bodyPr/>
          <a:lstStyle/>
          <a:p>
            <a:pPr>
              <a:defRPr u="sng"/>
            </a:pPr>
            <a:r>
              <a:t>How much reviewers disagreed with each other:</a:t>
            </a:r>
          </a:p>
          <a:p>
            <a:pPr lvl="3"/>
            <a:r>
              <a:t>- Human reviewers varied by 11 points on average</a:t>
            </a:r>
          </a:p>
          <a:p>
            <a:pPr lvl="3"/>
            <a:r>
              <a:t>- AI reviewers varied by 7 points on average</a:t>
            </a:r>
          </a:p>
          <a:p>
            <a:pPr lvl="3"/>
            <a:r>
              <a:t>- AI was 39% more consistent</a:t>
            </a:r>
          </a:p>
        </p:txBody>
      </p:sp>
      <p:grpSp>
        <p:nvGrpSpPr>
          <p:cNvPr id="213" name="Group"/>
          <p:cNvGrpSpPr/>
          <p:nvPr/>
        </p:nvGrpSpPr>
        <p:grpSpPr>
          <a:xfrm>
            <a:off x="1998941" y="10133178"/>
            <a:ext cx="18854101" cy="2555459"/>
            <a:chOff x="0" y="0"/>
            <a:chExt cx="18854100" cy="2555458"/>
          </a:xfrm>
        </p:grpSpPr>
        <p:sp>
          <p:nvSpPr>
            <p:cNvPr id="211" name="What this means: Relates to issue of how different reviewers sometimes give very different scores. AI is more consistent: your grant is less likely to get a very different score based on which AI reviews it."/>
            <p:cNvSpPr/>
            <p:nvPr/>
          </p:nvSpPr>
          <p:spPr>
            <a:xfrm>
              <a:off x="151776" y="31750"/>
              <a:ext cx="18702325" cy="2491959"/>
            </a:xfrm>
            <a:prstGeom prst="rect">
              <a:avLst/>
            </a:prstGeom>
            <a:solidFill>
              <a:srgbClr val="FFF3CD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lnSpc>
                  <a:spcPct val="100000"/>
                </a:lnSpc>
                <a:spcBef>
                  <a:spcPts val="0"/>
                </a:spcBef>
                <a:defRPr sz="41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 Neue"/>
                </a:rPr>
                <a:t>What this means: </a:t>
              </a:r>
              <a:r>
                <a:t>Relates to issue of how different reviewers sometimes give very different scores. AI is more consistent: your grant is less likely to get a very different score based on which AI reviews it.</a:t>
              </a:r>
            </a:p>
          </p:txBody>
        </p:sp>
        <p:sp>
          <p:nvSpPr>
            <p:cNvPr id="212" name="Rectangle"/>
            <p:cNvSpPr/>
            <p:nvPr/>
          </p:nvSpPr>
          <p:spPr>
            <a:xfrm>
              <a:off x="0" y="0"/>
              <a:ext cx="146254" cy="2555459"/>
            </a:xfrm>
            <a:prstGeom prst="rect">
              <a:avLst/>
            </a:prstGeom>
            <a:solidFill>
              <a:srgbClr val="9901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214" name="Finding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pPr/>
            <a:r>
              <a:t>Finding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llm_model_consistency_comparison.png" descr="llm_model_consistency_comparis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0145" y="0"/>
            <a:ext cx="2364371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Finding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pPr/>
            <a:r>
              <a:t>Finding 3 </a:t>
            </a:r>
          </a:p>
        </p:txBody>
      </p:sp>
      <p:sp>
        <p:nvSpPr>
          <p:cNvPr id="219" name="AI and Humans differ in there final determination - Ai is more optimistic"/>
          <p:cNvSpPr txBox="1"/>
          <p:nvPr>
            <p:ph type="body" idx="21"/>
          </p:nvPr>
        </p:nvSpPr>
        <p:spPr>
          <a:xfrm>
            <a:off x="1206500" y="278298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17244">
              <a:defRPr b="0" sz="5445"/>
            </a:lvl1pPr>
          </a:lstStyle>
          <a:p>
            <a:pPr>
              <a:defRPr b="1"/>
            </a:pPr>
            <a:r>
              <a:rPr b="0"/>
              <a:t>AI and Humans differ in there final determination - Ai is more optimistic</a:t>
            </a:r>
          </a:p>
        </p:txBody>
      </p:sp>
      <p:grpSp>
        <p:nvGrpSpPr>
          <p:cNvPr id="222" name="Group"/>
          <p:cNvGrpSpPr/>
          <p:nvPr/>
        </p:nvGrpSpPr>
        <p:grpSpPr>
          <a:xfrm>
            <a:off x="1341851" y="10426049"/>
            <a:ext cx="18854102" cy="2555460"/>
            <a:chOff x="0" y="0"/>
            <a:chExt cx="18854100" cy="2555458"/>
          </a:xfrm>
        </p:grpSpPr>
        <p:sp>
          <p:nvSpPr>
            <p:cNvPr id="220" name="What this means: Even when AI gives similar scores, it recommends &quot;fund with revisions&quot; much more often. AI seems more optimistic that problems can be fixed."/>
            <p:cNvSpPr/>
            <p:nvPr/>
          </p:nvSpPr>
          <p:spPr>
            <a:xfrm>
              <a:off x="151776" y="31750"/>
              <a:ext cx="18702325" cy="2491959"/>
            </a:xfrm>
            <a:prstGeom prst="rect">
              <a:avLst/>
            </a:prstGeom>
            <a:solidFill>
              <a:srgbClr val="FFF3CD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lnSpc>
                  <a:spcPct val="100000"/>
                </a:lnSpc>
                <a:spcBef>
                  <a:spcPts val="0"/>
                </a:spcBef>
                <a:defRPr sz="41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 Neue"/>
                </a:rPr>
                <a:t>What this means: </a:t>
              </a:r>
              <a:r>
                <a:t>Even when AI gives similar scores, it recommends "fund with revisions" much more often. AI seems more optimistic that problems can be fixed.</a:t>
              </a:r>
            </a:p>
            <a:p>
              <a:pPr defTabSz="825500">
                <a:lnSpc>
                  <a:spcPct val="100000"/>
                </a:lnSpc>
                <a:spcBef>
                  <a:spcPts val="0"/>
                </a:spcBef>
                <a:defRPr sz="41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21" name="Rectangle"/>
            <p:cNvSpPr/>
            <p:nvPr/>
          </p:nvSpPr>
          <p:spPr>
            <a:xfrm>
              <a:off x="0" y="0"/>
              <a:ext cx="146254" cy="2555459"/>
            </a:xfrm>
            <a:prstGeom prst="rect">
              <a:avLst/>
            </a:prstGeom>
            <a:solidFill>
              <a:srgbClr val="9901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graphicFrame>
        <p:nvGraphicFramePr>
          <p:cNvPr id="223" name="Table 1"/>
          <p:cNvGraphicFramePr/>
          <p:nvPr/>
        </p:nvGraphicFramePr>
        <p:xfrm>
          <a:off x="3054403" y="4776680"/>
          <a:ext cx="16741035" cy="460315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576111"/>
                <a:gridCol w="5576111"/>
                <a:gridCol w="5576111"/>
              </a:tblGrid>
              <a:tr h="114761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Recommendation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Human Reviewers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AI Reviewers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47612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Fund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3200">
                          <a:solidFill>
                            <a:schemeClr val="accent5">
                              <a:lumOff val="-29866"/>
                            </a:schemeClr>
                          </a:solidFill>
                        </a:rPr>
                        <a:t>33%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19%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47612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Do Not Fund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3200">
                          <a:solidFill>
                            <a:schemeClr val="accent5">
                              <a:lumOff val="-29866"/>
                            </a:schemeClr>
                          </a:solidFill>
                        </a:rPr>
                        <a:t>42%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20%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147612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Fund with Revisions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25%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3200">
                          <a:solidFill>
                            <a:schemeClr val="accent5">
                              <a:lumOff val="-29866"/>
                            </a:schemeClr>
                          </a:solidFill>
                        </a:rPr>
                        <a:t>61%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Finding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pPr/>
            <a:r>
              <a:t>Finding 4 </a:t>
            </a:r>
          </a:p>
        </p:txBody>
      </p:sp>
      <p:sp>
        <p:nvSpPr>
          <p:cNvPr id="226" name="Training Data with AI Matters"/>
          <p:cNvSpPr txBox="1"/>
          <p:nvPr>
            <p:ph type="body" idx="21"/>
          </p:nvPr>
        </p:nvSpPr>
        <p:spPr>
          <a:xfrm>
            <a:off x="1206500" y="2711580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Training Data with AI Matters</a:t>
            </a:r>
          </a:p>
        </p:txBody>
      </p:sp>
      <p:grpSp>
        <p:nvGrpSpPr>
          <p:cNvPr id="229" name="Group"/>
          <p:cNvGrpSpPr/>
          <p:nvPr/>
        </p:nvGrpSpPr>
        <p:grpSpPr>
          <a:xfrm>
            <a:off x="1517574" y="10689634"/>
            <a:ext cx="18854102" cy="2555459"/>
            <a:chOff x="0" y="0"/>
            <a:chExt cx="18854100" cy="2555458"/>
          </a:xfrm>
        </p:grpSpPr>
        <p:sp>
          <p:nvSpPr>
            <p:cNvPr id="227" name="What this means: Like training a new reviewer, AI needs good examples to calibrate properly. Multiple examples work better than strict instructions."/>
            <p:cNvSpPr/>
            <p:nvPr/>
          </p:nvSpPr>
          <p:spPr>
            <a:xfrm>
              <a:off x="151776" y="31750"/>
              <a:ext cx="18702325" cy="2491959"/>
            </a:xfrm>
            <a:prstGeom prst="rect">
              <a:avLst/>
            </a:prstGeom>
            <a:solidFill>
              <a:srgbClr val="FFF3CD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lnSpc>
                  <a:spcPct val="100000"/>
                </a:lnSpc>
                <a:spcBef>
                  <a:spcPts val="0"/>
                </a:spcBef>
                <a:defRPr sz="41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 Neue"/>
                </a:rPr>
                <a:t>What this means: </a:t>
              </a:r>
              <a:r>
                <a:t>Like training a new reviewer, AI needs good examples to calibrate properly. Multiple examples work better than strict instructions.</a:t>
              </a:r>
            </a:p>
            <a:p>
              <a:pPr defTabSz="825500">
                <a:lnSpc>
                  <a:spcPct val="100000"/>
                </a:lnSpc>
                <a:spcBef>
                  <a:spcPts val="0"/>
                </a:spcBef>
                <a:defRPr sz="41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28" name="Rectangle"/>
            <p:cNvSpPr/>
            <p:nvPr/>
          </p:nvSpPr>
          <p:spPr>
            <a:xfrm>
              <a:off x="0" y="0"/>
              <a:ext cx="146254" cy="2555459"/>
            </a:xfrm>
            <a:prstGeom prst="rect">
              <a:avLst/>
            </a:prstGeom>
            <a:solidFill>
              <a:srgbClr val="9901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230" name="1. No training → AI scored 4.6 points higher than humans…"/>
          <p:cNvSpPr txBox="1"/>
          <p:nvPr/>
        </p:nvSpPr>
        <p:spPr>
          <a:xfrm>
            <a:off x="1706375" y="5202111"/>
            <a:ext cx="19350229" cy="5753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/>
              <a:t>1. No training</a:t>
            </a:r>
            <a:r>
              <a:t> → AI scored 4.6 points higher than humans</a:t>
            </a:r>
          </a:p>
          <a:p>
            <a:pPr/>
            <a:r>
              <a:rPr b="1"/>
              <a:t>2. Showed 1 example review</a:t>
            </a:r>
            <a:r>
              <a:t> → AI scored 5.9 points higher</a:t>
            </a:r>
          </a:p>
          <a:p>
            <a:pPr/>
            <a:r>
              <a:rPr b="1"/>
              <a:t>3. Showed 4 example reviews</a:t>
            </a:r>
            <a:r>
              <a:t> → AI scored only 1.5 points higher </a:t>
            </a:r>
          </a:p>
          <a:p>
            <a:pPr/>
            <a:r>
              <a:rPr b="1"/>
              <a:t>4. No training, But told AI to be stricter</a:t>
            </a:r>
            <a:r>
              <a:t> → AI scored 6.6 points lower</a:t>
            </a:r>
          </a:p>
        </p:txBody>
      </p:sp>
      <p:sp>
        <p:nvSpPr>
          <p:cNvPr id="231" name="We tested 4 different ways to &quot;train&quot; the AI:"/>
          <p:cNvSpPr txBox="1"/>
          <p:nvPr/>
        </p:nvSpPr>
        <p:spPr>
          <a:xfrm>
            <a:off x="1120632" y="3817939"/>
            <a:ext cx="1183508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We tested 4 different ways to "train" the AI: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slide7_experiment_comparison.png" descr="slide7_experiment_comparis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0145" y="0"/>
            <a:ext cx="2364371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What Ai Can do well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pPr/>
            <a:r>
              <a:t>What Ai Can do well: </a:t>
            </a:r>
          </a:p>
        </p:txBody>
      </p:sp>
      <p:sp>
        <p:nvSpPr>
          <p:cNvPr id="236" name="✅  Good uses for Ai in grant review process:"/>
          <p:cNvSpPr txBox="1"/>
          <p:nvPr>
            <p:ph type="body" idx="21"/>
          </p:nvPr>
        </p:nvSpPr>
        <p:spPr>
          <a:xfrm>
            <a:off x="1206500" y="307524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67715">
              <a:defRPr b="0" sz="5115"/>
            </a:lvl1pPr>
          </a:lstStyle>
          <a:p>
            <a:pPr/>
            <a:r>
              <a:t>✅  Good uses for Ai in grant review process:</a:t>
            </a:r>
          </a:p>
        </p:txBody>
      </p:sp>
      <p:sp>
        <p:nvSpPr>
          <p:cNvPr id="237" name="- First screening: AI can quickly identify strong vs. weak proposals…"/>
          <p:cNvSpPr txBox="1"/>
          <p:nvPr>
            <p:ph type="body" idx="1"/>
          </p:nvPr>
        </p:nvSpPr>
        <p:spPr>
          <a:xfrm>
            <a:off x="942915" y="4570663"/>
            <a:ext cx="21971001" cy="8256012"/>
          </a:xfrm>
          <a:prstGeom prst="rect">
            <a:avLst/>
          </a:prstGeom>
        </p:spPr>
        <p:txBody>
          <a:bodyPr/>
          <a:lstStyle/>
          <a:p>
            <a:pPr defTabSz="742950">
              <a:spcBef>
                <a:spcPts val="1600"/>
              </a:spcBef>
              <a:defRPr spc="-49" sz="4950"/>
            </a:pPr>
            <a:r>
              <a:t>-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 First screening</a:t>
            </a:r>
            <a:r>
              <a:t>: AI can quickly identify strong vs. weak proposals</a:t>
            </a:r>
          </a:p>
          <a:p>
            <a:pPr defTabSz="742950">
              <a:spcBef>
                <a:spcPts val="1600"/>
              </a:spcBef>
              <a:defRPr spc="-49" sz="4950"/>
            </a:pPr>
            <a:r>
              <a:t>-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Consistency checks</a:t>
            </a:r>
            <a:r>
              <a:t>: Compare if your reviewers are aligned</a:t>
            </a:r>
          </a:p>
          <a:p>
            <a:pPr defTabSz="742950">
              <a:spcBef>
                <a:spcPts val="1600"/>
              </a:spcBef>
              <a:defRPr spc="-49" sz="4950"/>
            </a:pPr>
            <a:r>
              <a:t>-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Detailed feedback</a:t>
            </a:r>
            <a:r>
              <a:t>: AI writes thorough critiques of each section</a:t>
            </a:r>
          </a:p>
          <a:p>
            <a:pPr defTabSz="742950">
              <a:spcBef>
                <a:spcPts val="1600"/>
              </a:spcBef>
              <a:defRPr spc="-49" sz="4950"/>
            </a:pPr>
            <a:r>
              <a:t>-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Reduce workload</a:t>
            </a:r>
            <a:r>
              <a:t>: Handle initial reviews, save expert time for final decisions</a:t>
            </a:r>
          </a:p>
          <a:p>
            <a:pPr defTabSz="742950">
              <a:spcBef>
                <a:spcPts val="1600"/>
              </a:spcBef>
              <a:defRPr spc="-49" sz="4950"/>
            </a:pPr>
            <a:r>
              <a:t>-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Speed</a:t>
            </a:r>
            <a:r>
              <a:t>: AI reviews 100+ grants in minutes, not weeks</a:t>
            </a:r>
          </a:p>
          <a:p>
            <a:pPr defTabSz="742950">
              <a:spcBef>
                <a:spcPts val="1600"/>
              </a:spcBef>
              <a:defRPr spc="-49" sz="4950"/>
            </a:pPr>
          </a:p>
          <a:p>
            <a:pPr defTabSz="742950">
              <a:spcBef>
                <a:spcPts val="1600"/>
              </a:spcBef>
              <a:defRPr spc="-49" sz="4950"/>
            </a:pPr>
            <a:r>
              <a:rPr b="1"/>
              <a:t>Cost savings:</a:t>
            </a:r>
            <a:r>
              <a:t> AI review costs ~$0.50 per grant vs. $200-500 for human expert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What Ai Cannot Repl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pPr/>
            <a:r>
              <a:t>What Ai Cannot Replace </a:t>
            </a:r>
          </a:p>
        </p:txBody>
      </p:sp>
      <p:sp>
        <p:nvSpPr>
          <p:cNvPr id="240" name="…yet? ❌ Humans still needed for:"/>
          <p:cNvSpPr txBox="1"/>
          <p:nvPr>
            <p:ph type="body" idx="21"/>
          </p:nvPr>
        </p:nvSpPr>
        <p:spPr>
          <a:xfrm>
            <a:off x="1206500" y="3075242"/>
            <a:ext cx="21971001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67715">
              <a:defRPr b="0" sz="5115"/>
            </a:lvl1pPr>
          </a:lstStyle>
          <a:p>
            <a:pPr/>
            <a:r>
              <a:t>…yet? ❌ Humans still needed for:</a:t>
            </a:r>
          </a:p>
        </p:txBody>
      </p:sp>
      <p:sp>
        <p:nvSpPr>
          <p:cNvPr id="241" name="- Final funding decisions: Borderline cases?…"/>
          <p:cNvSpPr txBox="1"/>
          <p:nvPr>
            <p:ph type="body" idx="1"/>
          </p:nvPr>
        </p:nvSpPr>
        <p:spPr>
          <a:xfrm>
            <a:off x="942915" y="4570663"/>
            <a:ext cx="21971001" cy="8256012"/>
          </a:xfrm>
          <a:prstGeom prst="rect">
            <a:avLst/>
          </a:prstGeom>
        </p:spPr>
        <p:txBody>
          <a:bodyPr/>
          <a:lstStyle/>
          <a:p>
            <a:pPr defTabSz="767715">
              <a:spcBef>
                <a:spcPts val="1600"/>
              </a:spcBef>
              <a:defRPr spc="-51" sz="5115"/>
            </a:pPr>
            <a:r>
              <a:t>-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 Final funding decisions</a:t>
            </a:r>
            <a:r>
              <a:t>: Borderline cases? </a:t>
            </a:r>
          </a:p>
          <a:p>
            <a:pPr defTabSz="767715">
              <a:spcBef>
                <a:spcPts val="1600"/>
              </a:spcBef>
              <a:defRPr spc="-51" sz="5115"/>
            </a:pPr>
            <a:r>
              <a:t>-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Understanding context</a:t>
            </a:r>
            <a:r>
              <a:t>: strategic priorities of department, school, university</a:t>
            </a:r>
          </a:p>
          <a:p>
            <a:pPr defTabSz="767715">
              <a:spcBef>
                <a:spcPts val="1600"/>
              </a:spcBef>
              <a:defRPr spc="-51" sz="5115"/>
            </a:pPr>
            <a:r>
              <a:t>-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Nuanced judgement</a:t>
            </a:r>
            <a:r>
              <a:t>: reading between lines; e.g., assessing feasibility within your institute </a:t>
            </a:r>
          </a:p>
          <a:p>
            <a:pPr defTabSz="767715">
              <a:spcBef>
                <a:spcPts val="1600"/>
              </a:spcBef>
              <a:defRPr spc="-51" sz="5115"/>
            </a:pPr>
            <a:r>
              <a:t>-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Accountability</a:t>
            </a:r>
            <a:r>
              <a:t>: Human </a:t>
            </a:r>
          </a:p>
          <a:p>
            <a:pPr defTabSz="767715">
              <a:spcBef>
                <a:spcPts val="1600"/>
              </a:spcBef>
              <a:defRPr spc="-51" sz="5115"/>
            </a:pPr>
            <a:r>
              <a:t>-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Unexpected scenarios</a:t>
            </a:r>
            <a:r>
              <a:t>: Novel research areas, unusual proposals </a:t>
            </a:r>
          </a:p>
          <a:p>
            <a:pPr defTabSz="767715">
              <a:spcBef>
                <a:spcPts val="1600"/>
              </a:spcBef>
              <a:defRPr spc="-51" sz="5115"/>
            </a:pPr>
          </a:p>
        </p:txBody>
      </p:sp>
      <p:grpSp>
        <p:nvGrpSpPr>
          <p:cNvPr id="244" name="Group"/>
          <p:cNvGrpSpPr/>
          <p:nvPr/>
        </p:nvGrpSpPr>
        <p:grpSpPr>
          <a:xfrm>
            <a:off x="1459000" y="10660346"/>
            <a:ext cx="18854101" cy="2555460"/>
            <a:chOff x="0" y="0"/>
            <a:chExt cx="18854100" cy="2555458"/>
          </a:xfrm>
        </p:grpSpPr>
        <p:sp>
          <p:nvSpPr>
            <p:cNvPr id="242" name="Recommendation: Use AI as an assistant, not a replacement. Best approach = AI does initial screening → Humans make final decisions."/>
            <p:cNvSpPr/>
            <p:nvPr/>
          </p:nvSpPr>
          <p:spPr>
            <a:xfrm>
              <a:off x="151776" y="31750"/>
              <a:ext cx="18702325" cy="2491959"/>
            </a:xfrm>
            <a:prstGeom prst="rect">
              <a:avLst/>
            </a:prstGeom>
            <a:solidFill>
              <a:srgbClr val="FFF3CD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lnSpc>
                  <a:spcPct val="100000"/>
                </a:lnSpc>
                <a:spcBef>
                  <a:spcPts val="0"/>
                </a:spcBef>
                <a:defRPr sz="41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 b="1">
                  <a:latin typeface="+mn-lt"/>
                  <a:ea typeface="+mn-ea"/>
                  <a:cs typeface="+mn-cs"/>
                  <a:sym typeface="Helvetica Neue"/>
                </a:rPr>
                <a:t>Recommendation: </a:t>
              </a:r>
              <a:r>
                <a:t>Use AI as an assistant, not a replacement. Best approach = AI does initial screening → Humans make final decisions.</a:t>
              </a:r>
            </a:p>
            <a:p>
              <a:pPr defTabSz="825500">
                <a:lnSpc>
                  <a:spcPct val="100000"/>
                </a:lnSpc>
                <a:spcBef>
                  <a:spcPts val="0"/>
                </a:spcBef>
                <a:defRPr sz="41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43" name="Rectangle"/>
            <p:cNvSpPr/>
            <p:nvPr/>
          </p:nvSpPr>
          <p:spPr>
            <a:xfrm>
              <a:off x="0" y="0"/>
              <a:ext cx="146254" cy="2555459"/>
            </a:xfrm>
            <a:prstGeom prst="rect">
              <a:avLst/>
            </a:prstGeom>
            <a:solidFill>
              <a:srgbClr val="9901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Key Takeaway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Takeaways</a:t>
            </a:r>
          </a:p>
        </p:txBody>
      </p:sp>
      <p:sp>
        <p:nvSpPr>
          <p:cNvPr id="247" name="From our preliminary work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From our preliminary work</a:t>
            </a:r>
          </a:p>
        </p:txBody>
      </p:sp>
      <p:sp>
        <p:nvSpPr>
          <p:cNvPr id="248" name="1. AI reviews closely resemble human scores (within 1 point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1. AI reviews closely resemble human scores (within 1 point)</a:t>
            </a:r>
          </a:p>
          <a:p>
            <a:pPr marL="0" indent="0">
              <a:buSzTx/>
              <a:buNone/>
            </a:pPr>
            <a:r>
              <a:t>2. AI reviews are internally more consistent than humans (39% less variation)</a:t>
            </a:r>
          </a:p>
          <a:p>
            <a:pPr marL="0" indent="0">
              <a:buSzTx/>
              <a:buNone/>
            </a:pPr>
            <a:r>
              <a:t>3. AI has different judgment on funding decisions (prefers revisions, more optimistic)</a:t>
            </a:r>
          </a:p>
          <a:p>
            <a:pPr marL="0" indent="0">
              <a:buSzTx/>
              <a:buNone/>
            </a:pPr>
            <a:r>
              <a:t>4. Training matters (show AI examples of good reviews - better output)</a:t>
            </a:r>
          </a:p>
          <a:p>
            <a:pPr marL="0" indent="0">
              <a:buSzTx/>
              <a:buNone/>
            </a:pPr>
            <a:r>
              <a:t>5. Best use for now = Hybrid approach (AI screens → Humans decide)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