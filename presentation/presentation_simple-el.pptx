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75" r:id="rId2"/>
    <p:sldId id="257" r:id="rId3"/>
    <p:sldId id="258" r:id="rId4"/>
    <p:sldId id="259" r:id="rId5"/>
    <p:sldId id="260" r:id="rId6"/>
    <p:sldId id="261" r:id="rId7"/>
    <p:sldId id="277" r:id="rId8"/>
    <p:sldId id="276" r:id="rId9"/>
    <p:sldId id="262" r:id="rId10"/>
    <p:sldId id="287" r:id="rId11"/>
    <p:sldId id="279" r:id="rId12"/>
    <p:sldId id="284" r:id="rId13"/>
    <p:sldId id="278" r:id="rId14"/>
    <p:sldId id="280" r:id="rId15"/>
    <p:sldId id="283" r:id="rId16"/>
    <p:sldId id="281" r:id="rId17"/>
    <p:sldId id="282" r:id="rId18"/>
    <p:sldId id="263" r:id="rId19"/>
    <p:sldId id="264" r:id="rId20"/>
    <p:sldId id="265" r:id="rId21"/>
    <p:sldId id="266" r:id="rId22"/>
    <p:sldId id="267" r:id="rId23"/>
    <p:sldId id="268" r:id="rId24"/>
    <p:sldId id="269" r:id="rId25"/>
    <p:sldId id="270" r:id="rId26"/>
    <p:sldId id="271" r:id="rId27"/>
    <p:sldId id="285" r:id="rId28"/>
    <p:sldId id="272" r:id="rId29"/>
    <p:sldId id="273" r:id="rId30"/>
    <p:sldId id="274" r:id="rId3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93876E-48AF-835F-17C1-6309135A7288}" name="E.Lamberg" initials="EML" userId="E.Lamberg"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57"/>
    <p:restoredTop sz="84384"/>
  </p:normalViewPr>
  <p:slideViewPr>
    <p:cSldViewPr snapToGrid="0">
      <p:cViewPr varScale="1">
        <p:scale>
          <a:sx n="48" d="100"/>
          <a:sy n="48" d="100"/>
        </p:scale>
        <p:origin x="93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1562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60515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8008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1792551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145116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2677867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3252701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178846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solidFill>
                  <a:srgbClr val="000000"/>
                </a:solidFill>
              </a:defRPr>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lvl1pPr>
              <a:defRPr>
                <a:solidFill>
                  <a:srgbClr val="000000"/>
                </a:solidFill>
              </a:defRPr>
            </a:lvl1pPr>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lvl1pPr>
              <a:defRPr>
                <a:solidFill>
                  <a:srgbClr val="000000"/>
                </a:solidFill>
              </a:defRPr>
            </a:lvl1p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7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0" y="1079500"/>
            <a:ext cx="9779000" cy="1435100"/>
          </a:xfrm>
          <a:prstGeom prst="rect">
            <a:avLst/>
          </a:prstGeom>
        </p:spPr>
        <p:txBody>
          <a:bodyPr/>
          <a:lstStyle>
            <a:lvl1pPr>
              <a:defRPr>
                <a:solidFill>
                  <a:srgbClr val="000000"/>
                </a:solidFill>
              </a:defRPr>
            </a:lvl1p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0" y="1079500"/>
            <a:ext cx="9779000" cy="1435100"/>
          </a:xfrm>
          <a:prstGeom prst="rect">
            <a:avLst/>
          </a:prstGeom>
        </p:spPr>
        <p:txBody>
          <a:bodyPr/>
          <a:lstStyle>
            <a:lvl1pPr>
              <a:defRPr>
                <a:solidFill>
                  <a:srgbClr val="000000"/>
                </a:solidFill>
              </a:defRPr>
            </a:lvl1p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solidFill>
                  <a:srgbClr val="000000"/>
                </a:solidFill>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0" y="1079500"/>
            <a:ext cx="21971000" cy="1434949"/>
          </a:xfrm>
          <a:prstGeom prst="rect">
            <a:avLst/>
          </a:prstGeom>
        </p:spPr>
        <p:txBody>
          <a:bodyPr/>
          <a:lstStyle>
            <a:lvl1pPr>
              <a:defRPr>
                <a:solidFill>
                  <a:srgbClr val="000000"/>
                </a:solidFill>
              </a:defRPr>
            </a:lvl1pPr>
          </a:lstStyle>
          <a:p>
            <a:r>
              <a:t>Slide Title</a:t>
            </a:r>
          </a:p>
        </p:txBody>
      </p:sp>
      <p:sp>
        <p:nvSpPr>
          <p:cNvPr id="10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1079500"/>
            <a:ext cx="21971000" cy="1435100"/>
          </a:xfrm>
          <a:prstGeom prst="rect">
            <a:avLst/>
          </a:prstGeom>
        </p:spPr>
        <p:txBody>
          <a:bodyPr/>
          <a:lstStyle>
            <a:lvl1pPr>
              <a:defRPr>
                <a:solidFill>
                  <a:srgbClr val="000000"/>
                </a:solidFill>
              </a:defRPr>
            </a:lvl1pPr>
          </a:lstStyle>
          <a:p>
            <a:r>
              <a:t>Agenda Title</a:t>
            </a:r>
          </a:p>
        </p:txBody>
      </p:sp>
      <p:sp>
        <p:nvSpPr>
          <p:cNvPr id="10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3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45" name="Bowl with salmon cakes, salad, and humm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4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pic>
        <p:nvPicPr>
          <p:cNvPr id="5" name="Google Shape;39;p12">
            <a:extLst>
              <a:ext uri="{FF2B5EF4-FFF2-40B4-BE49-F238E27FC236}">
                <a16:creationId xmlns:a16="http://schemas.microsoft.com/office/drawing/2014/main" id="{12DD8B6F-B285-AFE2-AABB-05289C7DE18A}"/>
              </a:ext>
            </a:extLst>
          </p:cNvPr>
          <p:cNvPicPr preferRelativeResize="0">
            <a:picLocks/>
          </p:cNvPicPr>
          <p:nvPr userDrawn="1"/>
        </p:nvPicPr>
        <p:blipFill>
          <a:blip r:embed="rId2"/>
          <a:srcRect/>
          <a:stretch/>
        </p:blipFill>
        <p:spPr>
          <a:xfrm>
            <a:off x="0" y="0"/>
            <a:ext cx="24384000" cy="13716000"/>
          </a:xfrm>
          <a:prstGeom prst="rect">
            <a:avLst/>
          </a:prstGeom>
          <a:noFill/>
          <a:ln>
            <a:noFill/>
          </a:ln>
        </p:spPr>
      </p:pic>
      <p:sp>
        <p:nvSpPr>
          <p:cNvPr id="2" name="Title 1">
            <a:extLst>
              <a:ext uri="{FF2B5EF4-FFF2-40B4-BE49-F238E27FC236}">
                <a16:creationId xmlns:a16="http://schemas.microsoft.com/office/drawing/2014/main" id="{E92E4854-DC22-AD20-92A5-6CE2036373BA}"/>
              </a:ext>
            </a:extLst>
          </p:cNvPr>
          <p:cNvSpPr>
            <a:spLocks noGrp="1"/>
          </p:cNvSpPr>
          <p:nvPr>
            <p:ph type="ctrTitle" hasCustomPrompt="1"/>
          </p:nvPr>
        </p:nvSpPr>
        <p:spPr>
          <a:xfrm>
            <a:off x="1676403" y="4757739"/>
            <a:ext cx="17477984" cy="4775200"/>
          </a:xfrm>
          <a:prstGeom prst="rect">
            <a:avLst/>
          </a:prstGeom>
        </p:spPr>
        <p:txBody>
          <a:bodyPr lIns="0" anchor="b">
            <a:noAutofit/>
          </a:bodyPr>
          <a:lstStyle>
            <a:lvl1pPr algn="l">
              <a:lnSpc>
                <a:spcPct val="60000"/>
              </a:lnSpc>
              <a:defRPr sz="26667" baseline="0">
                <a:solidFill>
                  <a:schemeClr val="bg2"/>
                </a:solidFill>
              </a:defRPr>
            </a:lvl1pPr>
          </a:lstStyle>
          <a:p>
            <a:r>
              <a:rPr lang="en-US" dirty="0"/>
              <a:t>Click to edit title style</a:t>
            </a:r>
          </a:p>
        </p:txBody>
      </p:sp>
      <p:sp>
        <p:nvSpPr>
          <p:cNvPr id="3" name="Subtitle 2">
            <a:extLst>
              <a:ext uri="{FF2B5EF4-FFF2-40B4-BE49-F238E27FC236}">
                <a16:creationId xmlns:a16="http://schemas.microsoft.com/office/drawing/2014/main" id="{532B0552-A6DB-3E78-FA49-71963FFA621C}"/>
              </a:ext>
            </a:extLst>
          </p:cNvPr>
          <p:cNvSpPr>
            <a:spLocks noGrp="1"/>
          </p:cNvSpPr>
          <p:nvPr>
            <p:ph type="subTitle" idx="1" hasCustomPrompt="1"/>
          </p:nvPr>
        </p:nvSpPr>
        <p:spPr>
          <a:xfrm>
            <a:off x="1676400" y="9076492"/>
            <a:ext cx="18288000" cy="1379400"/>
          </a:xfrm>
          <a:prstGeom prst="rect">
            <a:avLst/>
          </a:prstGeom>
        </p:spPr>
        <p:txBody>
          <a:bodyPr>
            <a:noAutofit/>
          </a:bodyPr>
          <a:lstStyle>
            <a:lvl1pPr marL="0" indent="0" algn="l">
              <a:spcBef>
                <a:spcPts val="0"/>
              </a:spcBef>
              <a:buNone/>
              <a:defRPr sz="4267" b="0" i="0" baseline="0">
                <a:solidFill>
                  <a:schemeClr val="bg2"/>
                </a:solidFill>
                <a:latin typeface="Bitter" pitchFamily="2" charset="77"/>
              </a:defRPr>
            </a:lvl1pPr>
            <a:lvl2pPr marL="914411" indent="0" algn="ctr">
              <a:buNone/>
              <a:defRPr sz="4000"/>
            </a:lvl2pPr>
            <a:lvl3pPr marL="1828823" indent="0" algn="ctr">
              <a:buNone/>
              <a:defRPr sz="3600"/>
            </a:lvl3pPr>
            <a:lvl4pPr marL="2743234" indent="0" algn="ctr">
              <a:buNone/>
              <a:defRPr sz="3200"/>
            </a:lvl4pPr>
            <a:lvl5pPr marL="3657646" indent="0" algn="ctr">
              <a:buNone/>
              <a:defRPr sz="3200"/>
            </a:lvl5pPr>
            <a:lvl6pPr marL="4572057" indent="0" algn="ctr">
              <a:buNone/>
              <a:defRPr sz="3200"/>
            </a:lvl6pPr>
            <a:lvl7pPr marL="5486469" indent="0" algn="ctr">
              <a:buNone/>
              <a:defRPr sz="3200"/>
            </a:lvl7pPr>
            <a:lvl8pPr marL="6400880" indent="0" algn="ctr">
              <a:buNone/>
              <a:defRPr sz="3200"/>
            </a:lvl8pPr>
            <a:lvl9pPr marL="7315291" indent="0" algn="ctr">
              <a:buNone/>
              <a:defRPr sz="3200"/>
            </a:lvl9pPr>
          </a:lstStyle>
          <a:p>
            <a:r>
              <a:rPr lang="en-US" dirty="0"/>
              <a:t>Click to edit subtitle</a:t>
            </a:r>
          </a:p>
        </p:txBody>
      </p:sp>
      <p:pic>
        <p:nvPicPr>
          <p:cNvPr id="4" name="Picture 3">
            <a:extLst>
              <a:ext uri="{FF2B5EF4-FFF2-40B4-BE49-F238E27FC236}">
                <a16:creationId xmlns:a16="http://schemas.microsoft.com/office/drawing/2014/main" id="{2E86AFDF-DDE7-A87D-9BEE-BE3019516B6F}"/>
              </a:ext>
            </a:extLst>
          </p:cNvPr>
          <p:cNvPicPr>
            <a:picLocks noChangeAspect="1"/>
          </p:cNvPicPr>
          <p:nvPr userDrawn="1"/>
        </p:nvPicPr>
        <p:blipFill>
          <a:blip r:embed="rId3"/>
          <a:stretch>
            <a:fillRect/>
          </a:stretch>
        </p:blipFill>
        <p:spPr>
          <a:xfrm>
            <a:off x="650240" y="11564499"/>
            <a:ext cx="4319451" cy="1559803"/>
          </a:xfrm>
          <a:prstGeom prst="rect">
            <a:avLst/>
          </a:prstGeom>
        </p:spPr>
      </p:pic>
    </p:spTree>
    <p:extLst>
      <p:ext uri="{BB962C8B-B14F-4D97-AF65-F5344CB8AC3E}">
        <p14:creationId xmlns:p14="http://schemas.microsoft.com/office/powerpoint/2010/main" val="38623813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transition spd="med"/>
  <p:txStyles>
    <p:titleStyle>
      <a:lvl1pPr marL="0" marR="0" indent="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1pPr>
      <a:lvl2pPr marL="0" marR="0" indent="4572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2pPr>
      <a:lvl3pPr marL="0" marR="0" indent="9144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3pPr>
      <a:lvl4pPr marL="0" marR="0" indent="13716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4pPr>
      <a:lvl5pPr marL="0" marR="0" indent="18288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5pPr>
      <a:lvl6pPr marL="0" marR="0" indent="22860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6pPr>
      <a:lvl7pPr marL="0" marR="0" indent="27432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7pPr>
      <a:lvl8pPr marL="0" marR="0" indent="32004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8pPr>
      <a:lvl9pPr marL="0" marR="0" indent="36576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nature.com/articles/d41586-025-01125-9"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CEA4-2DF4-59DA-FB68-2C5E006E4969}"/>
              </a:ext>
            </a:extLst>
          </p:cNvPr>
          <p:cNvSpPr>
            <a:spLocks noGrp="1"/>
          </p:cNvSpPr>
          <p:nvPr>
            <p:ph type="ctrTitle"/>
          </p:nvPr>
        </p:nvSpPr>
        <p:spPr>
          <a:xfrm>
            <a:off x="1676399" y="1920240"/>
            <a:ext cx="21579840" cy="6550340"/>
          </a:xfrm>
        </p:spPr>
        <p:txBody>
          <a:bodyPr/>
          <a:lstStyle/>
          <a:p>
            <a:pPr>
              <a:lnSpc>
                <a:spcPct val="100000"/>
              </a:lnSpc>
            </a:pPr>
            <a:r>
              <a:rPr lang="en-US" sz="10000" dirty="0"/>
              <a:t>The Write Stuff: Can Ai Judge </a:t>
            </a:r>
            <a:br>
              <a:rPr lang="en-US" sz="10000" dirty="0"/>
            </a:br>
            <a:r>
              <a:rPr lang="en-US" sz="10000" dirty="0"/>
              <a:t>Seed Grant Applications</a:t>
            </a:r>
            <a:br>
              <a:rPr lang="en-US" sz="3200" dirty="0"/>
            </a:br>
            <a:br>
              <a:rPr lang="en-US" sz="3600" dirty="0">
                <a:latin typeface="Barlow" pitchFamily="2" charset="77"/>
              </a:rPr>
            </a:br>
            <a:r>
              <a:rPr lang="en-US" sz="6600" i="1" dirty="0"/>
              <a:t>What We Learned Testing AI as a Grant Reviewer</a:t>
            </a:r>
            <a:br>
              <a:rPr lang="en-US" sz="9600" dirty="0"/>
            </a:br>
            <a:endParaRPr lang="en-US" sz="9600" dirty="0">
              <a:latin typeface="Barlow" pitchFamily="2" charset="77"/>
            </a:endParaRPr>
          </a:p>
        </p:txBody>
      </p:sp>
      <p:sp>
        <p:nvSpPr>
          <p:cNvPr id="3" name="Subtitle 2">
            <a:extLst>
              <a:ext uri="{FF2B5EF4-FFF2-40B4-BE49-F238E27FC236}">
                <a16:creationId xmlns:a16="http://schemas.microsoft.com/office/drawing/2014/main" id="{0CAB0A41-7E22-3FCA-DB67-FFE946AF5483}"/>
              </a:ext>
            </a:extLst>
          </p:cNvPr>
          <p:cNvSpPr>
            <a:spLocks noGrp="1"/>
          </p:cNvSpPr>
          <p:nvPr>
            <p:ph type="subTitle" idx="1"/>
          </p:nvPr>
        </p:nvSpPr>
        <p:spPr>
          <a:xfrm>
            <a:off x="1676399" y="7345680"/>
            <a:ext cx="18852605" cy="2896100"/>
          </a:xfrm>
        </p:spPr>
        <p:txBody>
          <a:bodyPr/>
          <a:lstStyle/>
          <a:p>
            <a:pPr>
              <a:lnSpc>
                <a:spcPct val="100000"/>
              </a:lnSpc>
            </a:pPr>
            <a:r>
              <a:rPr lang="en-US" sz="4800" dirty="0">
                <a:latin typeface="Barlow" pitchFamily="2" charset="77"/>
              </a:rPr>
              <a:t>Hants Williams, PhD, RN, PHN*</a:t>
            </a:r>
            <a:endParaRPr lang="en-US" sz="4800" dirty="0">
              <a:highlight>
                <a:srgbClr val="00FF00"/>
              </a:highlight>
              <a:latin typeface="Barlow" pitchFamily="2" charset="77"/>
            </a:endParaRPr>
          </a:p>
          <a:p>
            <a:pPr>
              <a:lnSpc>
                <a:spcPct val="100000"/>
              </a:lnSpc>
            </a:pPr>
            <a:r>
              <a:rPr lang="en-US" sz="4800" dirty="0">
                <a:latin typeface="Barlow" pitchFamily="2" charset="77"/>
              </a:rPr>
              <a:t>Jack E. Lamberg</a:t>
            </a:r>
            <a:r>
              <a:rPr lang="en-US" sz="4800" baseline="30000" dirty="0">
                <a:latin typeface="Barlow" pitchFamily="2" charset="77"/>
              </a:rPr>
              <a:t>#</a:t>
            </a:r>
          </a:p>
          <a:p>
            <a:pPr>
              <a:lnSpc>
                <a:spcPct val="100000"/>
              </a:lnSpc>
            </a:pPr>
            <a:r>
              <a:rPr lang="en-US" sz="4800" dirty="0">
                <a:latin typeface="Barlow" pitchFamily="2" charset="77"/>
              </a:rPr>
              <a:t>Eric M. Lamberg, PT, EdD, </a:t>
            </a:r>
            <a:r>
              <a:rPr lang="en-US" sz="4800" dirty="0" err="1">
                <a:latin typeface="Barlow" pitchFamily="2" charset="77"/>
              </a:rPr>
              <a:t>CPed</a:t>
            </a:r>
            <a:r>
              <a:rPr lang="en-US" sz="4800" dirty="0">
                <a:latin typeface="Barlow" pitchFamily="2" charset="77"/>
              </a:rPr>
              <a:t>*</a:t>
            </a:r>
          </a:p>
          <a:p>
            <a:pPr>
              <a:lnSpc>
                <a:spcPct val="100000"/>
              </a:lnSpc>
            </a:pPr>
            <a:endParaRPr lang="en-US" sz="1800" dirty="0">
              <a:latin typeface="Barlow" pitchFamily="2" charset="77"/>
            </a:endParaRPr>
          </a:p>
          <a:p>
            <a:pPr>
              <a:lnSpc>
                <a:spcPct val="100000"/>
              </a:lnSpc>
            </a:pPr>
            <a:r>
              <a:rPr lang="en-US" sz="4800" dirty="0">
                <a:latin typeface="Barlow" pitchFamily="2" charset="77"/>
              </a:rPr>
              <a:t>*School of Health Professions, Stony Brook University</a:t>
            </a:r>
          </a:p>
          <a:p>
            <a:pPr>
              <a:lnSpc>
                <a:spcPct val="100000"/>
              </a:lnSpc>
            </a:pPr>
            <a:r>
              <a:rPr lang="en-US" sz="4800" baseline="30000" dirty="0">
                <a:latin typeface="Barlow" pitchFamily="2" charset="77"/>
              </a:rPr>
              <a:t>#</a:t>
            </a:r>
            <a:r>
              <a:rPr lang="en-US" sz="4800" dirty="0">
                <a:latin typeface="Barlow" pitchFamily="2" charset="77"/>
              </a:rPr>
              <a:t>Binghamton University</a:t>
            </a:r>
          </a:p>
        </p:txBody>
      </p:sp>
    </p:spTree>
    <p:extLst>
      <p:ext uri="{BB962C8B-B14F-4D97-AF65-F5344CB8AC3E}">
        <p14:creationId xmlns:p14="http://schemas.microsoft.com/office/powerpoint/2010/main" val="2924936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he Problem: Grant Review Takes Time"/>
          <p:cNvSpPr txBox="1">
            <a:spLocks noGrp="1"/>
          </p:cNvSpPr>
          <p:nvPr>
            <p:ph type="title"/>
          </p:nvPr>
        </p:nvSpPr>
        <p:spPr>
          <a:prstGeom prst="rect">
            <a:avLst/>
          </a:prstGeom>
        </p:spPr>
        <p:txBody>
          <a:bodyPr/>
          <a:lstStyle>
            <a:lvl1pPr>
              <a:defRPr>
                <a:solidFill>
                  <a:schemeClr val="accent5">
                    <a:lumOff val="-29866"/>
                  </a:schemeClr>
                </a:solidFill>
              </a:defRPr>
            </a:lvl1pPr>
          </a:lstStyle>
          <a:p>
            <a:r>
              <a:rPr dirty="0"/>
              <a:t>The Problem: Grant </a:t>
            </a:r>
            <a:r>
              <a:rPr lang="en-US" dirty="0"/>
              <a:t>Review Challenges</a:t>
            </a:r>
            <a:endParaRPr dirty="0"/>
          </a:p>
        </p:txBody>
      </p:sp>
      <p:sp>
        <p:nvSpPr>
          <p:cNvPr id="176" name="Every grant program faces these challenges:…"/>
          <p:cNvSpPr txBox="1">
            <a:spLocks noGrp="1"/>
          </p:cNvSpPr>
          <p:nvPr>
            <p:ph type="body" idx="1"/>
          </p:nvPr>
        </p:nvSpPr>
        <p:spPr>
          <a:xfrm>
            <a:off x="1206499" y="3348026"/>
            <a:ext cx="16328465" cy="8256012"/>
          </a:xfrm>
          <a:prstGeom prst="rect">
            <a:avLst/>
          </a:prstGeom>
        </p:spPr>
        <p:txBody>
          <a:bodyPr>
            <a:normAutofit fontScale="92500"/>
          </a:bodyPr>
          <a:lstStyle/>
          <a:p>
            <a:pPr defTabSz="808990">
              <a:spcBef>
                <a:spcPts val="1700"/>
              </a:spcBef>
              <a:defRPr sz="5390" b="1" spc="-53"/>
            </a:pPr>
            <a:r>
              <a:rPr dirty="0"/>
              <a:t>Every grant program faces challenges:</a:t>
            </a:r>
          </a:p>
          <a:p>
            <a:pPr defTabSz="808990">
              <a:spcBef>
                <a:spcPts val="1700"/>
              </a:spcBef>
              <a:defRPr sz="5390" spc="-53"/>
            </a:pPr>
            <a:r>
              <a:rPr dirty="0"/>
              <a:t>- </a:t>
            </a:r>
            <a:r>
              <a:rPr lang="en-US" dirty="0"/>
              <a:t>R</a:t>
            </a:r>
            <a:r>
              <a:rPr dirty="0"/>
              <a:t>eview</a:t>
            </a:r>
            <a:r>
              <a:rPr lang="en-US" dirty="0"/>
              <a:t>s</a:t>
            </a:r>
            <a:r>
              <a:rPr dirty="0"/>
              <a:t> </a:t>
            </a:r>
            <a:r>
              <a:rPr lang="en-US" dirty="0"/>
              <a:t>take </a:t>
            </a:r>
            <a:r>
              <a:rPr dirty="0"/>
              <a:t>time</a:t>
            </a:r>
          </a:p>
          <a:p>
            <a:pPr defTabSz="808990">
              <a:spcBef>
                <a:spcPts val="1700"/>
              </a:spcBef>
              <a:defRPr sz="5390" spc="-53"/>
            </a:pPr>
            <a:r>
              <a:rPr dirty="0"/>
              <a:t>- Finding qualified reviewers </a:t>
            </a:r>
            <a:r>
              <a:rPr lang="en-US" dirty="0"/>
              <a:t>for the topic may be</a:t>
            </a:r>
            <a:r>
              <a:rPr dirty="0"/>
              <a:t> difficult</a:t>
            </a:r>
          </a:p>
          <a:p>
            <a:pPr defTabSz="808990">
              <a:spcBef>
                <a:spcPts val="1700"/>
              </a:spcBef>
              <a:defRPr sz="5390" spc="-53"/>
            </a:pPr>
            <a:r>
              <a:rPr dirty="0"/>
              <a:t>- Expert reviewers </a:t>
            </a:r>
            <a:r>
              <a:rPr lang="en-US" dirty="0"/>
              <a:t>may require compensation</a:t>
            </a:r>
            <a:endParaRPr dirty="0"/>
          </a:p>
          <a:p>
            <a:pPr defTabSz="808990">
              <a:spcBef>
                <a:spcPts val="1700"/>
              </a:spcBef>
              <a:defRPr sz="5390" spc="-53"/>
            </a:pPr>
            <a:r>
              <a:rPr dirty="0"/>
              <a:t>- Delays in getting reviews back</a:t>
            </a:r>
            <a:endParaRPr lang="en-US" dirty="0"/>
          </a:p>
          <a:p>
            <a:pPr defTabSz="808990">
              <a:spcBef>
                <a:spcPts val="1700"/>
              </a:spcBef>
              <a:defRPr sz="5390" spc="-53"/>
            </a:pPr>
            <a:r>
              <a:rPr lang="en-US" dirty="0"/>
              <a:t>- Incomplete grant reviews</a:t>
            </a:r>
          </a:p>
          <a:p>
            <a:pPr defTabSz="808990">
              <a:spcBef>
                <a:spcPts val="1700"/>
              </a:spcBef>
              <a:defRPr sz="5390" spc="-53"/>
            </a:pPr>
            <a:endParaRPr dirty="0">
              <a:solidFill>
                <a:srgbClr val="CCCCCC"/>
              </a:solidFill>
            </a:endParaRPr>
          </a:p>
          <a:p>
            <a:pPr defTabSz="808990">
              <a:spcBef>
                <a:spcPts val="1700"/>
              </a:spcBef>
              <a:defRPr sz="5390" b="1" spc="-53">
                <a:solidFill>
                  <a:schemeClr val="accent5">
                    <a:lumOff val="-29866"/>
                  </a:schemeClr>
                </a:solidFill>
              </a:defRPr>
            </a:pPr>
            <a:r>
              <a:rPr dirty="0"/>
              <a:t>What if Ai could help? </a:t>
            </a:r>
          </a:p>
        </p:txBody>
      </p:sp>
      <p:pic>
        <p:nvPicPr>
          <p:cNvPr id="1026" name="Picture 2" descr="difficulties line icon 29869676 Vector Art at Vecteezy">
            <a:extLst>
              <a:ext uri="{FF2B5EF4-FFF2-40B4-BE49-F238E27FC236}">
                <a16:creationId xmlns:a16="http://schemas.microsoft.com/office/drawing/2014/main" id="{72F7151A-927C-A0C1-294C-AD1F1B490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53006" y="6800680"/>
            <a:ext cx="5642536" cy="56367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What are LLMs and Gen Ai?"/>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are LLMs and Gen Ai?</a:t>
            </a:r>
          </a:p>
        </p:txBody>
      </p:sp>
      <p:sp>
        <p:nvSpPr>
          <p:cNvPr id="179" name="LLM = Large Language Model"/>
          <p:cNvSpPr txBox="1">
            <a:spLocks noGrp="1"/>
          </p:cNvSpPr>
          <p:nvPr>
            <p:ph type="body" idx="21"/>
          </p:nvPr>
        </p:nvSpPr>
        <p:spPr>
          <a:xfrm>
            <a:off x="1206500" y="3277945"/>
            <a:ext cx="21971000" cy="9347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LLM = </a:t>
            </a:r>
            <a:r>
              <a:rPr b="0"/>
              <a:t>Large Language Model</a:t>
            </a:r>
          </a:p>
        </p:txBody>
      </p:sp>
      <p:sp>
        <p:nvSpPr>
          <p:cNvPr id="180" name="Think of it like a very advanced autocomplete:…"/>
          <p:cNvSpPr txBox="1">
            <a:spLocks noGrp="1"/>
          </p:cNvSpPr>
          <p:nvPr>
            <p:ph type="body" idx="1"/>
          </p:nvPr>
        </p:nvSpPr>
        <p:spPr>
          <a:xfrm>
            <a:off x="1206500" y="8449471"/>
            <a:ext cx="21971000" cy="5395041"/>
          </a:xfrm>
          <a:prstGeom prst="rect">
            <a:avLst/>
          </a:prstGeom>
        </p:spPr>
        <p:txBody>
          <a:bodyPr/>
          <a:lstStyle/>
          <a:p>
            <a:pPr>
              <a:defRPr b="1"/>
            </a:pPr>
            <a:r>
              <a:rPr dirty="0"/>
              <a:t>Think of it like a very advanced autocomplete:</a:t>
            </a:r>
          </a:p>
          <a:p>
            <a:r>
              <a:rPr dirty="0"/>
              <a:t>- </a:t>
            </a:r>
            <a:r>
              <a:rPr lang="en-US" dirty="0"/>
              <a:t>A</a:t>
            </a:r>
            <a:r>
              <a:rPr dirty="0"/>
              <a:t>utocomplete when texting ("See you at..." → "the meeting")</a:t>
            </a:r>
          </a:p>
          <a:p>
            <a:r>
              <a:rPr dirty="0"/>
              <a:t>- LLMs do this but with entire paragraphs and complex reasoning</a:t>
            </a:r>
          </a:p>
          <a:p>
            <a:r>
              <a:rPr dirty="0"/>
              <a:t>- They read massive amounts of text and learn patterns</a:t>
            </a:r>
          </a:p>
        </p:txBody>
      </p:sp>
      <p:sp>
        <p:nvSpPr>
          <p:cNvPr id="181" name="Gen Ai = Generative Ai - Ai that creates new content (text, images, etc…)"/>
          <p:cNvSpPr txBox="1"/>
          <p:nvPr/>
        </p:nvSpPr>
        <p:spPr>
          <a:xfrm>
            <a:off x="1206500" y="4331751"/>
            <a:ext cx="21971000" cy="9347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defTabSz="784225">
              <a:lnSpc>
                <a:spcPct val="100000"/>
              </a:lnSpc>
              <a:spcBef>
                <a:spcPts val="0"/>
              </a:spcBef>
              <a:defRPr sz="5225" b="1"/>
            </a:pPr>
            <a:r>
              <a:t>Gen Ai = </a:t>
            </a:r>
            <a:r>
              <a:rPr b="0"/>
              <a:t>Generative Ai - Ai that creates new content (text, images, etc…)</a:t>
            </a:r>
          </a:p>
        </p:txBody>
      </p:sp>
      <p:pic>
        <p:nvPicPr>
          <p:cNvPr id="2" name="Picture 2" descr="Next Word Prediction: Enhancing Language Understanding and Communication |  by Everton Gomede, PhD | Artificial Intelligence in Plain English">
            <a:extLst>
              <a:ext uri="{FF2B5EF4-FFF2-40B4-BE49-F238E27FC236}">
                <a16:creationId xmlns:a16="http://schemas.microsoft.com/office/drawing/2014/main" id="{C8F57657-56E8-0886-9E4C-AF9593B9B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5667" y="5697541"/>
            <a:ext cx="10553700" cy="2413000"/>
          </a:xfrm>
          <a:prstGeom prst="rect">
            <a:avLst/>
          </a:prstGeom>
          <a:ln/>
        </p:spPr>
        <p:style>
          <a:lnRef idx="2">
            <a:schemeClr val="dk1"/>
          </a:lnRef>
          <a:fillRef idx="1">
            <a:schemeClr val="lt1"/>
          </a:fillRef>
          <a:effectRef idx="0">
            <a:schemeClr val="dk1"/>
          </a:effectRef>
          <a:fontRef idx="minor">
            <a:schemeClr val="dk1"/>
          </a:fontRef>
        </p:style>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How Generative AI works:…"/>
          <p:cNvSpPr txBox="1"/>
          <p:nvPr/>
        </p:nvSpPr>
        <p:spPr>
          <a:xfrm>
            <a:off x="1206500" y="3151857"/>
            <a:ext cx="22819538" cy="74122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defTabSz="825500">
              <a:lnSpc>
                <a:spcPct val="100000"/>
              </a:lnSpc>
              <a:spcBef>
                <a:spcPts val="1800"/>
              </a:spcBef>
              <a:defRPr sz="5500" b="1" spc="-55"/>
            </a:pPr>
            <a:r>
              <a:rPr dirty="0"/>
              <a:t>How Generative AI works:</a:t>
            </a:r>
          </a:p>
          <a:p>
            <a:pPr defTabSz="825500">
              <a:lnSpc>
                <a:spcPct val="100000"/>
              </a:lnSpc>
              <a:spcBef>
                <a:spcPts val="1800"/>
              </a:spcBef>
              <a:defRPr sz="5500" spc="-55"/>
            </a:pPr>
            <a:r>
              <a:rPr dirty="0"/>
              <a:t>- Trained on billions of documents (books, articles, websites)</a:t>
            </a:r>
          </a:p>
          <a:p>
            <a:pPr defTabSz="825500">
              <a:lnSpc>
                <a:spcPct val="100000"/>
              </a:lnSpc>
              <a:spcBef>
                <a:spcPts val="1800"/>
              </a:spcBef>
              <a:defRPr sz="5500" spc="-55"/>
            </a:pPr>
            <a:r>
              <a:rPr dirty="0"/>
              <a:t>- Generates original responses based on what it learned</a:t>
            </a:r>
          </a:p>
          <a:p>
            <a:pPr defTabSz="825500">
              <a:lnSpc>
                <a:spcPct val="100000"/>
              </a:lnSpc>
              <a:spcBef>
                <a:spcPts val="1800"/>
              </a:spcBef>
              <a:defRPr sz="5500" spc="-55"/>
            </a:pPr>
            <a:r>
              <a:rPr dirty="0"/>
              <a:t>- </a:t>
            </a:r>
            <a:r>
              <a:rPr lang="en-US" dirty="0"/>
              <a:t>Allows it to</a:t>
            </a:r>
            <a:r>
              <a:rPr dirty="0"/>
              <a:t> read and analyze new documents it's never seen before</a:t>
            </a:r>
            <a:endParaRPr lang="en-US" dirty="0"/>
          </a:p>
          <a:p>
            <a:pPr defTabSz="825500">
              <a:lnSpc>
                <a:spcPct val="100000"/>
              </a:lnSpc>
              <a:spcBef>
                <a:spcPts val="1800"/>
              </a:spcBef>
              <a:defRPr sz="5500" spc="-55"/>
            </a:pPr>
            <a:endParaRPr lang="en-US" dirty="0"/>
          </a:p>
          <a:p>
            <a:pPr defTabSz="825500">
              <a:lnSpc>
                <a:spcPct val="100000"/>
              </a:lnSpc>
              <a:spcBef>
                <a:spcPts val="1800"/>
              </a:spcBef>
              <a:defRPr sz="5500" b="1" spc="-55"/>
            </a:pPr>
            <a:r>
              <a:rPr dirty="0"/>
              <a:t>Examples you might know:</a:t>
            </a:r>
          </a:p>
          <a:p>
            <a:pPr defTabSz="825500">
              <a:lnSpc>
                <a:spcPct val="100000"/>
              </a:lnSpc>
              <a:spcBef>
                <a:spcPts val="1800"/>
              </a:spcBef>
              <a:defRPr sz="5500" spc="-55"/>
            </a:pPr>
            <a:r>
              <a:rPr dirty="0"/>
              <a:t>- </a:t>
            </a:r>
            <a:r>
              <a:rPr lang="en-US" dirty="0"/>
              <a:t>Open AI’s </a:t>
            </a:r>
            <a:r>
              <a:rPr dirty="0"/>
              <a:t>ChatGPT</a:t>
            </a:r>
            <a:r>
              <a:rPr lang="en-US" dirty="0"/>
              <a:t>, </a:t>
            </a:r>
            <a:r>
              <a:rPr dirty="0"/>
              <a:t>Google</a:t>
            </a:r>
            <a:r>
              <a:rPr lang="en-US" dirty="0"/>
              <a:t>’s</a:t>
            </a:r>
            <a:r>
              <a:rPr dirty="0"/>
              <a:t> Gemini, </a:t>
            </a:r>
            <a:r>
              <a:rPr lang="en-US" dirty="0"/>
              <a:t>X AI’s Grok </a:t>
            </a:r>
            <a:endParaRPr dirty="0"/>
          </a:p>
        </p:txBody>
      </p:sp>
      <p:sp>
        <p:nvSpPr>
          <p:cNvPr id="184" name="What are LLMs and Gen Ai?"/>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are LLMs and Gen Ai?</a:t>
            </a:r>
          </a:p>
        </p:txBody>
      </p:sp>
      <p:pic>
        <p:nvPicPr>
          <p:cNvPr id="3078" name="Picture 6" descr="Chatgpt Logo Royalty-Free Images ...">
            <a:extLst>
              <a:ext uri="{FF2B5EF4-FFF2-40B4-BE49-F238E27FC236}">
                <a16:creationId xmlns:a16="http://schemas.microsoft.com/office/drawing/2014/main" id="{BC379B6C-AD29-7503-0765-833BD753A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477" y="10564143"/>
            <a:ext cx="2295711" cy="284122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0638C29E-5D09-9AC1-C976-744907C25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900" y="11257868"/>
            <a:ext cx="6007100" cy="134620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BF0F2890-78F3-E81B-AE85-5E5C030D1A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96420" y="11061018"/>
            <a:ext cx="4660900" cy="1739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What we tested: Can LLMs review grants like a human expert?"/>
          <p:cNvSpPr txBox="1">
            <a:spLocks noGrp="1"/>
          </p:cNvSpPr>
          <p:nvPr>
            <p:ph type="body" sz="half" idx="1"/>
          </p:nvPr>
        </p:nvSpPr>
        <p:spPr>
          <a:xfrm>
            <a:off x="1206500" y="2618027"/>
            <a:ext cx="21971000" cy="3874314"/>
          </a:xfrm>
          <a:prstGeom prst="rect">
            <a:avLst/>
          </a:prstGeom>
        </p:spPr>
        <p:txBody>
          <a:bodyPr/>
          <a:lstStyle/>
          <a:p>
            <a:pPr defTabSz="2389572">
              <a:defRPr sz="11368" spc="-227"/>
            </a:pPr>
            <a:r>
              <a:rPr dirty="0"/>
              <a:t>What we tested: </a:t>
            </a:r>
            <a:r>
              <a:rPr dirty="0">
                <a:solidFill>
                  <a:schemeClr val="accent5">
                    <a:lumOff val="-29866"/>
                  </a:schemeClr>
                </a:solidFill>
              </a:rPr>
              <a:t>Can LLMs review grants </a:t>
            </a:r>
            <a:r>
              <a:rPr lang="en-US" dirty="0">
                <a:solidFill>
                  <a:schemeClr val="accent5">
                    <a:lumOff val="-29866"/>
                  </a:schemeClr>
                </a:solidFill>
              </a:rPr>
              <a:t>"</a:t>
            </a:r>
            <a:r>
              <a:rPr dirty="0">
                <a:solidFill>
                  <a:schemeClr val="accent5">
                    <a:lumOff val="-29866"/>
                  </a:schemeClr>
                </a:solidFill>
              </a:rPr>
              <a:t>like</a:t>
            </a:r>
            <a:r>
              <a:rPr lang="en-US" dirty="0">
                <a:solidFill>
                  <a:schemeClr val="accent5">
                    <a:lumOff val="-29866"/>
                  </a:schemeClr>
                </a:solidFill>
              </a:rPr>
              <a:t>"</a:t>
            </a:r>
            <a:r>
              <a:rPr dirty="0">
                <a:solidFill>
                  <a:schemeClr val="accent5">
                    <a:lumOff val="-29866"/>
                  </a:schemeClr>
                </a:solidFill>
              </a:rPr>
              <a:t> a human expert?</a:t>
            </a:r>
          </a:p>
        </p:txBody>
      </p:sp>
      <p:pic>
        <p:nvPicPr>
          <p:cNvPr id="2050" name="Picture 2" descr="Llm Images – Browse 30,937 Stock Photos, Vectors, and Video | Adobe Stock">
            <a:extLst>
              <a:ext uri="{FF2B5EF4-FFF2-40B4-BE49-F238E27FC236}">
                <a16:creationId xmlns:a16="http://schemas.microsoft.com/office/drawing/2014/main" id="{C027FD15-4A85-7666-22B5-EBFCB2177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6192" y="7223660"/>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Our study: A simple test"/>
          <p:cNvSpPr txBox="1">
            <a:spLocks noGrp="1"/>
          </p:cNvSpPr>
          <p:nvPr>
            <p:ph type="title"/>
          </p:nvPr>
        </p:nvSpPr>
        <p:spPr>
          <a:prstGeom prst="rect">
            <a:avLst/>
          </a:prstGeom>
        </p:spPr>
        <p:txBody>
          <a:bodyPr/>
          <a:lstStyle>
            <a:lvl1pPr>
              <a:defRPr>
                <a:solidFill>
                  <a:schemeClr val="accent5">
                    <a:lumOff val="-29866"/>
                  </a:schemeClr>
                </a:solidFill>
              </a:defRPr>
            </a:lvl1pPr>
          </a:lstStyle>
          <a:p>
            <a:r>
              <a:t>Our study: A simple test</a:t>
            </a:r>
          </a:p>
        </p:txBody>
      </p:sp>
      <p:pic>
        <p:nvPicPr>
          <p:cNvPr id="3" name="Picture 2">
            <a:extLst>
              <a:ext uri="{FF2B5EF4-FFF2-40B4-BE49-F238E27FC236}">
                <a16:creationId xmlns:a16="http://schemas.microsoft.com/office/drawing/2014/main" id="{3EC454A1-10AB-9322-F86A-4EF45A604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6500" y="2514600"/>
            <a:ext cx="21518880" cy="10235030"/>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t>Our study: A simple test</a:t>
            </a:r>
          </a:p>
        </p:txBody>
      </p:sp>
      <p:sp>
        <p:nvSpPr>
          <p:cNvPr id="189" name="We gave the same 3 grant applications to:…">
            <a:extLst>
              <a:ext uri="{FF2B5EF4-FFF2-40B4-BE49-F238E27FC236}">
                <a16:creationId xmlns:a16="http://schemas.microsoft.com/office/drawing/2014/main" id="{779C12C4-B4F2-794B-463C-55CF07537487}"/>
              </a:ext>
            </a:extLst>
          </p:cNvPr>
          <p:cNvSpPr txBox="1">
            <a:spLocks noGrp="1"/>
          </p:cNvSpPr>
          <p:nvPr>
            <p:ph type="body" idx="1"/>
          </p:nvPr>
        </p:nvSpPr>
        <p:spPr>
          <a:xfrm>
            <a:off x="768060" y="2514600"/>
            <a:ext cx="20933700" cy="10121900"/>
          </a:xfrm>
          <a:prstGeom prst="rect">
            <a:avLst/>
          </a:prstGeom>
        </p:spPr>
        <p:txBody>
          <a:bodyPr>
            <a:normAutofit/>
          </a:bodyPr>
          <a:lstStyle/>
          <a:p>
            <a:pPr defTabSz="495300">
              <a:spcBef>
                <a:spcPts val="1000"/>
              </a:spcBef>
              <a:defRPr sz="3300" b="1" spc="-33"/>
            </a:pPr>
            <a:r>
              <a:rPr lang="en-US" sz="6000" dirty="0"/>
              <a:t>S</a:t>
            </a:r>
            <a:r>
              <a:rPr sz="6000" dirty="0"/>
              <a:t>coring criteria (100 points total):</a:t>
            </a:r>
          </a:p>
          <a:p>
            <a:pPr lvl="3" defTabSz="495300">
              <a:spcBef>
                <a:spcPts val="1000"/>
              </a:spcBef>
              <a:defRPr sz="3300" spc="-33"/>
            </a:pPr>
            <a:r>
              <a:rPr sz="5400" dirty="0"/>
              <a:t>- Innovation &amp; Impact (30 pts)</a:t>
            </a:r>
          </a:p>
          <a:p>
            <a:pPr lvl="3" defTabSz="495300">
              <a:spcBef>
                <a:spcPts val="1000"/>
              </a:spcBef>
              <a:defRPr sz="3300" spc="-33"/>
            </a:pPr>
            <a:r>
              <a:rPr sz="5400" dirty="0"/>
              <a:t>- Research Methods (30 pts)</a:t>
            </a:r>
          </a:p>
          <a:p>
            <a:pPr lvl="3" defTabSz="495300">
              <a:spcBef>
                <a:spcPts val="1000"/>
              </a:spcBef>
              <a:defRPr sz="3300" spc="-33"/>
            </a:pPr>
            <a:r>
              <a:rPr sz="5400" dirty="0"/>
              <a:t>- Team Qualifications (10 pts)</a:t>
            </a:r>
          </a:p>
          <a:p>
            <a:pPr lvl="3" defTabSz="495300">
              <a:spcBef>
                <a:spcPts val="1000"/>
              </a:spcBef>
              <a:defRPr sz="3300" spc="-33"/>
            </a:pPr>
            <a:r>
              <a:rPr sz="5400" dirty="0"/>
              <a:t>- Funding Potential (10 pts)</a:t>
            </a:r>
          </a:p>
          <a:p>
            <a:pPr lvl="3" defTabSz="495300">
              <a:spcBef>
                <a:spcPts val="1000"/>
              </a:spcBef>
              <a:defRPr sz="3300" spc="-33"/>
            </a:pPr>
            <a:r>
              <a:rPr sz="5400" dirty="0"/>
              <a:t>- Budget (10 pts)</a:t>
            </a:r>
          </a:p>
          <a:p>
            <a:pPr lvl="3" defTabSz="495300">
              <a:spcBef>
                <a:spcPts val="1000"/>
              </a:spcBef>
              <a:defRPr sz="3300" spc="-33"/>
            </a:pPr>
            <a:r>
              <a:rPr sz="5400" dirty="0"/>
              <a:t>- Writing Quality (10 pts)</a:t>
            </a:r>
          </a:p>
          <a:p>
            <a:pPr defTabSz="495300">
              <a:spcBef>
                <a:spcPts val="1000"/>
              </a:spcBef>
              <a:defRPr sz="3300" spc="-33"/>
            </a:pPr>
            <a:endParaRPr sz="6000" dirty="0"/>
          </a:p>
          <a:p>
            <a:pPr defTabSz="495300">
              <a:spcBef>
                <a:spcPts val="1000"/>
              </a:spcBef>
              <a:defRPr sz="3300" spc="-33"/>
            </a:pPr>
            <a:r>
              <a:rPr sz="6000" b="1" dirty="0"/>
              <a:t>Along with a final question:</a:t>
            </a:r>
            <a:r>
              <a:rPr sz="6000" dirty="0"/>
              <a:t> </a:t>
            </a:r>
            <a:r>
              <a:rPr lang="en-US" sz="6000" dirty="0"/>
              <a:t>F</a:t>
            </a:r>
            <a:r>
              <a:rPr sz="6000" dirty="0"/>
              <a:t>und, </a:t>
            </a:r>
            <a:r>
              <a:rPr lang="en-US" sz="6000" dirty="0"/>
              <a:t>F</a:t>
            </a:r>
            <a:r>
              <a:rPr sz="6000" dirty="0"/>
              <a:t>und with </a:t>
            </a:r>
            <a:r>
              <a:rPr lang="en-US" sz="6000" dirty="0"/>
              <a:t>R</a:t>
            </a:r>
            <a:r>
              <a:rPr sz="6000" dirty="0"/>
              <a:t>evisions, or </a:t>
            </a:r>
            <a:r>
              <a:rPr lang="en-US" sz="6000" dirty="0"/>
              <a:t>D</a:t>
            </a:r>
            <a:r>
              <a:rPr sz="6000" dirty="0"/>
              <a:t>o </a:t>
            </a:r>
            <a:r>
              <a:rPr lang="en-US" sz="6000" dirty="0"/>
              <a:t>No</a:t>
            </a:r>
            <a:r>
              <a:rPr sz="6000" dirty="0"/>
              <a:t>t </a:t>
            </a:r>
            <a:r>
              <a:rPr lang="en-US" sz="6000" dirty="0"/>
              <a:t>F</a:t>
            </a:r>
            <a:r>
              <a:rPr sz="6000" dirty="0"/>
              <a:t>und </a:t>
            </a:r>
          </a:p>
        </p:txBody>
      </p:sp>
      <p:sp>
        <p:nvSpPr>
          <p:cNvPr id="190" name="Then we compared: Do AI and humans agree?">
            <a:extLst>
              <a:ext uri="{FF2B5EF4-FFF2-40B4-BE49-F238E27FC236}">
                <a16:creationId xmlns:a16="http://schemas.microsoft.com/office/drawing/2014/main" id="{01141DF2-9DC8-1E65-1C7F-34442BD511D9}"/>
              </a:ext>
            </a:extLst>
          </p:cNvPr>
          <p:cNvSpPr txBox="1"/>
          <p:nvPr/>
        </p:nvSpPr>
        <p:spPr>
          <a:xfrm>
            <a:off x="4859639" y="12235189"/>
            <a:ext cx="14281976" cy="201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lnSpc>
                <a:spcPct val="100000"/>
              </a:lnSpc>
              <a:spcBef>
                <a:spcPts val="1800"/>
              </a:spcBef>
              <a:defRPr sz="5500" i="1" spc="-55"/>
            </a:lvl1pPr>
          </a:lstStyle>
          <a:p>
            <a:r>
              <a:t>Then we compared: Do AI and humans agree?</a:t>
            </a:r>
          </a:p>
        </p:txBody>
      </p:sp>
    </p:spTree>
    <p:extLst>
      <p:ext uri="{BB962C8B-B14F-4D97-AF65-F5344CB8AC3E}">
        <p14:creationId xmlns:p14="http://schemas.microsoft.com/office/powerpoint/2010/main" val="34716435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t>Our study: A simple test</a:t>
            </a:r>
          </a:p>
        </p:txBody>
      </p:sp>
      <p:sp>
        <p:nvSpPr>
          <p:cNvPr id="190" name="Then we compared: Do AI and humans agree?">
            <a:extLst>
              <a:ext uri="{FF2B5EF4-FFF2-40B4-BE49-F238E27FC236}">
                <a16:creationId xmlns:a16="http://schemas.microsoft.com/office/drawing/2014/main" id="{01141DF2-9DC8-1E65-1C7F-34442BD511D9}"/>
              </a:ext>
            </a:extLst>
          </p:cNvPr>
          <p:cNvSpPr txBox="1"/>
          <p:nvPr/>
        </p:nvSpPr>
        <p:spPr>
          <a:xfrm>
            <a:off x="4607390" y="11630278"/>
            <a:ext cx="14281976" cy="201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lnSpc>
                <a:spcPct val="100000"/>
              </a:lnSpc>
              <a:spcBef>
                <a:spcPts val="1800"/>
              </a:spcBef>
              <a:defRPr sz="5500" i="1" spc="-55"/>
            </a:lvl1pPr>
          </a:lstStyle>
          <a:p>
            <a:r>
              <a:rPr dirty="0"/>
              <a:t>Then we compared: Do AI and humans agree?</a:t>
            </a:r>
          </a:p>
        </p:txBody>
      </p:sp>
      <p:sp>
        <p:nvSpPr>
          <p:cNvPr id="3" name="TextBox 2">
            <a:extLst>
              <a:ext uri="{FF2B5EF4-FFF2-40B4-BE49-F238E27FC236}">
                <a16:creationId xmlns:a16="http://schemas.microsoft.com/office/drawing/2014/main" id="{808F7FC6-944D-9063-57B6-41E8A897C393}"/>
              </a:ext>
            </a:extLst>
          </p:cNvPr>
          <p:cNvSpPr txBox="1"/>
          <p:nvPr/>
        </p:nvSpPr>
        <p:spPr>
          <a:xfrm>
            <a:off x="1206500" y="2757080"/>
            <a:ext cx="21971000" cy="88731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t>We received 4 seed grant applications</a:t>
            </a:r>
          </a:p>
          <a:p>
            <a:r>
              <a:rPr lang="en-US" dirty="0"/>
              <a:t>IRB approval received as an exempt study </a:t>
            </a:r>
          </a:p>
          <a:p>
            <a:r>
              <a:rPr lang="en-US" dirty="0"/>
              <a:t>3 investigator 1 investigator group did not provide consent</a:t>
            </a:r>
          </a:p>
          <a:p>
            <a:r>
              <a:rPr lang="en-US" dirty="0"/>
              <a:t>3 LLMs: Open AI’s ChatGPT, X’s (Twitter) Grok, and Google’s </a:t>
            </a:r>
            <a:r>
              <a:rPr lang="en-US" dirty="0" err="1"/>
              <a:t>Gemeni</a:t>
            </a:r>
            <a:r>
              <a:rPr lang="en-US" dirty="0"/>
              <a:t> </a:t>
            </a:r>
            <a:br>
              <a:rPr lang="en-US" dirty="0"/>
            </a:br>
            <a:endParaRPr lang="en-US" dirty="0"/>
          </a:p>
          <a:p>
            <a:r>
              <a:rPr lang="en-US" b="1" dirty="0"/>
              <a:t>We gave 3 grant applicants to:</a:t>
            </a:r>
          </a:p>
          <a:p>
            <a:r>
              <a:rPr lang="en-US" dirty="0"/>
              <a:t>- </a:t>
            </a:r>
            <a:r>
              <a:rPr lang="en-US" i="1" u="sng" dirty="0"/>
              <a:t>3</a:t>
            </a:r>
            <a:r>
              <a:rPr lang="en-US" dirty="0"/>
              <a:t> grants w/ </a:t>
            </a:r>
            <a:r>
              <a:rPr lang="en-US" i="1" u="sng" dirty="0"/>
              <a:t>4</a:t>
            </a:r>
            <a:r>
              <a:rPr lang="en-US" dirty="0"/>
              <a:t> human expert reviewers (</a:t>
            </a:r>
            <a:r>
              <a:rPr lang="en-US" b="1" dirty="0"/>
              <a:t>12</a:t>
            </a:r>
            <a:r>
              <a:rPr lang="en-US" dirty="0"/>
              <a:t> total)</a:t>
            </a:r>
          </a:p>
          <a:p>
            <a:r>
              <a:rPr lang="en-US" dirty="0"/>
              <a:t>- </a:t>
            </a:r>
            <a:r>
              <a:rPr lang="en-US" i="1" u="sng" dirty="0"/>
              <a:t>3</a:t>
            </a:r>
            <a:r>
              <a:rPr lang="en-US" dirty="0"/>
              <a:t> grants w/ </a:t>
            </a:r>
            <a:r>
              <a:rPr lang="en-US" i="1" u="sng" dirty="0"/>
              <a:t>3</a:t>
            </a:r>
            <a:r>
              <a:rPr lang="en-US" dirty="0"/>
              <a:t> LLMs w/tested x</a:t>
            </a:r>
            <a:r>
              <a:rPr lang="en-US" i="1" u="sng" dirty="0"/>
              <a:t>4</a:t>
            </a:r>
            <a:r>
              <a:rPr lang="en-US" dirty="0"/>
              <a:t> times – we did </a:t>
            </a:r>
            <a:r>
              <a:rPr lang="en-US" i="1" u="sng" dirty="0"/>
              <a:t>3</a:t>
            </a:r>
            <a:r>
              <a:rPr lang="en-US" dirty="0"/>
              <a:t> prompt experiments = </a:t>
            </a:r>
            <a:r>
              <a:rPr lang="en-US" b="1" dirty="0"/>
              <a:t>144</a:t>
            </a:r>
            <a:endParaRPr lang="en-US" dirty="0"/>
          </a:p>
        </p:txBody>
      </p:sp>
    </p:spTree>
    <p:extLst>
      <p:ext uri="{BB962C8B-B14F-4D97-AF65-F5344CB8AC3E}">
        <p14:creationId xmlns:p14="http://schemas.microsoft.com/office/powerpoint/2010/main" val="22405398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LLM Prompt:"/>
          <p:cNvSpPr txBox="1">
            <a:spLocks noGrp="1"/>
          </p:cNvSpPr>
          <p:nvPr>
            <p:ph type="title"/>
          </p:nvPr>
        </p:nvSpPr>
        <p:spPr>
          <a:xfrm>
            <a:off x="1206500" y="580374"/>
            <a:ext cx="21971000" cy="1433163"/>
          </a:xfrm>
          <a:prstGeom prst="rect">
            <a:avLst/>
          </a:prstGeom>
        </p:spPr>
        <p:txBody>
          <a:bodyPr/>
          <a:lstStyle/>
          <a:p>
            <a:r>
              <a:rPr lang="en-US" dirty="0"/>
              <a:t>Simple Prompt:</a:t>
            </a:r>
            <a:endParaRPr dirty="0"/>
          </a:p>
        </p:txBody>
      </p:sp>
      <p:pic>
        <p:nvPicPr>
          <p:cNvPr id="4" name="Picture 3">
            <a:extLst>
              <a:ext uri="{FF2B5EF4-FFF2-40B4-BE49-F238E27FC236}">
                <a16:creationId xmlns:a16="http://schemas.microsoft.com/office/drawing/2014/main" id="{2FF56914-90AA-345F-E3D6-A986892D7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133" y="1798544"/>
            <a:ext cx="16765692" cy="3284444"/>
          </a:xfrm>
          <a:prstGeom prst="rect">
            <a:avLst/>
          </a:prstGeom>
        </p:spPr>
      </p:pic>
      <p:pic>
        <p:nvPicPr>
          <p:cNvPr id="6" name="Picture 5">
            <a:extLst>
              <a:ext uri="{FF2B5EF4-FFF2-40B4-BE49-F238E27FC236}">
                <a16:creationId xmlns:a16="http://schemas.microsoft.com/office/drawing/2014/main" id="{F694C8C5-BA93-86DA-C1B9-A81E23CE6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9969" y="6562165"/>
            <a:ext cx="16469856" cy="8624944"/>
          </a:xfrm>
          <a:prstGeom prst="rect">
            <a:avLst/>
          </a:prstGeom>
          <a:ln w="76200">
            <a:solidFill>
              <a:srgbClr val="FF0000"/>
            </a:solidFill>
          </a:ln>
        </p:spPr>
      </p:pic>
      <p:sp>
        <p:nvSpPr>
          <p:cNvPr id="7" name="Down Arrow 6">
            <a:extLst>
              <a:ext uri="{FF2B5EF4-FFF2-40B4-BE49-F238E27FC236}">
                <a16:creationId xmlns:a16="http://schemas.microsoft.com/office/drawing/2014/main" id="{53F4888F-E61E-5A32-0153-6B1A4AF77D28}"/>
              </a:ext>
            </a:extLst>
          </p:cNvPr>
          <p:cNvSpPr/>
          <p:nvPr/>
        </p:nvSpPr>
        <p:spPr>
          <a:xfrm>
            <a:off x="9601200" y="5082988"/>
            <a:ext cx="1065779" cy="1129553"/>
          </a:xfrm>
          <a:prstGeom prst="down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LLM Prompt:"/>
          <p:cNvSpPr txBox="1">
            <a:spLocks noGrp="1"/>
          </p:cNvSpPr>
          <p:nvPr>
            <p:ph type="title"/>
          </p:nvPr>
        </p:nvSpPr>
        <p:spPr>
          <a:xfrm>
            <a:off x="1206500" y="580374"/>
            <a:ext cx="21971000" cy="1433163"/>
          </a:xfrm>
          <a:prstGeom prst="rect">
            <a:avLst/>
          </a:prstGeom>
        </p:spPr>
        <p:txBody>
          <a:bodyPr/>
          <a:lstStyle/>
          <a:p>
            <a:r>
              <a:rPr dirty="0"/>
              <a:t>LLM Prompt:</a:t>
            </a:r>
          </a:p>
        </p:txBody>
      </p:sp>
      <p:sp>
        <p:nvSpPr>
          <p:cNvPr id="193" name="To give detailed instructions to LLM like how you would to a human"/>
          <p:cNvSpPr txBox="1">
            <a:spLocks noGrp="1"/>
          </p:cNvSpPr>
          <p:nvPr>
            <p:ph type="body" idx="21"/>
          </p:nvPr>
        </p:nvSpPr>
        <p:spPr>
          <a:xfrm>
            <a:off x="668911" y="1810254"/>
            <a:ext cx="22508589"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b="0"/>
            </a:lvl1pPr>
          </a:lstStyle>
          <a:p>
            <a:r>
              <a:rPr lang="en-US" dirty="0"/>
              <a:t>Give </a:t>
            </a:r>
            <a:r>
              <a:rPr dirty="0"/>
              <a:t>detailed instructions to LLM like how you would to a human</a:t>
            </a:r>
            <a:r>
              <a:rPr lang="en-US" dirty="0"/>
              <a:t>:</a:t>
            </a:r>
            <a:endParaRPr dirty="0"/>
          </a:p>
        </p:txBody>
      </p:sp>
      <p:sp>
        <p:nvSpPr>
          <p:cNvPr id="194" name="You are an expert grant reviewer assessing a School of Health Professions Research Seed Grant application.  Instructions - Evaluate the application against the six criteria listed below. - Assign a numeric score as a whole integer for each criterion base"/>
          <p:cNvSpPr txBox="1"/>
          <p:nvPr/>
        </p:nvSpPr>
        <p:spPr>
          <a:xfrm>
            <a:off x="1206500" y="2951961"/>
            <a:ext cx="21438054" cy="11353364"/>
          </a:xfrm>
          <a:prstGeom prst="rect">
            <a:avLst/>
          </a:prstGeom>
          <a:ln w="57150"/>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2">
            <a:schemeClr val="dk1"/>
          </a:lnRef>
          <a:fillRef idx="1">
            <a:schemeClr val="lt1"/>
          </a:fillRef>
          <a:effectRef idx="0">
            <a:schemeClr val="dk1"/>
          </a:effectRef>
          <a:fontRef idx="minor">
            <a:schemeClr val="dk1"/>
          </a:fontRef>
        </p:style>
        <p:txBody>
          <a:bodyPr wrap="square" lIns="50800" tIns="50800" rIns="50800" bIns="50800" anchor="ctr">
            <a:spAutoFit/>
          </a:bodyPr>
          <a:lstStyle>
            <a:lvl1pPr>
              <a:defRPr sz="2700"/>
            </a:lvl1pPr>
          </a:lstStyle>
          <a:p>
            <a:r>
              <a:rPr dirty="0"/>
              <a:t>You are an expert grant reviewer assessing a School of Health Professions Research Seed Grant application.  Instructions - Evaluate the application against the six criteria listed below. - Assign a numeric score as a whole integer for each criterion based on the scoring scale. - Use the same definitions and point ranges as human reviewers. - Provide 2–3 sentences of rationale for each score. - Conclude with an Overall Recommendation: “Fund”, “Fund with Revisions”, or “Do Not Fund.”  </a:t>
            </a:r>
            <a:endParaRPr lang="en-US" dirty="0"/>
          </a:p>
          <a:p>
            <a:r>
              <a:rPr dirty="0"/>
              <a:t>Scoring Scale (Whole Integers Only) - Exemplary (Full Points Range) – Fully meets and exceeds expectations; compelling evidence for success. - Adequate (Upper-Mid Range) – Meets most expectations; minor gaps. - Minimal Evidence (Mid-Lower Range) – Major gaps; insufficient support. - Insufficient Evidence (Lowest Range) – Does not meet expectations; unclear or unsupported.  Criteria with Specific Point Ranges IMPORTANT: Each criterion has different maximum points. Follow the exact ranges below: 1. Innovation and Impact (Why &amp; What) – Maximum 30 points - Novelty, originality, significance, and potential to create meaningful change - Exemplary: 27-30, Adequate: 21-26, Minimal: 15-20, Insufficient: 0-14 2. Methodological Approach and Feasibility (How &amp; When) – Maximum 30 points - Quality, rigor, appropriateness, feasibility, and risk management - Exemplary: 27-30, Adequate: 21-26, Minimal: 15-20, Insufficient: 0-14 3. Strength of Research Team (Who) – Maximum 10 points - Qualifications, track record, and fit to project - Exemplary: 9-10, Adequate: 7-8, Minimal: 5-6, Insufficient: 0-4 4. Potential to Attract External Funding – Maximum 10 points - Likelihood to lead to competitive grants and alignment with funders - Exemplary: 9-10, Adequate: 7-8, Minimal: 5-6, Insufficient: 0-4 5. Clarity and Efficiency of Budget – Maximum 10 points - Alignment of spending to aims, cost-effectiveness, and eligibility - Exemplary: 9-10, Adequate: 7-8, Minimal: 5-6, Insufficient: 0-4 6. Overall Presentation (Writing, Clarity, Flow) – Maximum 10 points - Quality of writing, organization, and ease of comprehension - Exemplary: 9-10, Adequate: 7-8, Minimal: 5-6, Insufficient: 0-4 </a:t>
            </a:r>
            <a:endParaRPr lang="en-US" dirty="0"/>
          </a:p>
          <a:p>
            <a:r>
              <a:rPr dirty="0"/>
              <a:t>Total Maximum Score: 100 points  Output Format (JSON Example) ```</a:t>
            </a:r>
            <a:r>
              <a:rPr dirty="0" err="1"/>
              <a:t>json</a:t>
            </a:r>
            <a:r>
              <a:rPr dirty="0"/>
              <a:t> { "scores": [ { "Criterion": "Innovation and Impact", "Score": 29, "Rationale": "The proposal introduces a novel approach to addressing clinical workflow inefficiencies, with a clear rationale for impact. Potential for significant advancement is high." }, { "Criterion": "Methodological Approach and Feasibility", "Score": 27, "Rationale": "The methods are well-aligned with the aims and supported by a clear, realistic timeline. Some contingencies could be more detailed." }, { "Criterion": "Strength of Research Team", "Score": 8, "Rationale": "The team has relevant expertise but could benefit from additional specialized skills in data analysis." }, { "Criterion": "Potential to Attract External Funding", "Score": 9, "Rationale": "Strong alignment with NIH priorities and clear pathway to larger studies make this highly competitive for external funding." }, { "Criterion": "Clarity and Efficiency of Budget", "Score": 10, "Rationale": "Budget is well-justified, cost-effective, and directly supports the proposed aims without unnecessary expenses." }, { "Criterion": "Overall Presentation (Writing, Clarity, Flow)", "Score": 7, "Rationale": "Well-written and organized overall, though some sections could be clearer in their presentation." } ], "</a:t>
            </a:r>
            <a:r>
              <a:rPr dirty="0" err="1"/>
              <a:t>OverallRecommendation</a:t>
            </a:r>
            <a:r>
              <a:rPr dirty="0"/>
              <a:t>": "Fund" } ```</a:t>
            </a:r>
          </a:p>
        </p:txBody>
      </p:sp>
    </p:spTree>
    <p:extLst>
      <p:ext uri="{BB962C8B-B14F-4D97-AF65-F5344CB8AC3E}">
        <p14:creationId xmlns:p14="http://schemas.microsoft.com/office/powerpoint/2010/main" val="315861067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C535-B744-D82F-CF21-4FA6EBF4DC18}"/>
              </a:ext>
            </a:extLst>
          </p:cNvPr>
          <p:cNvSpPr>
            <a:spLocks noGrp="1"/>
          </p:cNvSpPr>
          <p:nvPr>
            <p:ph type="title"/>
          </p:nvPr>
        </p:nvSpPr>
        <p:spPr/>
        <p:txBody>
          <a:bodyPr/>
          <a:lstStyle/>
          <a:p>
            <a:r>
              <a:rPr lang="en-US" dirty="0"/>
              <a:t>Context (attention) is all that matters </a:t>
            </a:r>
          </a:p>
        </p:txBody>
      </p:sp>
      <p:sp>
        <p:nvSpPr>
          <p:cNvPr id="3" name="Text Placeholder 2">
            <a:extLst>
              <a:ext uri="{FF2B5EF4-FFF2-40B4-BE49-F238E27FC236}">
                <a16:creationId xmlns:a16="http://schemas.microsoft.com/office/drawing/2014/main" id="{BB2C2B58-F4BD-457F-AC13-7272E4D7CAAA}"/>
              </a:ext>
            </a:extLst>
          </p:cNvPr>
          <p:cNvSpPr>
            <a:spLocks noGrp="1"/>
          </p:cNvSpPr>
          <p:nvPr>
            <p:ph type="body" sz="quarter" idx="21"/>
          </p:nvPr>
        </p:nvSpPr>
        <p:spPr/>
        <p:txBody>
          <a:bodyPr/>
          <a:lstStyle/>
          <a:p>
            <a:r>
              <a:rPr lang="en-US" dirty="0"/>
              <a:t>Google, 2017</a:t>
            </a:r>
          </a:p>
        </p:txBody>
      </p:sp>
      <p:sp>
        <p:nvSpPr>
          <p:cNvPr id="6" name="TextBox 5">
            <a:extLst>
              <a:ext uri="{FF2B5EF4-FFF2-40B4-BE49-F238E27FC236}">
                <a16:creationId xmlns:a16="http://schemas.microsoft.com/office/drawing/2014/main" id="{A9690692-073C-20C5-B2BD-2AB874BC3A3C}"/>
              </a:ext>
            </a:extLst>
          </p:cNvPr>
          <p:cNvSpPr txBox="1"/>
          <p:nvPr/>
        </p:nvSpPr>
        <p:spPr>
          <a:xfrm>
            <a:off x="1067159" y="12345800"/>
            <a:ext cx="22249681" cy="11228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3200" b="1" i="0" u="none" strike="noStrike" cap="none" spc="0" normalizeH="0" baseline="0" dirty="0">
                <a:ln>
                  <a:noFill/>
                </a:ln>
                <a:solidFill>
                  <a:srgbClr val="000000"/>
                </a:solidFill>
                <a:effectLst/>
                <a:uFillTx/>
                <a:latin typeface="+mn-lt"/>
                <a:ea typeface="+mn-ea"/>
                <a:cs typeface="+mn-cs"/>
                <a:sym typeface="Helvetica Neue"/>
              </a:rPr>
              <a:t>(Oct 2025: </a:t>
            </a:r>
            <a:r>
              <a:rPr lang="en-US" sz="3200" b="1" dirty="0"/>
              <a:t>198k+) </a:t>
            </a:r>
            <a:r>
              <a:rPr kumimoji="0" lang="en-US" sz="3200" b="0" i="0" u="none" strike="noStrike" cap="none" spc="0" normalizeH="0" baseline="0" dirty="0">
                <a:ln>
                  <a:noFill/>
                </a:ln>
                <a:solidFill>
                  <a:srgbClr val="000000"/>
                </a:solidFill>
                <a:effectLst/>
                <a:uFillTx/>
                <a:latin typeface="+mn-lt"/>
                <a:ea typeface="+mn-ea"/>
                <a:cs typeface="+mn-cs"/>
                <a:sym typeface="Helvetica Neue"/>
              </a:rPr>
              <a:t>One of the top cited papers of the 21</a:t>
            </a:r>
            <a:r>
              <a:rPr kumimoji="0" lang="en-US" sz="3200" b="0" i="0" u="none" strike="noStrike" cap="none" spc="0" normalizeH="0" baseline="30000" dirty="0">
                <a:ln>
                  <a:noFill/>
                </a:ln>
                <a:solidFill>
                  <a:srgbClr val="000000"/>
                </a:solidFill>
                <a:effectLst/>
                <a:uFillTx/>
                <a:latin typeface="+mn-lt"/>
                <a:ea typeface="+mn-ea"/>
                <a:cs typeface="+mn-cs"/>
                <a:sym typeface="Helvetica Neue"/>
              </a:rPr>
              <a:t>st</a:t>
            </a:r>
            <a:r>
              <a:rPr kumimoji="0" lang="en-US" sz="3200" b="0" i="0" u="none" strike="noStrike" cap="none" spc="0" normalizeH="0" baseline="0" dirty="0">
                <a:ln>
                  <a:noFill/>
                </a:ln>
                <a:solidFill>
                  <a:srgbClr val="000000"/>
                </a:solidFill>
                <a:effectLst/>
                <a:uFillTx/>
                <a:latin typeface="+mn-lt"/>
                <a:ea typeface="+mn-ea"/>
                <a:cs typeface="+mn-cs"/>
                <a:sym typeface="Helvetica Neue"/>
              </a:rPr>
              <a:t> century: </a:t>
            </a:r>
            <a:r>
              <a:rPr kumimoji="0" lang="en-US" sz="3200" b="0" i="0" u="none" strike="noStrike" cap="none" spc="0" normalizeH="0" baseline="0" dirty="0">
                <a:ln>
                  <a:noFill/>
                </a:ln>
                <a:solidFill>
                  <a:srgbClr val="000000"/>
                </a:solidFill>
                <a:effectLst/>
                <a:uFillTx/>
                <a:latin typeface="+mn-lt"/>
                <a:ea typeface="+mn-ea"/>
                <a:cs typeface="+mn-cs"/>
                <a:sym typeface="Helvetica Neue"/>
                <a:hlinkClick r:id="rId3"/>
              </a:rPr>
              <a:t>https://www.nature.com/articles/d41586-025-01125-9</a:t>
            </a:r>
            <a:r>
              <a:rPr kumimoji="0" lang="en-US" sz="3200" b="0" i="0" u="none" strike="noStrike" cap="none" spc="0" normalizeH="0" baseline="0" dirty="0">
                <a:ln>
                  <a:noFill/>
                </a:ln>
                <a:solidFill>
                  <a:srgbClr val="000000"/>
                </a:solidFill>
                <a:effectLst/>
                <a:uFillTx/>
                <a:latin typeface="+mn-lt"/>
                <a:ea typeface="+mn-ea"/>
                <a:cs typeface="+mn-cs"/>
                <a:sym typeface="Helvetica Neue"/>
              </a:rPr>
              <a:t> </a:t>
            </a:r>
          </a:p>
        </p:txBody>
      </p:sp>
      <p:pic>
        <p:nvPicPr>
          <p:cNvPr id="8" name="Picture 7" descr="A close-up of a list of information&#10;&#10;Description automatically generated">
            <a:extLst>
              <a:ext uri="{FF2B5EF4-FFF2-40B4-BE49-F238E27FC236}">
                <a16:creationId xmlns:a16="http://schemas.microsoft.com/office/drawing/2014/main" id="{7B0E8D7B-8FF3-EAA9-748F-725D34598A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3229" y="3578478"/>
            <a:ext cx="14879171" cy="9058022"/>
          </a:xfrm>
          <a:prstGeom prst="rect">
            <a:avLst/>
          </a:prstGeom>
          <a:ln w="76200">
            <a:solidFill>
              <a:srgbClr val="C00000"/>
            </a:solidFill>
          </a:ln>
        </p:spPr>
      </p:pic>
    </p:spTree>
    <p:extLst>
      <p:ext uri="{BB962C8B-B14F-4D97-AF65-F5344CB8AC3E}">
        <p14:creationId xmlns:p14="http://schemas.microsoft.com/office/powerpoint/2010/main" val="179109483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LLM Prompt:"/>
          <p:cNvSpPr txBox="1">
            <a:spLocks noGrp="1"/>
          </p:cNvSpPr>
          <p:nvPr>
            <p:ph type="title"/>
          </p:nvPr>
        </p:nvSpPr>
        <p:spPr>
          <a:xfrm>
            <a:off x="1206500" y="580374"/>
            <a:ext cx="21971000" cy="1433163"/>
          </a:xfrm>
          <a:prstGeom prst="rect">
            <a:avLst/>
          </a:prstGeom>
        </p:spPr>
        <p:txBody>
          <a:bodyPr/>
          <a:lstStyle/>
          <a:p>
            <a:r>
              <a:rPr lang="en-US" dirty="0"/>
              <a:t>When we put it into the LLM: </a:t>
            </a:r>
            <a:endParaRPr dirty="0"/>
          </a:p>
        </p:txBody>
      </p:sp>
      <p:pic>
        <p:nvPicPr>
          <p:cNvPr id="4" name="Picture 3">
            <a:extLst>
              <a:ext uri="{FF2B5EF4-FFF2-40B4-BE49-F238E27FC236}">
                <a16:creationId xmlns:a16="http://schemas.microsoft.com/office/drawing/2014/main" id="{32570547-4316-6150-7097-AB3B0C733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75894"/>
            <a:ext cx="8949919" cy="4051445"/>
          </a:xfrm>
          <a:prstGeom prst="rect">
            <a:avLst/>
          </a:prstGeom>
          <a:ln>
            <a:solidFill>
              <a:schemeClr val="tx1"/>
            </a:solidFill>
          </a:ln>
        </p:spPr>
      </p:pic>
      <p:sp>
        <p:nvSpPr>
          <p:cNvPr id="5" name="Text Placeholder 2">
            <a:extLst>
              <a:ext uri="{FF2B5EF4-FFF2-40B4-BE49-F238E27FC236}">
                <a16:creationId xmlns:a16="http://schemas.microsoft.com/office/drawing/2014/main" id="{B0EC7269-97F4-7159-1F45-C0EB0461BCA3}"/>
              </a:ext>
            </a:extLst>
          </p:cNvPr>
          <p:cNvSpPr>
            <a:spLocks noGrp="1"/>
          </p:cNvSpPr>
          <p:nvPr>
            <p:ph type="body" sz="quarter" idx="21"/>
          </p:nvPr>
        </p:nvSpPr>
        <p:spPr>
          <a:xfrm>
            <a:off x="2571002" y="4201761"/>
            <a:ext cx="4602629" cy="934780"/>
          </a:xfrm>
        </p:spPr>
        <p:txBody>
          <a:bodyPr/>
          <a:lstStyle/>
          <a:p>
            <a:r>
              <a:rPr lang="en-US" dirty="0"/>
              <a:t>Base prompt </a:t>
            </a:r>
          </a:p>
        </p:txBody>
      </p:sp>
      <p:sp>
        <p:nvSpPr>
          <p:cNvPr id="7" name="Plus 6">
            <a:extLst>
              <a:ext uri="{FF2B5EF4-FFF2-40B4-BE49-F238E27FC236}">
                <a16:creationId xmlns:a16="http://schemas.microsoft.com/office/drawing/2014/main" id="{4B1ECB45-F01B-DB9F-A250-0C4E40F24559}"/>
              </a:ext>
            </a:extLst>
          </p:cNvPr>
          <p:cNvSpPr/>
          <p:nvPr/>
        </p:nvSpPr>
        <p:spPr>
          <a:xfrm>
            <a:off x="9124732" y="7427557"/>
            <a:ext cx="1855694" cy="1748118"/>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Text Placeholder 2">
            <a:extLst>
              <a:ext uri="{FF2B5EF4-FFF2-40B4-BE49-F238E27FC236}">
                <a16:creationId xmlns:a16="http://schemas.microsoft.com/office/drawing/2014/main" id="{AA3836F7-5C94-29A6-0E4E-EC87CE86DFEB}"/>
              </a:ext>
            </a:extLst>
          </p:cNvPr>
          <p:cNvSpPr txBox="1">
            <a:spLocks/>
          </p:cNvSpPr>
          <p:nvPr/>
        </p:nvSpPr>
        <p:spPr>
          <a:xfrm>
            <a:off x="10468162" y="4201760"/>
            <a:ext cx="6351496" cy="9347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19" rIns="45719" bIns="45719">
            <a:norm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dirty="0"/>
              <a:t>Grant Application</a:t>
            </a:r>
          </a:p>
        </p:txBody>
      </p:sp>
      <p:sp>
        <p:nvSpPr>
          <p:cNvPr id="9" name="Equal 8">
            <a:extLst>
              <a:ext uri="{FF2B5EF4-FFF2-40B4-BE49-F238E27FC236}">
                <a16:creationId xmlns:a16="http://schemas.microsoft.com/office/drawing/2014/main" id="{FF0BF9F9-47E9-237E-2610-96F1469C5114}"/>
              </a:ext>
            </a:extLst>
          </p:cNvPr>
          <p:cNvSpPr/>
          <p:nvPr/>
        </p:nvSpPr>
        <p:spPr>
          <a:xfrm>
            <a:off x="16613466" y="7575475"/>
            <a:ext cx="1855695" cy="1452282"/>
          </a:xfrm>
          <a:prstGeom prst="mathEqual">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2">
            <a:extLst>
              <a:ext uri="{FF2B5EF4-FFF2-40B4-BE49-F238E27FC236}">
                <a16:creationId xmlns:a16="http://schemas.microsoft.com/office/drawing/2014/main" id="{E4A759FC-44B0-E472-A5EA-65062EA44A54}"/>
              </a:ext>
            </a:extLst>
          </p:cNvPr>
          <p:cNvSpPr txBox="1">
            <a:spLocks/>
          </p:cNvSpPr>
          <p:nvPr/>
        </p:nvSpPr>
        <p:spPr>
          <a:xfrm>
            <a:off x="19289431" y="4201760"/>
            <a:ext cx="6351496" cy="9347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19" rIns="45719" bIns="45719">
            <a:norm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dirty="0"/>
              <a:t>Output</a:t>
            </a:r>
          </a:p>
        </p:txBody>
      </p:sp>
      <p:sp>
        <p:nvSpPr>
          <p:cNvPr id="14" name="Text Placeholder 2">
            <a:extLst>
              <a:ext uri="{FF2B5EF4-FFF2-40B4-BE49-F238E27FC236}">
                <a16:creationId xmlns:a16="http://schemas.microsoft.com/office/drawing/2014/main" id="{7034D080-B72F-DB3F-3D7B-B987F287D2EA}"/>
              </a:ext>
            </a:extLst>
          </p:cNvPr>
          <p:cNvSpPr txBox="1">
            <a:spLocks/>
          </p:cNvSpPr>
          <p:nvPr/>
        </p:nvSpPr>
        <p:spPr>
          <a:xfrm>
            <a:off x="18800998" y="10377219"/>
            <a:ext cx="4376502" cy="27584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19" rIns="45719" bIns="45719">
            <a:norm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hangingPunct="1"/>
            <a:r>
              <a:rPr lang="en-US" b="0" dirty="0"/>
              <a:t>Scores &amp; Qualitative Assessment</a:t>
            </a:r>
          </a:p>
        </p:txBody>
      </p:sp>
      <p:pic>
        <p:nvPicPr>
          <p:cNvPr id="5122" name="Picture 2">
            <a:extLst>
              <a:ext uri="{FF2B5EF4-FFF2-40B4-BE49-F238E27FC236}">
                <a16:creationId xmlns:a16="http://schemas.microsoft.com/office/drawing/2014/main" id="{4548D64B-C76E-A5CA-D43B-BFC08CDE60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6726" y="6858000"/>
            <a:ext cx="2933700" cy="27686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Text-Document Icons - Free SVG &amp; PNG ...">
            <a:extLst>
              <a:ext uri="{FF2B5EF4-FFF2-40B4-BE49-F238E27FC236}">
                <a16:creationId xmlns:a16="http://schemas.microsoft.com/office/drawing/2014/main" id="{BF36D65A-F077-CE01-1AA9-8EB8325D1F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38357" y="6247327"/>
            <a:ext cx="4129892" cy="4129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65275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4 Experiments</a:t>
            </a:r>
            <a:endParaRPr dirty="0"/>
          </a:p>
        </p:txBody>
      </p:sp>
      <p:sp>
        <p:nvSpPr>
          <p:cNvPr id="3" name="TextBox 2">
            <a:extLst>
              <a:ext uri="{FF2B5EF4-FFF2-40B4-BE49-F238E27FC236}">
                <a16:creationId xmlns:a16="http://schemas.microsoft.com/office/drawing/2014/main" id="{808F7FC6-944D-9063-57B6-41E8A897C393}"/>
              </a:ext>
            </a:extLst>
          </p:cNvPr>
          <p:cNvSpPr txBox="1"/>
          <p:nvPr/>
        </p:nvSpPr>
        <p:spPr>
          <a:xfrm>
            <a:off x="1206500" y="3226836"/>
            <a:ext cx="21971000" cy="69665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t>Assumption: </a:t>
            </a:r>
            <a:r>
              <a:rPr lang="en-US" dirty="0"/>
              <a:t>inclusion of training data &amp; prompt matters</a:t>
            </a:r>
            <a:endParaRPr lang="en-US" b="1" dirty="0"/>
          </a:p>
          <a:p>
            <a:endParaRPr lang="en-US" dirty="0"/>
          </a:p>
          <a:p>
            <a:r>
              <a:rPr lang="en-US" i="1" u="sng" dirty="0"/>
              <a:t>Experiment 1</a:t>
            </a:r>
            <a:r>
              <a:rPr lang="en-US" dirty="0"/>
              <a:t>: baseline - no ‘training data provided to prompt </a:t>
            </a:r>
          </a:p>
          <a:p>
            <a:r>
              <a:rPr lang="en-US" i="1" u="sng" dirty="0"/>
              <a:t>Experiment 2</a:t>
            </a:r>
            <a:r>
              <a:rPr lang="en-US" dirty="0"/>
              <a:t>: trained w/ 1 human reviewer example for applicant A </a:t>
            </a:r>
          </a:p>
          <a:p>
            <a:r>
              <a:rPr lang="en-US" i="1" u="sng" dirty="0"/>
              <a:t>Experiment 3: </a:t>
            </a:r>
            <a:r>
              <a:rPr lang="en-US" dirty="0"/>
              <a:t>trained w/ 4 human diff. reviewer examples for applicant A </a:t>
            </a:r>
          </a:p>
          <a:p>
            <a:r>
              <a:rPr lang="en-US" i="1" u="sng" dirty="0"/>
              <a:t>Experiment 4</a:t>
            </a:r>
            <a:r>
              <a:rPr lang="en-US" dirty="0"/>
              <a:t>: experiment 2 + updated prompt to ”be stricter”  </a:t>
            </a:r>
          </a:p>
        </p:txBody>
      </p:sp>
    </p:spTree>
    <p:extLst>
      <p:ext uri="{BB962C8B-B14F-4D97-AF65-F5344CB8AC3E}">
        <p14:creationId xmlns:p14="http://schemas.microsoft.com/office/powerpoint/2010/main" val="152749800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Experiment 1 – Baseline Prompt Only</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7944" y="3262125"/>
            <a:ext cx="19528669" cy="8840228"/>
          </a:xfrm>
          <a:prstGeom prst="rect">
            <a:avLst/>
          </a:prstGeom>
          <a:ln>
            <a:solidFill>
              <a:schemeClr val="tx1"/>
            </a:solidFill>
          </a:ln>
        </p:spPr>
      </p:pic>
    </p:spTree>
    <p:extLst>
      <p:ext uri="{BB962C8B-B14F-4D97-AF65-F5344CB8AC3E}">
        <p14:creationId xmlns:p14="http://schemas.microsoft.com/office/powerpoint/2010/main" val="40893356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Experiment 2 – Baseline + 1 example</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569" y="2582208"/>
            <a:ext cx="7765302" cy="3515193"/>
          </a:xfrm>
          <a:prstGeom prst="rect">
            <a:avLst/>
          </a:prstGeom>
          <a:ln>
            <a:solidFill>
              <a:schemeClr val="tx1"/>
            </a:solidFill>
          </a:ln>
        </p:spPr>
      </p:pic>
      <p:sp>
        <p:nvSpPr>
          <p:cNvPr id="5" name="Plus 4">
            <a:extLst>
              <a:ext uri="{FF2B5EF4-FFF2-40B4-BE49-F238E27FC236}">
                <a16:creationId xmlns:a16="http://schemas.microsoft.com/office/drawing/2014/main" id="{443EA483-B1EE-4AA6-2A36-53C710AEFE4D}"/>
              </a:ext>
            </a:extLst>
          </p:cNvPr>
          <p:cNvSpPr/>
          <p:nvPr/>
        </p:nvSpPr>
        <p:spPr>
          <a:xfrm>
            <a:off x="9852211" y="6456384"/>
            <a:ext cx="1488518" cy="1302453"/>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 name="Picture 6">
            <a:extLst>
              <a:ext uri="{FF2B5EF4-FFF2-40B4-BE49-F238E27FC236}">
                <a16:creationId xmlns:a16="http://schemas.microsoft.com/office/drawing/2014/main" id="{F7FB887C-8BA9-0FCB-C24D-F8B60F9FF1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4228" y="7972193"/>
            <a:ext cx="20116296" cy="5281268"/>
          </a:xfrm>
          <a:prstGeom prst="rect">
            <a:avLst/>
          </a:prstGeom>
        </p:spPr>
      </p:pic>
    </p:spTree>
    <p:extLst>
      <p:ext uri="{BB962C8B-B14F-4D97-AF65-F5344CB8AC3E}">
        <p14:creationId xmlns:p14="http://schemas.microsoft.com/office/powerpoint/2010/main" val="280467664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Experiment 3 – Baseline + Many examples</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569" y="2582208"/>
            <a:ext cx="7765302" cy="3515193"/>
          </a:xfrm>
          <a:prstGeom prst="rect">
            <a:avLst/>
          </a:prstGeom>
          <a:ln>
            <a:solidFill>
              <a:schemeClr val="tx1"/>
            </a:solidFill>
          </a:ln>
        </p:spPr>
      </p:pic>
      <p:sp>
        <p:nvSpPr>
          <p:cNvPr id="5" name="Plus 4">
            <a:extLst>
              <a:ext uri="{FF2B5EF4-FFF2-40B4-BE49-F238E27FC236}">
                <a16:creationId xmlns:a16="http://schemas.microsoft.com/office/drawing/2014/main" id="{443EA483-B1EE-4AA6-2A36-53C710AEFE4D}"/>
              </a:ext>
            </a:extLst>
          </p:cNvPr>
          <p:cNvSpPr/>
          <p:nvPr/>
        </p:nvSpPr>
        <p:spPr>
          <a:xfrm>
            <a:off x="10137961" y="6385288"/>
            <a:ext cx="1488518" cy="1302453"/>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3" name="Picture 2">
            <a:extLst>
              <a:ext uri="{FF2B5EF4-FFF2-40B4-BE49-F238E27FC236}">
                <a16:creationId xmlns:a16="http://schemas.microsoft.com/office/drawing/2014/main" id="{5C52E2E6-ABE9-2309-348B-82092A13A5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7743" y="7618600"/>
            <a:ext cx="19817471" cy="5740371"/>
          </a:xfrm>
          <a:prstGeom prst="rect">
            <a:avLst/>
          </a:prstGeom>
        </p:spPr>
      </p:pic>
    </p:spTree>
    <p:extLst>
      <p:ext uri="{BB962C8B-B14F-4D97-AF65-F5344CB8AC3E}">
        <p14:creationId xmlns:p14="http://schemas.microsoft.com/office/powerpoint/2010/main" val="318999044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normAutofit/>
          </a:bodyPr>
          <a:lstStyle>
            <a:lvl1pPr>
              <a:defRPr>
                <a:solidFill>
                  <a:schemeClr val="accent5">
                    <a:lumOff val="-29866"/>
                  </a:schemeClr>
                </a:solidFill>
              </a:defRPr>
            </a:lvl1pPr>
          </a:lstStyle>
          <a:p>
            <a:r>
              <a:rPr lang="en-US" dirty="0"/>
              <a:t>Experiment 4 – Experiment 2 + ‘Be Stricter’ </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8864" y="2388760"/>
            <a:ext cx="7765302" cy="3515193"/>
          </a:xfrm>
          <a:prstGeom prst="rect">
            <a:avLst/>
          </a:prstGeom>
          <a:ln>
            <a:solidFill>
              <a:schemeClr val="tx1"/>
            </a:solidFill>
          </a:ln>
        </p:spPr>
      </p:pic>
      <p:sp>
        <p:nvSpPr>
          <p:cNvPr id="5" name="Plus 4">
            <a:extLst>
              <a:ext uri="{FF2B5EF4-FFF2-40B4-BE49-F238E27FC236}">
                <a16:creationId xmlns:a16="http://schemas.microsoft.com/office/drawing/2014/main" id="{443EA483-B1EE-4AA6-2A36-53C710AEFE4D}"/>
              </a:ext>
            </a:extLst>
          </p:cNvPr>
          <p:cNvSpPr/>
          <p:nvPr/>
        </p:nvSpPr>
        <p:spPr>
          <a:xfrm>
            <a:off x="10013575" y="5903953"/>
            <a:ext cx="1795880" cy="1571394"/>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3" name="Picture 2">
            <a:extLst>
              <a:ext uri="{FF2B5EF4-FFF2-40B4-BE49-F238E27FC236}">
                <a16:creationId xmlns:a16="http://schemas.microsoft.com/office/drawing/2014/main" id="{00FA8FE5-D534-F13B-89A5-61D6509D99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9142" y="7281898"/>
            <a:ext cx="18620627" cy="6011532"/>
          </a:xfrm>
          <a:prstGeom prst="rect">
            <a:avLst/>
          </a:prstGeom>
        </p:spPr>
      </p:pic>
    </p:spTree>
    <p:extLst>
      <p:ext uri="{BB962C8B-B14F-4D97-AF65-F5344CB8AC3E}">
        <p14:creationId xmlns:p14="http://schemas.microsoft.com/office/powerpoint/2010/main" val="304155930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Finding 1"/>
          <p:cNvSpPr txBox="1">
            <a:spLocks noGrp="1"/>
          </p:cNvSpPr>
          <p:nvPr>
            <p:ph type="title"/>
          </p:nvPr>
        </p:nvSpPr>
        <p:spPr>
          <a:prstGeom prst="rect">
            <a:avLst/>
          </a:prstGeom>
        </p:spPr>
        <p:txBody>
          <a:bodyPr/>
          <a:lstStyle>
            <a:lvl1pPr>
              <a:defRPr>
                <a:solidFill>
                  <a:schemeClr val="accent5">
                    <a:lumOff val="-29866"/>
                  </a:schemeClr>
                </a:solidFill>
              </a:defRPr>
            </a:lvl1pPr>
          </a:lstStyle>
          <a:p>
            <a:r>
              <a:t>Finding 1 </a:t>
            </a:r>
          </a:p>
        </p:txBody>
      </p:sp>
      <p:sp>
        <p:nvSpPr>
          <p:cNvPr id="197" name="LLM Scores Match Human Scor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dirty="0"/>
              <a:t>LLM Scores Match Human Scores</a:t>
            </a:r>
          </a:p>
        </p:txBody>
      </p:sp>
      <p:sp>
        <p:nvSpPr>
          <p:cNvPr id="198" name="Average (mean) Scores (out of 100 points):…"/>
          <p:cNvSpPr txBox="1">
            <a:spLocks noGrp="1"/>
          </p:cNvSpPr>
          <p:nvPr>
            <p:ph type="body" idx="1"/>
          </p:nvPr>
        </p:nvSpPr>
        <p:spPr>
          <a:xfrm>
            <a:off x="1206500" y="3962141"/>
            <a:ext cx="19907211" cy="8256012"/>
          </a:xfrm>
          <a:prstGeom prst="rect">
            <a:avLst/>
          </a:prstGeom>
        </p:spPr>
        <p:txBody>
          <a:bodyPr/>
          <a:lstStyle/>
          <a:p>
            <a:pPr>
              <a:defRPr b="1"/>
            </a:pPr>
            <a:r>
              <a:rPr dirty="0"/>
              <a:t>Average (mean) Scores (out of 100 points)</a:t>
            </a:r>
            <a:r>
              <a:rPr lang="en-US" dirty="0"/>
              <a:t> across all experiments</a:t>
            </a:r>
            <a:r>
              <a:rPr dirty="0"/>
              <a:t>:</a:t>
            </a:r>
          </a:p>
          <a:p>
            <a:r>
              <a:rPr dirty="0"/>
              <a:t>- Human reviewers: 79 points (range: 61-99)</a:t>
            </a:r>
          </a:p>
          <a:p>
            <a:r>
              <a:rPr dirty="0"/>
              <a:t>- AI reviewers: 80 points (range: 62-97)</a:t>
            </a:r>
          </a:p>
          <a:p>
            <a:r>
              <a:rPr dirty="0"/>
              <a:t>- Difference: Less than 1 point </a:t>
            </a:r>
          </a:p>
        </p:txBody>
      </p:sp>
      <p:grpSp>
        <p:nvGrpSpPr>
          <p:cNvPr id="201" name="Group"/>
          <p:cNvGrpSpPr/>
          <p:nvPr/>
        </p:nvGrpSpPr>
        <p:grpSpPr>
          <a:xfrm>
            <a:off x="1860700" y="9713015"/>
            <a:ext cx="20068764" cy="2555459"/>
            <a:chOff x="0" y="0"/>
            <a:chExt cx="18854100" cy="2555458"/>
          </a:xfrm>
        </p:grpSpPr>
        <p:sp>
          <p:nvSpPr>
            <p:cNvPr id="199" name="What this means: Ai gave similar scores to human experts. The Ai was not too harsh or too generous, it evaluated the grants at the same level as humans."/>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dirty="0">
                  <a:latin typeface="+mn-lt"/>
                  <a:ea typeface="+mn-ea"/>
                  <a:cs typeface="+mn-cs"/>
                  <a:sym typeface="Helvetica Neue"/>
                </a:rPr>
                <a:t>What this means: </a:t>
              </a:r>
              <a:r>
                <a:rPr dirty="0"/>
                <a:t>Ai gave similar scores to human experts. </a:t>
              </a:r>
              <a:endParaRPr lang="en-US" dirty="0"/>
            </a:p>
            <a:p>
              <a:pPr defTabSz="825500">
                <a:lnSpc>
                  <a:spcPct val="100000"/>
                </a:lnSpc>
                <a:spcBef>
                  <a:spcPts val="0"/>
                </a:spcBef>
                <a:defRPr sz="4100">
                  <a:latin typeface="Helvetica Neue Medium"/>
                  <a:ea typeface="Helvetica Neue Medium"/>
                  <a:cs typeface="Helvetica Neue Medium"/>
                  <a:sym typeface="Helvetica Neue Medium"/>
                </a:defRPr>
              </a:pPr>
              <a:r>
                <a:rPr dirty="0"/>
                <a:t>The </a:t>
              </a:r>
              <a:r>
                <a:rPr i="1" u="sng" dirty="0"/>
                <a:t>Ai was not too harsh or too generous</a:t>
              </a:r>
              <a:r>
                <a:rPr dirty="0"/>
                <a:t>, </a:t>
              </a:r>
              <a:r>
                <a:rPr lang="en-US" dirty="0"/>
                <a:t>I</a:t>
              </a:r>
              <a:r>
                <a:rPr dirty="0"/>
                <a:t>t evaluated the grants at </a:t>
              </a:r>
              <a:r>
                <a:rPr lang="en-US" dirty="0"/>
                <a:t>a similar </a:t>
              </a:r>
              <a:r>
                <a:rPr dirty="0"/>
                <a:t>level as humans.</a:t>
              </a:r>
            </a:p>
          </p:txBody>
        </p:sp>
        <p:sp>
          <p:nvSpPr>
            <p:cNvPr id="200"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9BF42D-3B34-ED99-212F-355641F7C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609" y="228600"/>
            <a:ext cx="22264782" cy="13258800"/>
          </a:xfrm>
          <a:prstGeom prst="rect">
            <a:avLst/>
          </a:prstGeom>
          <a:ln w="76200">
            <a:solidFill>
              <a:srgbClr val="C00000"/>
            </a:solidFill>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slide6_criteria_comparison.png" descr="slide6_criteria_comparison.png"/>
          <p:cNvPicPr>
            <a:picLocks noChangeAspect="1"/>
          </p:cNvPicPr>
          <p:nvPr/>
        </p:nvPicPr>
        <p:blipFill>
          <a:blip r:embed="rId2"/>
          <a:stretch>
            <a:fillRect/>
          </a:stretch>
        </p:blipFill>
        <p:spPr>
          <a:xfrm>
            <a:off x="4069427" y="295538"/>
            <a:ext cx="16245146" cy="13124924"/>
          </a:xfrm>
          <a:prstGeom prst="rect">
            <a:avLst/>
          </a:prstGeom>
          <a:ln w="63500">
            <a:solidFill>
              <a:schemeClr val="accent5">
                <a:lumOff val="-29866"/>
              </a:schemeClr>
            </a:solidFill>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 name="grok_alignment_superiority.png" descr="grok_alignment_superiority.png"/>
          <p:cNvPicPr>
            <a:picLocks noChangeAspect="1"/>
          </p:cNvPicPr>
          <p:nvPr/>
        </p:nvPicPr>
        <p:blipFill>
          <a:blip r:embed="rId2"/>
          <a:stretch>
            <a:fillRect/>
          </a:stretch>
        </p:blipFill>
        <p:spPr>
          <a:xfrm>
            <a:off x="387245" y="0"/>
            <a:ext cx="23609510" cy="13716000"/>
          </a:xfrm>
          <a:prstGeom prst="rect">
            <a:avLst/>
          </a:prstGeom>
          <a:ln w="12700">
            <a:miter lim="400000"/>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AI is More Consistent"/>
          <p:cNvSpPr txBox="1">
            <a:spLocks noGrp="1"/>
          </p:cNvSpPr>
          <p:nvPr>
            <p:ph type="body" idx="21"/>
          </p:nvPr>
        </p:nvSpPr>
        <p:spPr>
          <a:xfrm>
            <a:off x="1206500" y="2355185"/>
            <a:ext cx="21971000"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AI is More Consistent</a:t>
            </a:r>
          </a:p>
        </p:txBody>
      </p:sp>
      <p:sp>
        <p:nvSpPr>
          <p:cNvPr id="210" name="How much reviewers disagreed with each other:…"/>
          <p:cNvSpPr txBox="1">
            <a:spLocks noGrp="1"/>
          </p:cNvSpPr>
          <p:nvPr>
            <p:ph type="body" idx="1"/>
          </p:nvPr>
        </p:nvSpPr>
        <p:spPr>
          <a:xfrm>
            <a:off x="1235787" y="4507194"/>
            <a:ext cx="20380409" cy="8256012"/>
          </a:xfrm>
          <a:prstGeom prst="rect">
            <a:avLst/>
          </a:prstGeom>
        </p:spPr>
        <p:txBody>
          <a:bodyPr/>
          <a:lstStyle/>
          <a:p>
            <a:pPr>
              <a:defRPr u="sng"/>
            </a:pPr>
            <a:r>
              <a:t>How much reviewers disagreed with each other:</a:t>
            </a:r>
          </a:p>
          <a:p>
            <a:pPr lvl="3"/>
            <a:r>
              <a:t>- Human reviewers varied by 11 points on average</a:t>
            </a:r>
          </a:p>
          <a:p>
            <a:pPr lvl="3"/>
            <a:r>
              <a:t>- AI reviewers varied by 7 points on average</a:t>
            </a:r>
          </a:p>
          <a:p>
            <a:pPr lvl="3"/>
            <a:r>
              <a:t>- AI was 39% more consistent</a:t>
            </a:r>
          </a:p>
        </p:txBody>
      </p:sp>
      <p:grpSp>
        <p:nvGrpSpPr>
          <p:cNvPr id="213" name="Group"/>
          <p:cNvGrpSpPr/>
          <p:nvPr/>
        </p:nvGrpSpPr>
        <p:grpSpPr>
          <a:xfrm>
            <a:off x="1998941" y="10133178"/>
            <a:ext cx="18854101" cy="2555459"/>
            <a:chOff x="0" y="0"/>
            <a:chExt cx="18854100" cy="2555458"/>
          </a:xfrm>
        </p:grpSpPr>
        <p:sp>
          <p:nvSpPr>
            <p:cNvPr id="211" name="What this means: Relates to issue of how different reviewers sometimes give very different scores. AI is more consistent: your grant is less likely to get a very different score based on which AI reviews it."/>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a:latin typeface="+mn-lt"/>
                  <a:ea typeface="+mn-ea"/>
                  <a:cs typeface="+mn-cs"/>
                  <a:sym typeface="Helvetica Neue"/>
                </a:rPr>
                <a:t>What this means: </a:t>
              </a:r>
              <a:r>
                <a:t>Relates to issue of how different reviewers sometimes give very different scores. AI is more consistent: your grant is less likely to get a very different score based on which AI reviews it.</a:t>
              </a:r>
            </a:p>
          </p:txBody>
        </p:sp>
        <p:sp>
          <p:nvSpPr>
            <p:cNvPr id="212"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
        <p:nvSpPr>
          <p:cNvPr id="214" name="Finding 2"/>
          <p:cNvSpPr txBox="1">
            <a:spLocks noGrp="1"/>
          </p:cNvSpPr>
          <p:nvPr>
            <p:ph type="title"/>
          </p:nvPr>
        </p:nvSpPr>
        <p:spPr>
          <a:prstGeom prst="rect">
            <a:avLst/>
          </a:prstGeom>
        </p:spPr>
        <p:txBody>
          <a:bodyPr/>
          <a:lstStyle>
            <a:lvl1pPr>
              <a:defRPr>
                <a:solidFill>
                  <a:schemeClr val="accent5">
                    <a:lumOff val="-29866"/>
                  </a:schemeClr>
                </a:solidFill>
              </a:defRPr>
            </a:lvl1pPr>
          </a:lstStyle>
          <a:p>
            <a:r>
              <a:t>Finding 2</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 name="llm_model_consistency_comparison.png" descr="llm_model_consistency_comparison.png"/>
          <p:cNvPicPr>
            <a:picLocks noChangeAspect="1"/>
          </p:cNvPicPr>
          <p:nvPr/>
        </p:nvPicPr>
        <p:blipFill>
          <a:blip r:embed="rId2"/>
          <a:stretch>
            <a:fillRect/>
          </a:stretch>
        </p:blipFill>
        <p:spPr>
          <a:xfrm>
            <a:off x="370145" y="0"/>
            <a:ext cx="23643710" cy="13716000"/>
          </a:xfrm>
          <a:prstGeom prst="rect">
            <a:avLst/>
          </a:prstGeom>
          <a:ln w="12700">
            <a:miter lim="400000"/>
          </a:ln>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Finding 3"/>
          <p:cNvSpPr txBox="1">
            <a:spLocks noGrp="1"/>
          </p:cNvSpPr>
          <p:nvPr>
            <p:ph type="title"/>
          </p:nvPr>
        </p:nvSpPr>
        <p:spPr>
          <a:prstGeom prst="rect">
            <a:avLst/>
          </a:prstGeom>
        </p:spPr>
        <p:txBody>
          <a:bodyPr/>
          <a:lstStyle>
            <a:lvl1pPr>
              <a:defRPr>
                <a:solidFill>
                  <a:schemeClr val="accent5">
                    <a:lumOff val="-29866"/>
                  </a:schemeClr>
                </a:solidFill>
              </a:defRPr>
            </a:lvl1pPr>
          </a:lstStyle>
          <a:p>
            <a:r>
              <a:t>Finding 3 </a:t>
            </a:r>
          </a:p>
        </p:txBody>
      </p:sp>
      <p:sp>
        <p:nvSpPr>
          <p:cNvPr id="219" name="AI and Humans differ in there final determination - Ai is more optimistic"/>
          <p:cNvSpPr txBox="1">
            <a:spLocks noGrp="1"/>
          </p:cNvSpPr>
          <p:nvPr>
            <p:ph type="body" idx="21"/>
          </p:nvPr>
        </p:nvSpPr>
        <p:spPr>
          <a:xfrm>
            <a:off x="1206500" y="2782982"/>
            <a:ext cx="21971000"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817244">
              <a:defRPr sz="5445" b="0"/>
            </a:lvl1pPr>
          </a:lstStyle>
          <a:p>
            <a:pPr>
              <a:defRPr b="1"/>
            </a:pPr>
            <a:r>
              <a:rPr b="0" dirty="0"/>
              <a:t>AI and Humans differ in final determination - Ai is more optimistic</a:t>
            </a:r>
          </a:p>
        </p:txBody>
      </p:sp>
      <p:grpSp>
        <p:nvGrpSpPr>
          <p:cNvPr id="222" name="Group"/>
          <p:cNvGrpSpPr/>
          <p:nvPr/>
        </p:nvGrpSpPr>
        <p:grpSpPr>
          <a:xfrm>
            <a:off x="1341851" y="10426049"/>
            <a:ext cx="18854102" cy="2555460"/>
            <a:chOff x="0" y="0"/>
            <a:chExt cx="18854100" cy="2555458"/>
          </a:xfrm>
        </p:grpSpPr>
        <p:sp>
          <p:nvSpPr>
            <p:cNvPr id="220" name="What this means: Even when AI gives similar scores, it recommends &quot;fund with revisions&quot; much more often. AI seems more optimistic that problems can be fixed."/>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dirty="0">
                  <a:latin typeface="+mn-lt"/>
                  <a:ea typeface="+mn-ea"/>
                  <a:cs typeface="+mn-cs"/>
                  <a:sym typeface="Helvetica Neue"/>
                </a:rPr>
                <a:t>What this means: </a:t>
              </a:r>
              <a:r>
                <a:rPr dirty="0"/>
                <a:t>Even when AI gives similar scores, </a:t>
              </a:r>
              <a:endParaRPr lang="en-US" dirty="0"/>
            </a:p>
            <a:p>
              <a:pPr defTabSz="825500">
                <a:lnSpc>
                  <a:spcPct val="100000"/>
                </a:lnSpc>
                <a:spcBef>
                  <a:spcPts val="0"/>
                </a:spcBef>
                <a:defRPr sz="4100">
                  <a:latin typeface="Helvetica Neue Medium"/>
                  <a:ea typeface="Helvetica Neue Medium"/>
                  <a:cs typeface="Helvetica Neue Medium"/>
                  <a:sym typeface="Helvetica Neue Medium"/>
                </a:defRPr>
              </a:pPr>
              <a:r>
                <a:rPr dirty="0"/>
                <a:t>it recommends "fund with revisions" much more often. </a:t>
              </a:r>
            </a:p>
            <a:p>
              <a:pPr defTabSz="825500">
                <a:lnSpc>
                  <a:spcPct val="100000"/>
                </a:lnSpc>
                <a:spcBef>
                  <a:spcPts val="0"/>
                </a:spcBef>
                <a:defRPr sz="4100">
                  <a:latin typeface="Helvetica Neue Medium"/>
                  <a:ea typeface="Helvetica Neue Medium"/>
                  <a:cs typeface="Helvetica Neue Medium"/>
                  <a:sym typeface="Helvetica Neue Medium"/>
                </a:defRPr>
              </a:pPr>
              <a:endParaRPr dirty="0"/>
            </a:p>
          </p:txBody>
        </p:sp>
        <p:sp>
          <p:nvSpPr>
            <p:cNvPr id="221"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graphicFrame>
        <p:nvGraphicFramePr>
          <p:cNvPr id="223" name="Table 1"/>
          <p:cNvGraphicFramePr/>
          <p:nvPr/>
        </p:nvGraphicFramePr>
        <p:xfrm>
          <a:off x="3054403" y="4776680"/>
          <a:ext cx="16728333" cy="4590448"/>
        </p:xfrm>
        <a:graphic>
          <a:graphicData uri="http://schemas.openxmlformats.org/drawingml/2006/table">
            <a:tbl>
              <a:tblPr firstRow="1">
                <a:tableStyleId>{4C3C2611-4C71-4FC5-86AE-919BDF0F9419}</a:tableStyleId>
              </a:tblPr>
              <a:tblGrid>
                <a:gridCol w="5576111">
                  <a:extLst>
                    <a:ext uri="{9D8B030D-6E8A-4147-A177-3AD203B41FA5}">
                      <a16:colId xmlns:a16="http://schemas.microsoft.com/office/drawing/2014/main" val="20000"/>
                    </a:ext>
                  </a:extLst>
                </a:gridCol>
                <a:gridCol w="5576111">
                  <a:extLst>
                    <a:ext uri="{9D8B030D-6E8A-4147-A177-3AD203B41FA5}">
                      <a16:colId xmlns:a16="http://schemas.microsoft.com/office/drawing/2014/main" val="20001"/>
                    </a:ext>
                  </a:extLst>
                </a:gridCol>
                <a:gridCol w="5576111">
                  <a:extLst>
                    <a:ext uri="{9D8B030D-6E8A-4147-A177-3AD203B41FA5}">
                      <a16:colId xmlns:a16="http://schemas.microsoft.com/office/drawing/2014/main" val="20002"/>
                    </a:ext>
                  </a:extLst>
                </a:gridCol>
              </a:tblGrid>
              <a:tr h="1147612">
                <a:tc>
                  <a:txBody>
                    <a:bodyPr/>
                    <a:lstStyle/>
                    <a:p>
                      <a:pPr defTabSz="914400">
                        <a:tabLst>
                          <a:tab pos="1663700" algn="l"/>
                        </a:tabLst>
                        <a:defRPr b="0"/>
                      </a:pPr>
                      <a:r>
                        <a:rPr sz="3200" b="1"/>
                        <a:t>Recommendation</a:t>
                      </a:r>
                    </a:p>
                  </a:txBody>
                  <a:tcPr marL="50800" marR="50800" marT="50800" marB="50800" anchor="ctr" horzOverflow="overflow"/>
                </a:tc>
                <a:tc>
                  <a:txBody>
                    <a:bodyPr/>
                    <a:lstStyle/>
                    <a:p>
                      <a:pPr defTabSz="914400">
                        <a:tabLst>
                          <a:tab pos="1663700" algn="l"/>
                        </a:tabLst>
                        <a:defRPr b="0"/>
                      </a:pPr>
                      <a:r>
                        <a:rPr sz="3200" b="1"/>
                        <a:t>Human Reviewers</a:t>
                      </a:r>
                    </a:p>
                  </a:txBody>
                  <a:tcPr marL="50800" marR="50800" marT="50800" marB="50800" anchor="ctr" horzOverflow="overflow"/>
                </a:tc>
                <a:tc>
                  <a:txBody>
                    <a:bodyPr/>
                    <a:lstStyle/>
                    <a:p>
                      <a:pPr defTabSz="914400">
                        <a:tabLst>
                          <a:tab pos="1663700" algn="l"/>
                        </a:tabLst>
                        <a:defRPr b="0"/>
                      </a:pPr>
                      <a:r>
                        <a:rPr sz="3200" b="1"/>
                        <a:t>AI Reviewers</a:t>
                      </a:r>
                    </a:p>
                  </a:txBody>
                  <a:tcPr marL="50800" marR="50800" marT="50800" marB="50800" anchor="ctr" horzOverflow="overflow"/>
                </a:tc>
                <a:extLst>
                  <a:ext uri="{0D108BD9-81ED-4DB2-BD59-A6C34878D82A}">
                    <a16:rowId xmlns:a16="http://schemas.microsoft.com/office/drawing/2014/main" val="10000"/>
                  </a:ext>
                </a:extLst>
              </a:tr>
              <a:tr h="1147612">
                <a:tc>
                  <a:txBody>
                    <a:bodyPr/>
                    <a:lstStyle/>
                    <a:p>
                      <a:pPr defTabSz="914400"/>
                      <a:r>
                        <a:rPr sz="3200"/>
                        <a:t>Fund</a:t>
                      </a:r>
                    </a:p>
                  </a:txBody>
                  <a:tcPr marL="50800" marR="50800" marT="50800" marB="50800" anchor="ctr" horzOverflow="overflow"/>
                </a:tc>
                <a:tc>
                  <a:txBody>
                    <a:bodyPr/>
                    <a:lstStyle/>
                    <a:p>
                      <a:pPr defTabSz="914400"/>
                      <a:r>
                        <a:rPr sz="3200" b="1">
                          <a:solidFill>
                            <a:schemeClr val="accent5">
                              <a:lumOff val="-29866"/>
                            </a:schemeClr>
                          </a:solidFill>
                        </a:rPr>
                        <a:t>33%</a:t>
                      </a:r>
                    </a:p>
                  </a:txBody>
                  <a:tcPr marL="50800" marR="50800" marT="50800" marB="50800" anchor="ctr" horzOverflow="overflow"/>
                </a:tc>
                <a:tc>
                  <a:txBody>
                    <a:bodyPr/>
                    <a:lstStyle/>
                    <a:p>
                      <a:pPr defTabSz="914400"/>
                      <a:r>
                        <a:rPr sz="3200"/>
                        <a:t>19%</a:t>
                      </a:r>
                    </a:p>
                  </a:txBody>
                  <a:tcPr marL="50800" marR="50800" marT="50800" marB="50800" anchor="ctr" horzOverflow="overflow"/>
                </a:tc>
                <a:extLst>
                  <a:ext uri="{0D108BD9-81ED-4DB2-BD59-A6C34878D82A}">
                    <a16:rowId xmlns:a16="http://schemas.microsoft.com/office/drawing/2014/main" val="10001"/>
                  </a:ext>
                </a:extLst>
              </a:tr>
              <a:tr h="1147612">
                <a:tc>
                  <a:txBody>
                    <a:bodyPr/>
                    <a:lstStyle/>
                    <a:p>
                      <a:pPr defTabSz="914400"/>
                      <a:r>
                        <a:rPr sz="3200"/>
                        <a:t>Do Not Fund</a:t>
                      </a:r>
                    </a:p>
                  </a:txBody>
                  <a:tcPr marL="50800" marR="50800" marT="50800" marB="50800" anchor="ctr" horzOverflow="overflow"/>
                </a:tc>
                <a:tc>
                  <a:txBody>
                    <a:bodyPr/>
                    <a:lstStyle/>
                    <a:p>
                      <a:pPr defTabSz="914400"/>
                      <a:r>
                        <a:rPr sz="3200" b="1">
                          <a:solidFill>
                            <a:schemeClr val="accent5">
                              <a:lumOff val="-29866"/>
                            </a:schemeClr>
                          </a:solidFill>
                        </a:rPr>
                        <a:t>42%</a:t>
                      </a:r>
                    </a:p>
                  </a:txBody>
                  <a:tcPr marL="50800" marR="50800" marT="50800" marB="50800" anchor="ctr" horzOverflow="overflow"/>
                </a:tc>
                <a:tc>
                  <a:txBody>
                    <a:bodyPr/>
                    <a:lstStyle/>
                    <a:p>
                      <a:pPr defTabSz="914400"/>
                      <a:r>
                        <a:rPr sz="3200"/>
                        <a:t>20%</a:t>
                      </a:r>
                    </a:p>
                  </a:txBody>
                  <a:tcPr marL="50800" marR="50800" marT="50800" marB="50800" anchor="ctr" horzOverflow="overflow"/>
                </a:tc>
                <a:extLst>
                  <a:ext uri="{0D108BD9-81ED-4DB2-BD59-A6C34878D82A}">
                    <a16:rowId xmlns:a16="http://schemas.microsoft.com/office/drawing/2014/main" val="10002"/>
                  </a:ext>
                </a:extLst>
              </a:tr>
              <a:tr h="1147612">
                <a:tc>
                  <a:txBody>
                    <a:bodyPr/>
                    <a:lstStyle/>
                    <a:p>
                      <a:pPr defTabSz="914400"/>
                      <a:r>
                        <a:rPr sz="3200"/>
                        <a:t>Fund with Revisions</a:t>
                      </a:r>
                    </a:p>
                  </a:txBody>
                  <a:tcPr marL="50800" marR="50800" marT="50800" marB="50800" anchor="ctr" horzOverflow="overflow"/>
                </a:tc>
                <a:tc>
                  <a:txBody>
                    <a:bodyPr/>
                    <a:lstStyle/>
                    <a:p>
                      <a:pPr defTabSz="914400"/>
                      <a:r>
                        <a:rPr sz="3200"/>
                        <a:t>25%</a:t>
                      </a:r>
                    </a:p>
                  </a:txBody>
                  <a:tcPr marL="50800" marR="50800" marT="50800" marB="50800" anchor="ctr" horzOverflow="overflow"/>
                </a:tc>
                <a:tc>
                  <a:txBody>
                    <a:bodyPr/>
                    <a:lstStyle/>
                    <a:p>
                      <a:pPr defTabSz="914400"/>
                      <a:r>
                        <a:rPr sz="3200" b="1">
                          <a:solidFill>
                            <a:schemeClr val="accent5">
                              <a:lumOff val="-29866"/>
                            </a:schemeClr>
                          </a:solidFill>
                        </a:rPr>
                        <a:t>61%</a:t>
                      </a:r>
                    </a:p>
                  </a:txBody>
                  <a:tcPr marL="50800" marR="50800" marT="50800" marB="50800" anchor="ctr" horzOverflow="overflow"/>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Finding 4"/>
          <p:cNvSpPr txBox="1">
            <a:spLocks noGrp="1"/>
          </p:cNvSpPr>
          <p:nvPr>
            <p:ph type="title"/>
          </p:nvPr>
        </p:nvSpPr>
        <p:spPr>
          <a:prstGeom prst="rect">
            <a:avLst/>
          </a:prstGeom>
        </p:spPr>
        <p:txBody>
          <a:bodyPr/>
          <a:lstStyle>
            <a:lvl1pPr>
              <a:defRPr>
                <a:solidFill>
                  <a:schemeClr val="accent5">
                    <a:lumOff val="-29866"/>
                  </a:schemeClr>
                </a:solidFill>
              </a:defRPr>
            </a:lvl1pPr>
          </a:lstStyle>
          <a:p>
            <a:r>
              <a:t>Finding 4 </a:t>
            </a:r>
          </a:p>
        </p:txBody>
      </p:sp>
      <p:sp>
        <p:nvSpPr>
          <p:cNvPr id="226" name="Training Data with AI Matters"/>
          <p:cNvSpPr txBox="1">
            <a:spLocks noGrp="1"/>
          </p:cNvSpPr>
          <p:nvPr>
            <p:ph type="body" idx="21"/>
          </p:nvPr>
        </p:nvSpPr>
        <p:spPr>
          <a:xfrm>
            <a:off x="1206500" y="2711580"/>
            <a:ext cx="21971000" cy="9347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Training Data with AI Matters</a:t>
            </a:r>
          </a:p>
        </p:txBody>
      </p:sp>
      <p:grpSp>
        <p:nvGrpSpPr>
          <p:cNvPr id="229" name="Group"/>
          <p:cNvGrpSpPr/>
          <p:nvPr/>
        </p:nvGrpSpPr>
        <p:grpSpPr>
          <a:xfrm>
            <a:off x="1517574" y="10689634"/>
            <a:ext cx="18854102" cy="2555459"/>
            <a:chOff x="0" y="0"/>
            <a:chExt cx="18854100" cy="2555458"/>
          </a:xfrm>
        </p:grpSpPr>
        <p:sp>
          <p:nvSpPr>
            <p:cNvPr id="227" name="What this means: Like training a new reviewer, AI needs good examples to calibrate properly. Multiple examples work better than strict instructions."/>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a:latin typeface="+mn-lt"/>
                  <a:ea typeface="+mn-ea"/>
                  <a:cs typeface="+mn-cs"/>
                  <a:sym typeface="Helvetica Neue"/>
                </a:rPr>
                <a:t>What this means: </a:t>
              </a:r>
              <a:r>
                <a:t>Like training a new reviewer, AI needs good examples to calibrate properly. Multiple examples work better than strict instructions.</a:t>
              </a:r>
            </a:p>
            <a:p>
              <a:pPr defTabSz="825500">
                <a:lnSpc>
                  <a:spcPct val="100000"/>
                </a:lnSpc>
                <a:spcBef>
                  <a:spcPts val="0"/>
                </a:spcBef>
                <a:defRPr sz="4100">
                  <a:latin typeface="Helvetica Neue Medium"/>
                  <a:ea typeface="Helvetica Neue Medium"/>
                  <a:cs typeface="Helvetica Neue Medium"/>
                  <a:sym typeface="Helvetica Neue Medium"/>
                </a:defRPr>
              </a:pPr>
              <a:endParaRPr/>
            </a:p>
          </p:txBody>
        </p:sp>
        <p:sp>
          <p:nvSpPr>
            <p:cNvPr id="228"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
        <p:nvSpPr>
          <p:cNvPr id="230" name="1. No training → AI scored 4.6 points higher than humans…"/>
          <p:cNvSpPr txBox="1"/>
          <p:nvPr/>
        </p:nvSpPr>
        <p:spPr>
          <a:xfrm>
            <a:off x="1706375" y="5314071"/>
            <a:ext cx="22395554" cy="4493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b="1" dirty="0"/>
              <a:t>1. No training</a:t>
            </a:r>
            <a:r>
              <a:rPr dirty="0"/>
              <a:t> → AI scored 4.6 points higher than humans</a:t>
            </a:r>
          </a:p>
          <a:p>
            <a:r>
              <a:rPr b="1" dirty="0"/>
              <a:t>2. </a:t>
            </a:r>
            <a:r>
              <a:rPr lang="en-US" b="1" dirty="0"/>
              <a:t>Trained using</a:t>
            </a:r>
            <a:r>
              <a:rPr b="1" dirty="0"/>
              <a:t> 1 </a:t>
            </a:r>
            <a:r>
              <a:rPr lang="en-US" b="1" dirty="0"/>
              <a:t>human </a:t>
            </a:r>
            <a:r>
              <a:rPr b="1" dirty="0"/>
              <a:t>example review</a:t>
            </a:r>
            <a:r>
              <a:rPr dirty="0"/>
              <a:t> → AI scored 5.9 points higher</a:t>
            </a:r>
          </a:p>
          <a:p>
            <a:r>
              <a:rPr b="1" dirty="0"/>
              <a:t>3. </a:t>
            </a:r>
            <a:r>
              <a:rPr lang="en-US" b="1" dirty="0"/>
              <a:t>Trained using</a:t>
            </a:r>
            <a:r>
              <a:rPr b="1" dirty="0"/>
              <a:t> 4 </a:t>
            </a:r>
            <a:r>
              <a:rPr lang="en-US" b="1" dirty="0"/>
              <a:t>human </a:t>
            </a:r>
            <a:r>
              <a:rPr b="1" dirty="0"/>
              <a:t>example reviews</a:t>
            </a:r>
            <a:r>
              <a:rPr dirty="0"/>
              <a:t> → AI scored only 1.5 points higher </a:t>
            </a:r>
          </a:p>
          <a:p>
            <a:r>
              <a:rPr b="1" dirty="0"/>
              <a:t>4. No training, </a:t>
            </a:r>
            <a:r>
              <a:rPr lang="en-US" b="1" dirty="0"/>
              <a:t>b</a:t>
            </a:r>
            <a:r>
              <a:rPr b="1" dirty="0"/>
              <a:t>ut told AI to be stricter</a:t>
            </a:r>
            <a:r>
              <a:rPr dirty="0"/>
              <a:t> → AI scored 6.6 points lower</a:t>
            </a:r>
          </a:p>
        </p:txBody>
      </p:sp>
      <p:sp>
        <p:nvSpPr>
          <p:cNvPr id="231" name="We tested 4 different ways to &quot;train&quot; the AI:"/>
          <p:cNvSpPr txBox="1"/>
          <p:nvPr/>
        </p:nvSpPr>
        <p:spPr>
          <a:xfrm>
            <a:off x="1120632" y="3838460"/>
            <a:ext cx="21776795" cy="7673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We tested 4 different ways to "train" the AI</a:t>
            </a:r>
            <a:r>
              <a:rPr lang="en-US" dirty="0"/>
              <a:t> using one of the three submissions</a:t>
            </a:r>
            <a:r>
              <a:rPr dirty="0"/>
              <a:t>:</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C0B806-4322-7B8A-668F-4D0681A26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589" y="153125"/>
            <a:ext cx="23096070" cy="13409749"/>
          </a:xfrm>
          <a:prstGeom prst="rect">
            <a:avLst/>
          </a:prstGeom>
          <a:ln w="76200">
            <a:solidFill>
              <a:srgbClr val="C00000"/>
            </a:solidFill>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AE86-4A27-F049-31A1-738D3B48E6B7}"/>
              </a:ext>
            </a:extLst>
          </p:cNvPr>
          <p:cNvSpPr>
            <a:spLocks noGrp="1"/>
          </p:cNvSpPr>
          <p:nvPr>
            <p:ph type="title"/>
          </p:nvPr>
        </p:nvSpPr>
        <p:spPr/>
        <p:txBody>
          <a:bodyPr/>
          <a:lstStyle/>
          <a:p>
            <a:r>
              <a:rPr lang="en-US" dirty="0"/>
              <a:t>What we did not present: </a:t>
            </a:r>
          </a:p>
        </p:txBody>
      </p:sp>
      <p:sp>
        <p:nvSpPr>
          <p:cNvPr id="3" name="Text Placeholder 2">
            <a:extLst>
              <a:ext uri="{FF2B5EF4-FFF2-40B4-BE49-F238E27FC236}">
                <a16:creationId xmlns:a16="http://schemas.microsoft.com/office/drawing/2014/main" id="{E7980C7E-E796-E435-E5E8-F48189EFDEA3}"/>
              </a:ext>
            </a:extLst>
          </p:cNvPr>
          <p:cNvSpPr>
            <a:spLocks noGrp="1"/>
          </p:cNvSpPr>
          <p:nvPr>
            <p:ph type="body" sz="quarter" idx="21"/>
          </p:nvPr>
        </p:nvSpPr>
        <p:spPr/>
        <p:txBody>
          <a:bodyPr/>
          <a:lstStyle/>
          <a:p>
            <a:r>
              <a:rPr lang="en-US" dirty="0"/>
              <a:t>Qualitative output of LLMs / </a:t>
            </a:r>
            <a:r>
              <a:rPr lang="en-US" b="0" dirty="0"/>
              <a:t>future presentation, paper: </a:t>
            </a:r>
            <a:r>
              <a:rPr lang="en-US" dirty="0"/>
              <a:t> </a:t>
            </a:r>
          </a:p>
        </p:txBody>
      </p:sp>
      <p:sp>
        <p:nvSpPr>
          <p:cNvPr id="4" name="Text Placeholder 3">
            <a:extLst>
              <a:ext uri="{FF2B5EF4-FFF2-40B4-BE49-F238E27FC236}">
                <a16:creationId xmlns:a16="http://schemas.microsoft.com/office/drawing/2014/main" id="{1BFA86E1-945E-2F3F-721D-3590EC839EAA}"/>
              </a:ext>
            </a:extLst>
          </p:cNvPr>
          <p:cNvSpPr>
            <a:spLocks noGrp="1"/>
          </p:cNvSpPr>
          <p:nvPr>
            <p:ph type="body" idx="1"/>
          </p:nvPr>
        </p:nvSpPr>
        <p:spPr>
          <a:xfrm>
            <a:off x="1206500" y="4248503"/>
            <a:ext cx="21971000" cy="8714461"/>
          </a:xfrm>
          <a:solidFill>
            <a:schemeClr val="accent4">
              <a:lumMod val="20000"/>
              <a:lumOff val="80000"/>
            </a:schemeClr>
          </a:solidFill>
          <a:ln w="76200">
            <a:solidFill>
              <a:srgbClr val="C00000"/>
            </a:solid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b="1" dirty="0">
                <a:solidFill>
                  <a:srgbClr val="CE9178"/>
                </a:solidFill>
                <a:effectLst/>
                <a:latin typeface="Menlo" panose="020B0609030804020204" pitchFamily="49" charset="0"/>
              </a:rPr>
              <a:t>  	</a:t>
            </a:r>
            <a:br>
              <a:rPr lang="en-US" b="1" dirty="0">
                <a:solidFill>
                  <a:srgbClr val="CE9178"/>
                </a:solidFill>
                <a:effectLst/>
                <a:latin typeface="Menlo" panose="020B0609030804020204" pitchFamily="49" charset="0"/>
              </a:rPr>
            </a:br>
            <a:r>
              <a:rPr lang="en-US" b="1" dirty="0">
                <a:solidFill>
                  <a:srgbClr val="CE9178"/>
                </a:solidFill>
                <a:effectLst/>
                <a:latin typeface="Menlo" panose="020B0609030804020204" pitchFamily="49" charset="0"/>
              </a:rPr>
              <a:t>	Innovation and Impact</a:t>
            </a:r>
            <a:r>
              <a:rPr lang="en-US" b="0" dirty="0">
                <a:solidFill>
                  <a:srgbClr val="CE9178"/>
                </a:solidFill>
                <a:effectLst/>
                <a:latin typeface="Menlo" panose="020B0609030804020204" pitchFamily="49" charset="0"/>
              </a:rPr>
              <a:t>: 22/30 </a:t>
            </a:r>
          </a:p>
          <a:p>
            <a:pPr marL="0" indent="0">
              <a:buNone/>
            </a:pPr>
            <a:r>
              <a:rPr lang="en-US" b="1" dirty="0">
                <a:solidFill>
                  <a:srgbClr val="CE9178"/>
                </a:solidFill>
                <a:latin typeface="Menlo" panose="020B0609030804020204" pitchFamily="49" charset="0"/>
              </a:rPr>
              <a:t>	Rationale</a:t>
            </a:r>
            <a:r>
              <a:rPr lang="en-US" dirty="0">
                <a:solidFill>
                  <a:srgbClr val="CE9178"/>
                </a:solidFill>
                <a:latin typeface="Menlo" panose="020B0609030804020204" pitchFamily="49" charset="0"/>
              </a:rPr>
              <a:t>: </a:t>
            </a:r>
            <a:r>
              <a:rPr lang="en-US" b="0" dirty="0">
                <a:solidFill>
                  <a:srgbClr val="CE9178"/>
                </a:solidFill>
                <a:effectLst/>
                <a:latin typeface="Menlo" panose="020B0609030804020204" pitchFamily="49" charset="0"/>
              </a:rPr>
              <a:t>The proposal addresses a significant 	public   health issue of falls prevention in 	underserved communities and integrates 	interprofessional education for students, with 	potential for scalable community impact. However, 	the approach relies on established multifactorial 	interventions without introducing truly novel 	elements or compelling evidence of transformative 	change beyond local application</a:t>
            </a:r>
            <a:endParaRPr lang="en-US" b="0" dirty="0">
              <a:solidFill>
                <a:srgbClr val="CCCCCC"/>
              </a:solidFill>
              <a:effectLst/>
              <a:latin typeface="Menlo" panose="020B0609030804020204" pitchFamily="49" charset="0"/>
            </a:endParaRPr>
          </a:p>
        </p:txBody>
      </p:sp>
    </p:spTree>
    <p:extLst>
      <p:ext uri="{BB962C8B-B14F-4D97-AF65-F5344CB8AC3E}">
        <p14:creationId xmlns:p14="http://schemas.microsoft.com/office/powerpoint/2010/main" val="231815613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What Ai Can do well:"/>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Ai Can do well: </a:t>
            </a:r>
          </a:p>
        </p:txBody>
      </p:sp>
      <p:sp>
        <p:nvSpPr>
          <p:cNvPr id="236" name="✅  Good uses for Ai in grant review process:"/>
          <p:cNvSpPr txBox="1">
            <a:spLocks noGrp="1"/>
          </p:cNvSpPr>
          <p:nvPr>
            <p:ph type="body" idx="21"/>
          </p:nvPr>
        </p:nvSpPr>
        <p:spPr>
          <a:xfrm>
            <a:off x="1206500" y="3075242"/>
            <a:ext cx="21971000"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767715">
              <a:defRPr sz="5115" b="0"/>
            </a:lvl1pPr>
          </a:lstStyle>
          <a:p>
            <a:r>
              <a:t>✅  Good uses for Ai in grant review process:</a:t>
            </a:r>
          </a:p>
        </p:txBody>
      </p:sp>
      <p:sp>
        <p:nvSpPr>
          <p:cNvPr id="237" name="- First screening: AI can quickly identify strong vs. weak proposals…"/>
          <p:cNvSpPr txBox="1">
            <a:spLocks noGrp="1"/>
          </p:cNvSpPr>
          <p:nvPr>
            <p:ph type="body" idx="1"/>
          </p:nvPr>
        </p:nvSpPr>
        <p:spPr>
          <a:xfrm>
            <a:off x="942915" y="4570663"/>
            <a:ext cx="21971001" cy="8256012"/>
          </a:xfrm>
          <a:prstGeom prst="rect">
            <a:avLst/>
          </a:prstGeom>
        </p:spPr>
        <p:txBody>
          <a:bodyPr/>
          <a:lstStyle/>
          <a:p>
            <a:pPr defTabSz="742950">
              <a:spcBef>
                <a:spcPts val="1600"/>
              </a:spcBef>
              <a:defRPr sz="4950" spc="-49"/>
            </a:pPr>
            <a:r>
              <a:rPr dirty="0"/>
              <a:t>-</a:t>
            </a:r>
            <a:r>
              <a:rPr dirty="0">
                <a:solidFill>
                  <a:schemeClr val="accent5">
                    <a:lumOff val="-29866"/>
                  </a:schemeClr>
                </a:solidFill>
              </a:rPr>
              <a:t> First screening</a:t>
            </a:r>
            <a:r>
              <a:rPr dirty="0"/>
              <a:t>: AI </a:t>
            </a:r>
            <a:r>
              <a:rPr lang="en-US" dirty="0"/>
              <a:t>may be able to</a:t>
            </a:r>
            <a:r>
              <a:rPr dirty="0"/>
              <a:t> quickly identify strong vs. weak proposals</a:t>
            </a:r>
          </a:p>
          <a:p>
            <a:pPr defTabSz="742950">
              <a:spcBef>
                <a:spcPts val="1600"/>
              </a:spcBef>
              <a:defRPr sz="4950" spc="-49"/>
            </a:pPr>
            <a:r>
              <a:rPr dirty="0"/>
              <a:t>- </a:t>
            </a:r>
            <a:r>
              <a:rPr dirty="0">
                <a:solidFill>
                  <a:schemeClr val="accent5">
                    <a:lumOff val="-29866"/>
                  </a:schemeClr>
                </a:solidFill>
              </a:rPr>
              <a:t>Consistency checks</a:t>
            </a:r>
            <a:r>
              <a:rPr dirty="0"/>
              <a:t>: Compare if reviewers are aligned</a:t>
            </a:r>
          </a:p>
          <a:p>
            <a:pPr defTabSz="742950">
              <a:spcBef>
                <a:spcPts val="1600"/>
              </a:spcBef>
              <a:defRPr sz="4950" spc="-49"/>
            </a:pPr>
            <a:r>
              <a:rPr dirty="0"/>
              <a:t>- </a:t>
            </a:r>
            <a:r>
              <a:rPr dirty="0">
                <a:solidFill>
                  <a:schemeClr val="accent5">
                    <a:lumOff val="-29866"/>
                  </a:schemeClr>
                </a:solidFill>
              </a:rPr>
              <a:t>Detailed feedback</a:t>
            </a:r>
            <a:r>
              <a:rPr dirty="0"/>
              <a:t>: AI writes thorough critiques of each section</a:t>
            </a:r>
          </a:p>
          <a:p>
            <a:pPr defTabSz="742950">
              <a:spcBef>
                <a:spcPts val="1600"/>
              </a:spcBef>
              <a:defRPr sz="4950" spc="-49"/>
            </a:pPr>
            <a:r>
              <a:rPr dirty="0"/>
              <a:t>- </a:t>
            </a:r>
            <a:r>
              <a:rPr dirty="0">
                <a:solidFill>
                  <a:schemeClr val="accent5">
                    <a:lumOff val="-29866"/>
                  </a:schemeClr>
                </a:solidFill>
              </a:rPr>
              <a:t>Reduce workload</a:t>
            </a:r>
            <a:r>
              <a:rPr dirty="0"/>
              <a:t>: Handle initial reviews, save expert time for final decisions</a:t>
            </a:r>
          </a:p>
          <a:p>
            <a:pPr defTabSz="742950">
              <a:spcBef>
                <a:spcPts val="1600"/>
              </a:spcBef>
              <a:defRPr sz="4950" spc="-49"/>
            </a:pPr>
            <a:r>
              <a:rPr dirty="0"/>
              <a:t>- </a:t>
            </a:r>
            <a:r>
              <a:rPr dirty="0">
                <a:solidFill>
                  <a:schemeClr val="accent5">
                    <a:lumOff val="-29866"/>
                  </a:schemeClr>
                </a:solidFill>
              </a:rPr>
              <a:t>Speed</a:t>
            </a:r>
            <a:r>
              <a:rPr dirty="0"/>
              <a:t>: AI reviews 100+ grants in minutes, not weeks</a:t>
            </a:r>
          </a:p>
          <a:p>
            <a:pPr defTabSz="742950">
              <a:spcBef>
                <a:spcPts val="1600"/>
              </a:spcBef>
              <a:defRPr sz="4950" spc="-49"/>
            </a:pPr>
            <a:endParaRPr dirty="0"/>
          </a:p>
          <a:p>
            <a:pPr defTabSz="742950">
              <a:spcBef>
                <a:spcPts val="1600"/>
              </a:spcBef>
              <a:defRPr sz="4950" spc="-49"/>
            </a:pPr>
            <a:r>
              <a:rPr b="1" dirty="0"/>
              <a:t>Cost savings:</a:t>
            </a:r>
            <a:r>
              <a:rPr dirty="0"/>
              <a:t> AI review costs ~$0.50 per grant vs. $200-500 for human expert</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What Ai Cannot Replace"/>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Ai Cannot Replace </a:t>
            </a:r>
          </a:p>
        </p:txBody>
      </p:sp>
      <p:sp>
        <p:nvSpPr>
          <p:cNvPr id="240" name="…yet? ❌ Humans still needed for:"/>
          <p:cNvSpPr txBox="1">
            <a:spLocks noGrp="1"/>
          </p:cNvSpPr>
          <p:nvPr>
            <p:ph type="body" idx="21"/>
          </p:nvPr>
        </p:nvSpPr>
        <p:spPr>
          <a:xfrm>
            <a:off x="1206500" y="3075242"/>
            <a:ext cx="21971001"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767715">
              <a:defRPr sz="5115" b="0"/>
            </a:lvl1pPr>
          </a:lstStyle>
          <a:p>
            <a:r>
              <a:t>…yet? ❌ Humans still needed for:</a:t>
            </a:r>
          </a:p>
        </p:txBody>
      </p:sp>
      <p:sp>
        <p:nvSpPr>
          <p:cNvPr id="241" name="- Final funding decisions: Borderline cases?…"/>
          <p:cNvSpPr txBox="1">
            <a:spLocks noGrp="1"/>
          </p:cNvSpPr>
          <p:nvPr>
            <p:ph type="body" idx="1"/>
          </p:nvPr>
        </p:nvSpPr>
        <p:spPr>
          <a:xfrm>
            <a:off x="942915" y="4570663"/>
            <a:ext cx="21971001" cy="8256012"/>
          </a:xfrm>
          <a:prstGeom prst="rect">
            <a:avLst/>
          </a:prstGeom>
        </p:spPr>
        <p:txBody>
          <a:bodyPr/>
          <a:lstStyle/>
          <a:p>
            <a:pPr defTabSz="767715">
              <a:spcBef>
                <a:spcPts val="1600"/>
              </a:spcBef>
              <a:defRPr sz="5115" spc="-51"/>
            </a:pPr>
            <a:r>
              <a:rPr dirty="0"/>
              <a:t>-</a:t>
            </a:r>
            <a:r>
              <a:rPr dirty="0">
                <a:solidFill>
                  <a:schemeClr val="accent5">
                    <a:lumOff val="-29866"/>
                  </a:schemeClr>
                </a:solidFill>
              </a:rPr>
              <a:t> Final funding decisions</a:t>
            </a:r>
            <a:r>
              <a:rPr dirty="0"/>
              <a:t>: Borderline cases? </a:t>
            </a:r>
          </a:p>
          <a:p>
            <a:pPr defTabSz="767715">
              <a:spcBef>
                <a:spcPts val="1600"/>
              </a:spcBef>
              <a:defRPr sz="5115" spc="-51"/>
            </a:pPr>
            <a:r>
              <a:rPr dirty="0"/>
              <a:t>- </a:t>
            </a:r>
            <a:r>
              <a:rPr dirty="0">
                <a:solidFill>
                  <a:schemeClr val="accent5">
                    <a:lumOff val="-29866"/>
                  </a:schemeClr>
                </a:solidFill>
              </a:rPr>
              <a:t>Understanding context</a:t>
            </a:r>
            <a:r>
              <a:rPr dirty="0"/>
              <a:t>: strategic priorities of department, school, university</a:t>
            </a:r>
          </a:p>
          <a:p>
            <a:pPr defTabSz="767715">
              <a:spcBef>
                <a:spcPts val="1600"/>
              </a:spcBef>
              <a:defRPr sz="5115" spc="-51"/>
            </a:pPr>
            <a:r>
              <a:rPr dirty="0"/>
              <a:t>- </a:t>
            </a:r>
            <a:r>
              <a:rPr dirty="0">
                <a:solidFill>
                  <a:schemeClr val="accent5">
                    <a:lumOff val="-29866"/>
                  </a:schemeClr>
                </a:solidFill>
              </a:rPr>
              <a:t>Nuanced judgement</a:t>
            </a:r>
            <a:r>
              <a:rPr dirty="0"/>
              <a:t>: reading between lines; e.g., assessing feasibility within your institute </a:t>
            </a:r>
          </a:p>
          <a:p>
            <a:pPr defTabSz="767715">
              <a:spcBef>
                <a:spcPts val="1600"/>
              </a:spcBef>
              <a:defRPr sz="5115" spc="-51"/>
            </a:pPr>
            <a:r>
              <a:rPr dirty="0"/>
              <a:t>- </a:t>
            </a:r>
            <a:r>
              <a:rPr dirty="0">
                <a:solidFill>
                  <a:schemeClr val="accent5">
                    <a:lumOff val="-29866"/>
                  </a:schemeClr>
                </a:solidFill>
              </a:rPr>
              <a:t>Accountability</a:t>
            </a:r>
            <a:r>
              <a:rPr dirty="0"/>
              <a:t>: Human </a:t>
            </a:r>
          </a:p>
          <a:p>
            <a:pPr defTabSz="767715">
              <a:spcBef>
                <a:spcPts val="1600"/>
              </a:spcBef>
              <a:defRPr sz="5115" spc="-51"/>
            </a:pPr>
            <a:r>
              <a:rPr dirty="0"/>
              <a:t>- </a:t>
            </a:r>
            <a:r>
              <a:rPr dirty="0">
                <a:solidFill>
                  <a:schemeClr val="accent5">
                    <a:lumOff val="-29866"/>
                  </a:schemeClr>
                </a:solidFill>
              </a:rPr>
              <a:t>Unexpected scenarios</a:t>
            </a:r>
            <a:r>
              <a:rPr dirty="0"/>
              <a:t>: Novel research areas, unusual proposals </a:t>
            </a:r>
          </a:p>
          <a:p>
            <a:pPr defTabSz="767715">
              <a:spcBef>
                <a:spcPts val="1600"/>
              </a:spcBef>
              <a:defRPr sz="5115" spc="-51"/>
            </a:pPr>
            <a:endParaRPr dirty="0"/>
          </a:p>
        </p:txBody>
      </p:sp>
      <p:grpSp>
        <p:nvGrpSpPr>
          <p:cNvPr id="244" name="Group"/>
          <p:cNvGrpSpPr/>
          <p:nvPr/>
        </p:nvGrpSpPr>
        <p:grpSpPr>
          <a:xfrm>
            <a:off x="1459000" y="10660346"/>
            <a:ext cx="18854101" cy="2555460"/>
            <a:chOff x="0" y="0"/>
            <a:chExt cx="18854100" cy="2555458"/>
          </a:xfrm>
        </p:grpSpPr>
        <p:sp>
          <p:nvSpPr>
            <p:cNvPr id="242" name="Recommendation: Use AI as an assistant, not a replacement. Best approach = AI does initial screening → Humans make final decisions."/>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a:latin typeface="+mn-lt"/>
                  <a:ea typeface="+mn-ea"/>
                  <a:cs typeface="+mn-cs"/>
                  <a:sym typeface="Helvetica Neue"/>
                </a:rPr>
                <a:t>Recommendation: </a:t>
              </a:r>
              <a:r>
                <a:t>Use AI as an assistant, not a replacement. Best approach = AI does initial screening → Humans make final decisions.</a:t>
              </a:r>
            </a:p>
            <a:p>
              <a:pPr defTabSz="825500">
                <a:lnSpc>
                  <a:spcPct val="100000"/>
                </a:lnSpc>
                <a:spcBef>
                  <a:spcPts val="0"/>
                </a:spcBef>
                <a:defRPr sz="4100">
                  <a:latin typeface="Helvetica Neue Medium"/>
                  <a:ea typeface="Helvetica Neue Medium"/>
                  <a:cs typeface="Helvetica Neue Medium"/>
                  <a:sym typeface="Helvetica Neue Medium"/>
                </a:defRPr>
              </a:pPr>
              <a:endParaRPr/>
            </a:p>
          </p:txBody>
        </p:sp>
        <p:sp>
          <p:nvSpPr>
            <p:cNvPr id="243"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Key Takeaways"/>
          <p:cNvSpPr txBox="1">
            <a:spLocks noGrp="1"/>
          </p:cNvSpPr>
          <p:nvPr>
            <p:ph type="title"/>
          </p:nvPr>
        </p:nvSpPr>
        <p:spPr>
          <a:prstGeom prst="rect">
            <a:avLst/>
          </a:prstGeom>
        </p:spPr>
        <p:txBody>
          <a:bodyPr/>
          <a:lstStyle/>
          <a:p>
            <a:r>
              <a:t>Key Takeaways</a:t>
            </a:r>
          </a:p>
        </p:txBody>
      </p:sp>
      <p:sp>
        <p:nvSpPr>
          <p:cNvPr id="247" name="From our preliminary work"/>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From our preliminary work</a:t>
            </a:r>
          </a:p>
        </p:txBody>
      </p:sp>
      <p:sp>
        <p:nvSpPr>
          <p:cNvPr id="248" name="1. AI reviews closely resemble human scores (within 1 point)…"/>
          <p:cNvSpPr txBox="1">
            <a:spLocks noGrp="1"/>
          </p:cNvSpPr>
          <p:nvPr>
            <p:ph type="body" idx="1"/>
          </p:nvPr>
        </p:nvSpPr>
        <p:spPr>
          <a:prstGeom prst="rect">
            <a:avLst/>
          </a:prstGeom>
        </p:spPr>
        <p:txBody>
          <a:bodyPr/>
          <a:lstStyle/>
          <a:p>
            <a:pPr marL="0" indent="0">
              <a:buSzTx/>
              <a:buNone/>
            </a:pPr>
            <a:r>
              <a:rPr dirty="0"/>
              <a:t>1. AI reviews closely resemble human scores (within 1 point)</a:t>
            </a:r>
          </a:p>
          <a:p>
            <a:pPr marL="0" indent="0">
              <a:buSzTx/>
              <a:buNone/>
            </a:pPr>
            <a:r>
              <a:rPr dirty="0"/>
              <a:t>2. AI reviews are internally more consistent than humans (39% less variation)</a:t>
            </a:r>
          </a:p>
          <a:p>
            <a:pPr marL="0" indent="0">
              <a:buSzTx/>
              <a:buNone/>
            </a:pPr>
            <a:r>
              <a:rPr dirty="0"/>
              <a:t>3. AI has different judgment on funding decisions (prefers revisions, more optimistic)</a:t>
            </a:r>
          </a:p>
          <a:p>
            <a:pPr marL="0" indent="0">
              <a:buSzTx/>
              <a:buNone/>
            </a:pPr>
            <a:r>
              <a:rPr dirty="0"/>
              <a:t>4. Training</a:t>
            </a:r>
            <a:r>
              <a:rPr lang="en-US" dirty="0"/>
              <a:t> (context)</a:t>
            </a:r>
            <a:r>
              <a:rPr dirty="0"/>
              <a:t> matters (show AI examples of good reviews - better output)</a:t>
            </a:r>
          </a:p>
          <a:p>
            <a:pPr marL="0" indent="0">
              <a:buSzTx/>
              <a:buNone/>
            </a:pPr>
            <a:r>
              <a:rPr dirty="0"/>
              <a:t>5. Best use for now </a:t>
            </a:r>
            <a:r>
              <a:rPr lang="en-US" dirty="0"/>
              <a:t>is</a:t>
            </a:r>
            <a:r>
              <a:rPr dirty="0"/>
              <a:t> </a:t>
            </a:r>
            <a:r>
              <a:rPr lang="en-US" dirty="0"/>
              <a:t>h</a:t>
            </a:r>
            <a:r>
              <a:rPr dirty="0"/>
              <a:t>ybrid approach</a:t>
            </a:r>
            <a:r>
              <a:rPr lang="en-US" dirty="0"/>
              <a:t> but do not rely solely on the Ai</a:t>
            </a:r>
            <a:endParaRPr dirty="0"/>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398</TotalTime>
  <Words>2207</Words>
  <Application>Microsoft Macintosh PowerPoint</Application>
  <PresentationFormat>Custom</PresentationFormat>
  <Paragraphs>160</Paragraphs>
  <Slides>30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Barlow</vt:lpstr>
      <vt:lpstr>Bitter</vt:lpstr>
      <vt:lpstr>Helvetica Neue</vt:lpstr>
      <vt:lpstr>Helvetica Neue Medium</vt:lpstr>
      <vt:lpstr>Menlo</vt:lpstr>
      <vt:lpstr>21_BasicWhite</vt:lpstr>
      <vt:lpstr>The Write Stuff: Can Ai Judge  Seed Grant Applications  What We Learned Testing AI as a Grant Reviewer </vt:lpstr>
      <vt:lpstr>The Problem: Grant Review Challenges</vt:lpstr>
      <vt:lpstr>What are LLMs and Gen Ai?</vt:lpstr>
      <vt:lpstr>What are LLMs and Gen Ai?</vt:lpstr>
      <vt:lpstr>PowerPoint Presentation</vt:lpstr>
      <vt:lpstr>Our study: A simple test</vt:lpstr>
      <vt:lpstr>Our study: A simple test</vt:lpstr>
      <vt:lpstr>Our study: A simple test</vt:lpstr>
      <vt:lpstr>Simple Prompt:</vt:lpstr>
      <vt:lpstr>LLM Prompt:</vt:lpstr>
      <vt:lpstr>Context (attention) is all that matters </vt:lpstr>
      <vt:lpstr>When we put it into the LLM: </vt:lpstr>
      <vt:lpstr>4 Experiments</vt:lpstr>
      <vt:lpstr>Experiment 1 – Baseline Prompt Only</vt:lpstr>
      <vt:lpstr>Experiment 2 – Baseline + 1 example</vt:lpstr>
      <vt:lpstr>Experiment 3 – Baseline + Many examples</vt:lpstr>
      <vt:lpstr>Experiment 4 – Experiment 2 + ‘Be Stricter’ </vt:lpstr>
      <vt:lpstr>Finding 1 </vt:lpstr>
      <vt:lpstr>PowerPoint Presentation</vt:lpstr>
      <vt:lpstr>PowerPoint Presentation</vt:lpstr>
      <vt:lpstr>PowerPoint Presentation</vt:lpstr>
      <vt:lpstr>Finding 2</vt:lpstr>
      <vt:lpstr>PowerPoint Presentation</vt:lpstr>
      <vt:lpstr>Finding 3 </vt:lpstr>
      <vt:lpstr>Finding 4 </vt:lpstr>
      <vt:lpstr>PowerPoint Presentation</vt:lpstr>
      <vt:lpstr>What we did not present: </vt:lpstr>
      <vt:lpstr>What Ai Can do well: </vt:lpstr>
      <vt:lpstr>What Ai Cannot Replace </vt:lpstr>
      <vt:lpstr>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Write Stuff: Can Ai Judge Seed Grant Applications</dc:title>
  <cp:lastModifiedBy>hants williams</cp:lastModifiedBy>
  <cp:revision>40</cp:revision>
  <dcterms:modified xsi:type="dcterms:W3CDTF">2025-10-14T15:23:20Z</dcterms:modified>
</cp:coreProperties>
</file>